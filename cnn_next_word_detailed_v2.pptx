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  <a:latin typeface="Trebuchet MS"/>
              </a:defRPr>
            </a:pPr>
            <a:r>
              <a:t>Kiến trúc 1D-CNN cho Bài toán Next Word Prediction</a:t>
            </a:r>
          </a:p>
          <a:p>
            <a:pPr>
              <a:defRPr sz="1800">
                <a:solidFill>
                  <a:srgbClr val="94A3B8"/>
                </a:solidFill>
                <a:latin typeface="Calibri"/>
              </a:defRPr>
            </a:pPr>
            <a:r>
              <a:t>Chi tiết Toán học Ma trận, Cửa sổ Trượt Kernel (2x4) &amp; Các Bước Tính Toán Số Liệu Cụ Thể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389120"/>
            <a:ext cx="10362895" cy="1737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THIẾT LẬP VÍ DỤ XUYÊN SUỐT: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• Input Sentence (X): "We are learning AI"  --&gt;  Target (y): "is"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• Vocab size (V): 8 (0:[UNK], 1:[pad], 2:AI, 3:am, 4:are, 5:he, 6:is, 7:learning)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• Embedding dim (d): 4  |  Sequence length (seq_len): 5 (dùng padding [pad])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• Kernel size (k): 2 (cụm Bigram)  |  Number of Filters: 16  |  Kernel shape W: 2 x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Calibri"/>
              </a:defRPr>
            </a:pPr>
            <a:r>
              <a:t>1D-CNN FOR NEXT WORD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Trebuchet MS"/>
              </a:defRPr>
            </a:pPr>
            <a:r>
              <a:t>Bước 1 &amp; 2: Tokenization, Padding &amp; Ma trận Embedding E (8x4)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E293B"/>
                </a:solidFill>
              </a:defRPr>
            </a:pPr>
            <a:r>
              <a:t>1. Tokenization &amp; Padding</a:t>
            </a:r>
          </a:p>
          <a:p>
            <a:pPr>
              <a:spcBef>
                <a:spcPts val="800"/>
              </a:spcBef>
              <a:defRPr b="1" sz="1400">
                <a:solidFill>
                  <a:srgbClr val="0E7490"/>
                </a:solidFill>
              </a:defRPr>
            </a:pPr>
            <a:r>
              <a:t>Mã hóa câu: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"We"(0) -&gt; "are"(4) -&gt; "learning"(7) -&gt; "AI"(2)</a:t>
            </a:r>
          </a:p>
          <a:p>
            <a:pPr>
              <a:spcBef>
                <a:spcPts val="800"/>
              </a:spcBef>
              <a:defRPr b="1" sz="1400">
                <a:solidFill>
                  <a:srgbClr val="0E7490"/>
                </a:solidFill>
              </a:defRPr>
            </a:pPr>
            <a:r>
              <a:t>Cố định độ dài seq_len = 5: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Đệm token [pad] (ID = 1) vào cuối câu.</a:t>
            </a:r>
          </a:p>
          <a:p>
            <a:pPr>
              <a:spcBef>
                <a:spcPts val="800"/>
              </a:spcBef>
              <a:defRPr b="1" sz="1400">
                <a:solidFill>
                  <a:srgbClr val="0E7490"/>
                </a:solidFill>
              </a:defRPr>
            </a:pPr>
            <a:r>
              <a:t>Token IDs Vector: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[0, 4, 7, 2, 1]  (Tensor Shape: [5])</a:t>
            </a:r>
          </a:p>
          <a:p>
            <a:pPr>
              <a:spcBef>
                <a:spcPts val="800"/>
              </a:spcBef>
              <a:defRPr b="1" sz="1400">
                <a:solidFill>
                  <a:srgbClr val="0E7490"/>
                </a:solidFill>
              </a:defRPr>
            </a:pPr>
            <a:r>
              <a:t>Chuyển đổi sang Embedding: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Do Token ID chỉ là danh định (categorical), mỗi ID được tra cứu qua ma trận E (8x4) để lấy vector liên tục 4 chiều.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E293B"/>
                </a:solidFill>
              </a:defRPr>
            </a:pPr>
            <a:r>
              <a:t>2. Giá trị Ma trận Embedding Đầu vào X (5x4)</a:t>
            </a:r>
          </a:p>
          <a:p>
            <a:pPr>
              <a:spcBef>
                <a:spcPts val="600"/>
              </a:spcBef>
              <a:defRPr b="1" sz="1300">
                <a:solidFill>
                  <a:srgbClr val="D97706"/>
                </a:solidFill>
              </a:defRPr>
            </a:pPr>
            <a:r>
              <a:t>• X₁ ("We"):</a:t>
            </a:r>
          </a:p>
          <a:p>
            <a:pPr>
              <a:defRPr sz="1200">
                <a:solidFill>
                  <a:srgbClr val="334155"/>
                </a:solidFill>
                <a:latin typeface="Consolas"/>
              </a:defRPr>
            </a:pPr>
            <a:r>
              <a:t>  [-0.1882,  0.5530,  1.6267,  0.7013]</a:t>
            </a:r>
          </a:p>
          <a:p>
            <a:pPr>
              <a:spcBef>
                <a:spcPts val="600"/>
              </a:spcBef>
              <a:defRPr b="1" sz="1300">
                <a:solidFill>
                  <a:srgbClr val="D97706"/>
                </a:solidFill>
              </a:defRPr>
            </a:pPr>
            <a:r>
              <a:t>• X₂ ("are"):</a:t>
            </a:r>
          </a:p>
          <a:p>
            <a:pPr>
              <a:defRPr sz="1200">
                <a:solidFill>
                  <a:srgbClr val="334155"/>
                </a:solidFill>
                <a:latin typeface="Consolas"/>
              </a:defRPr>
            </a:pPr>
            <a:r>
              <a:t>  [ 0.2293,  1.3255,  0.1318,  2.0501]</a:t>
            </a:r>
          </a:p>
          <a:p>
            <a:pPr>
              <a:spcBef>
                <a:spcPts val="600"/>
              </a:spcBef>
              <a:defRPr b="1" sz="1300">
                <a:solidFill>
                  <a:srgbClr val="D97706"/>
                </a:solidFill>
              </a:defRPr>
            </a:pPr>
            <a:r>
              <a:t>• X₃ ("learning"):</a:t>
            </a:r>
          </a:p>
          <a:p>
            <a:pPr>
              <a:defRPr sz="1200">
                <a:solidFill>
                  <a:srgbClr val="334155"/>
                </a:solidFill>
                <a:latin typeface="Consolas"/>
              </a:defRPr>
            </a:pPr>
            <a:r>
              <a:t>  [ 0.4309, -1.3067, -0.8823,  1.5977]</a:t>
            </a:r>
          </a:p>
          <a:p>
            <a:pPr>
              <a:spcBef>
                <a:spcPts val="600"/>
              </a:spcBef>
              <a:defRPr b="1" sz="1300">
                <a:solidFill>
                  <a:srgbClr val="D97706"/>
                </a:solidFill>
              </a:defRPr>
            </a:pPr>
            <a:r>
              <a:t>• X₄ ("AI"):</a:t>
            </a:r>
          </a:p>
          <a:p>
            <a:pPr>
              <a:defRPr sz="1200">
                <a:solidFill>
                  <a:srgbClr val="334155"/>
                </a:solidFill>
                <a:latin typeface="Consolas"/>
              </a:defRPr>
            </a:pPr>
            <a:r>
              <a:t>  [ 1.0281, -1.9094,  0.3182,  0.4211]</a:t>
            </a:r>
          </a:p>
          <a:p>
            <a:pPr>
              <a:spcBef>
                <a:spcPts val="600"/>
              </a:spcBef>
              <a:defRPr b="1" sz="1300">
                <a:solidFill>
                  <a:srgbClr val="D97706"/>
                </a:solidFill>
              </a:defRPr>
            </a:pPr>
            <a:r>
              <a:t>• X₅ ("[pad]"):</a:t>
            </a:r>
          </a:p>
          <a:p>
            <a:pPr>
              <a:defRPr sz="1200">
                <a:solidFill>
                  <a:srgbClr val="334155"/>
                </a:solidFill>
                <a:latin typeface="Consolas"/>
              </a:defRPr>
            </a:pPr>
            <a:r>
              <a:t>  [ 1.7840, -0.8278, -0.2701,  1.3586]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Calibri"/>
              </a:defRPr>
            </a:pPr>
            <a:r>
              <a:t>1D-CNN FOR NEXT WORD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Trebuchet MS"/>
              </a:defRPr>
            </a:pPr>
            <a:r>
              <a:t>Bước 3a: Định dạng Ma trận Đầu vào X (5x4) &amp; Ma trận Kernel W (2x4)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B45309"/>
                </a:solidFill>
              </a:defRPr>
            </a:pPr>
            <a:r>
              <a:t>LƯU Ý VỀ KÍCH THƯỚC KERNEL TRONG TEXT 1D-CNN: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Kernel KHÔNG PHẢI ma trận 2x2! Với cửa sổ k=2 (Bigram), Kernel phủ toàn bộ chiều embedding d=4. Do đó, ma trận trọng số Kernel W có dạng 2 x 4 (2 từ x 4 chiều embedding).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59436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E293B"/>
                </a:solidFill>
              </a:defRPr>
            </a:pPr>
            <a:r>
              <a:t>Ma trận Đầu vào X ∈ ℝ⁵ˣ⁴:</a:t>
            </a:r>
          </a:p>
          <a:p>
            <a:pPr>
              <a:spcBef>
                <a:spcPts val="800"/>
              </a:spcBef>
              <a:defRPr sz="1100">
                <a:solidFill>
                  <a:srgbClr val="0E7490"/>
                </a:solidFill>
                <a:latin typeface="Consolas"/>
              </a:defRPr>
            </a:pPr>
            <a:r>
              <a:t>X = [</a:t>
            </a:r>
            <a:br/>
            <a:r>
              <a:t>  [ -0.1882,   0.5530,   1.6267,   0.7013 ],  &lt;- H1: "We"</a:t>
            </a:r>
            <a:br/>
            <a:r>
              <a:t>  [  0.2293,   1.3255,   0.1318,   2.0501 ],  &lt;- H2: "are"</a:t>
            </a:r>
            <a:br/>
            <a:r>
              <a:t>  [  0.4309,  -1.3067,  -0.8823,   1.5977 ],  &lt;- H3: "learning"</a:t>
            </a:r>
            <a:br/>
            <a:r>
              <a:t>  [  1.0281,  -1.9094,   0.3182,   0.4211 ],  &lt;- H4: "AI"</a:t>
            </a:r>
            <a:br/>
            <a:r>
              <a:t>  [  1.7840,  -0.8278,  -0.2701,   1.3586 ]   &lt;- H5: "[pad]"</a:t>
            </a:r>
            <a:br/>
            <a:r>
              <a:t>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2377440"/>
            <a:ext cx="4510735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E293B"/>
                </a:solidFill>
              </a:defRPr>
            </a:pPr>
            <a:r>
              <a:t>Ma trận Kernel W ∈ ℝ²ˣ⁴ &amp; Bias b:</a:t>
            </a:r>
          </a:p>
          <a:p>
            <a:pPr>
              <a:spcBef>
                <a:spcPts val="1000"/>
              </a:spcBef>
              <a:defRPr sz="1200">
                <a:solidFill>
                  <a:srgbClr val="D97706"/>
                </a:solidFill>
                <a:latin typeface="Consolas"/>
              </a:defRPr>
            </a:pPr>
            <a:r>
              <a:t>W = [</a:t>
            </a:r>
            <a:br/>
            <a:r>
              <a:t>  [ 0.50, -0.20,  0.10,  0.40 ],  &lt;- Từ 1 trong window</a:t>
            </a:r>
            <a:br/>
            <a:r>
              <a:t>  [ 0.30,  0.80, -0.50,  0.20 ]   &lt;- Từ 2 trong window</a:t>
            </a:r>
            <a:br/>
            <a:r>
              <a:t>]</a:t>
            </a:r>
            <a:br/>
            <a:br/>
            <a:r>
              <a:t>Bias b = 0.10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Calibri"/>
              </a:defRPr>
            </a:pPr>
            <a:r>
              <a:t>1D-CNN FOR NEXT WORD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Trebuchet MS"/>
              </a:defRPr>
            </a:pPr>
            <a:r>
              <a:t>Bước 3b: Chi tiết 4 Bước Trượt của Cửa sổ Kernel (Sliding Window)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E7490"/>
                </a:solidFill>
              </a:defRPr>
            </a:pPr>
            <a:r>
              <a:t>Số bước trượt: L_out = seq_len - k + 1 = 5 - 2 + 1 = 4 vị trí.   Công thức: c_t = ∑ (X_[t:t+k] ⊙ W) + 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42255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E293B"/>
                </a:solidFill>
              </a:defRPr>
            </a:pPr>
            <a:r>
              <a:t>Bước 1: Cụm "We are" (Hàng 1 &amp; 2)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onsolas"/>
              </a:defRPr>
            </a:pPr>
            <a:r>
              <a:t>X_[1:2] ⊙ W + b:</a:t>
            </a:r>
            <a:br/>
            <a:r>
              <a:t>• Hàng 1: (-0.1882×0.5) + (0.553×-0.2) + (1.6267×0.1) + (0.7013×0.4) = 0.2385</a:t>
            </a:r>
            <a:br/>
            <a:r>
              <a:t>• Hàng 2: (0.2293×0.3) + (1.3255×0.8) + (0.1318×-0.5) + (2.0501×0.2) = 1.4733</a:t>
            </a:r>
            <a:br/>
            <a:r>
              <a:t>==&gt; c₁ = 0.2385 + 1.4733 + 0.10 (bias) = 1.8118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242255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E293B"/>
                </a:solidFill>
              </a:defRPr>
            </a:pPr>
            <a:r>
              <a:t>Bước 2: Cụm "are learning" (Hàng 2 &amp; 3)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onsolas"/>
              </a:defRPr>
            </a:pPr>
            <a:r>
              <a:t>X_[2:3] ⊙ W + b:</a:t>
            </a:r>
            <a:br/>
            <a:r>
              <a:t>• Hàng 1: (0.2293×0.5) + (1.3255×-0.2) + (0.1318×0.1) + (2.0501×0.4) = 0.6828</a:t>
            </a:r>
            <a:br/>
            <a:r>
              <a:t>• Hàng 2: (0.4309×0.3) + (-1.3067×0.8) + (-0.8823×-0.5) + (1.5977×0.2) = -0.1554</a:t>
            </a:r>
            <a:br/>
            <a:r>
              <a:t>==&gt; c₂ = 0.6828 - 0.1554 + 0.10 (bias) = 0.6274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242255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E293B"/>
                </a:solidFill>
              </a:defRPr>
            </a:pPr>
            <a:r>
              <a:t>Bước 3: Cụm "learning AI" (Hàng 3 &amp; 4)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onsolas"/>
              </a:defRPr>
            </a:pPr>
            <a:r>
              <a:t>X_[3:4] ⊙ W + b:</a:t>
            </a:r>
            <a:br/>
            <a:r>
              <a:t>• Hàng 1: (0.4309×0.5) + (-1.3067×-0.2) + (-0.8823×0.1) + (1.5977×0.4) = 1.0276</a:t>
            </a:r>
            <a:br/>
            <a:r>
              <a:t>• Hàng 2: (1.0281×0.3) + (-1.9094×0.8) + (0.3182×-0.5) + (0.4211×0.2) = -1.2940</a:t>
            </a:r>
            <a:br/>
            <a:r>
              <a:t>==&gt; c₃ = 1.0276 - 1.2940 + 0.10 (bias) = -0.1664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06240"/>
            <a:ext cx="5242255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E293B"/>
                </a:solidFill>
              </a:defRPr>
            </a:pPr>
            <a:r>
              <a:t>Bước 4: Cụm "AI [pad]" (Hàng 4 &amp; 5)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onsolas"/>
              </a:defRPr>
            </a:pPr>
            <a:r>
              <a:t>X_[4:5] ⊙ W + b:</a:t>
            </a:r>
            <a:br/>
            <a:r>
              <a:t>• Hàng 1: (1.0281×0.5) + (-1.9094×-0.2) + (0.3182×0.1) + (0.4211×0.4) = 1.0962</a:t>
            </a:r>
            <a:br/>
            <a:r>
              <a:t>• Hàng 2: (1.7840×0.3) + (-0.8278×0.8) + (-0.2701×-0.5) + (1.3586×0.2) = 0.2797</a:t>
            </a:r>
            <a:br/>
            <a:r>
              <a:t>==&gt; c₄ = 1.0962 + 0.2797 + 0.10 (bias) = 1.4759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Calibri"/>
              </a:defRPr>
            </a:pPr>
            <a:r>
              <a:t>1D-CNN FOR NEXT WORD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Trebuchet MS"/>
              </a:defRPr>
            </a:pPr>
            <a:r>
              <a:t>Bước 4 &amp; 5: Feature Map Output, ReLU &amp; 1D Global Max-Pooling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E293B"/>
                </a:solidFill>
              </a:defRPr>
            </a:pPr>
            <a:r>
              <a:t>1. Feature Map Vector (c)</a:t>
            </a:r>
          </a:p>
          <a:p>
            <a:pPr>
              <a:defRPr sz="1100">
                <a:solidFill>
                  <a:srgbClr val="0E7490"/>
                </a:solidFill>
                <a:latin typeface="Consolas"/>
              </a:defRPr>
            </a:pPr>
            <a:r>
              <a:t>Kết quả 4 giá trị từ Kernel 1:</a:t>
            </a:r>
            <a:br/>
            <a:br/>
            <a:r>
              <a:t>c = [</a:t>
            </a:r>
            <a:br/>
            <a:r>
              <a:t>  c₁ =  1.8118  ("We are")</a:t>
            </a:r>
            <a:br/>
            <a:r>
              <a:t>  c₂ =  0.6274  ("are learning")</a:t>
            </a:r>
            <a:br/>
            <a:r>
              <a:t>  c₃ = -0.1664  ("learning AI")</a:t>
            </a:r>
            <a:br/>
            <a:r>
              <a:t>  c₄ =  1.4759  ("AI [pad]")</a:t>
            </a:r>
            <a:br/>
            <a:r>
              <a:t>]ᵀ</a:t>
            </a:r>
            <a:br/>
            <a:br/>
            <a:r>
              <a:t>Tensor Shape: [4]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E293B"/>
                </a:solidFill>
              </a:defRPr>
            </a:pPr>
            <a:r>
              <a:t>2. Hàm Kích Hoạt ReLU</a:t>
            </a:r>
          </a:p>
          <a:p>
            <a:pPr>
              <a:defRPr sz="1100">
                <a:solidFill>
                  <a:srgbClr val="D97706"/>
                </a:solidFill>
                <a:latin typeface="Consolas"/>
              </a:defRPr>
            </a:pPr>
            <a:r>
              <a:t>ReLU(x) = max(0, x)</a:t>
            </a:r>
            <a:br/>
            <a:r>
              <a:t>Loại bỏ giá trị âm (c₃ = -0.1664 -&gt; 0):</a:t>
            </a:r>
            <a:br/>
            <a:br/>
            <a:r>
              <a:t>ReLU(c) = [</a:t>
            </a:r>
            <a:br/>
            <a:r>
              <a:t>  1.8118,</a:t>
            </a:r>
            <a:br/>
            <a:r>
              <a:t>  0.6274,</a:t>
            </a:r>
            <a:br/>
            <a:r>
              <a:t>  0.0000,  &lt;- (triệt tiêu âm)</a:t>
            </a:r>
            <a:br/>
            <a:r>
              <a:t>  1.4759</a:t>
            </a:r>
            <a:br/>
            <a:r>
              <a:t>]ᵀ</a:t>
            </a:r>
            <a:br/>
            <a:br/>
            <a:r>
              <a:t>Tensor Shape giữ nguyên: [4]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41345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E293B"/>
                </a:solidFill>
              </a:defRPr>
            </a:pPr>
            <a:r>
              <a:t>3. 1D Global Max-Pool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Lấy giá trị lớn nhất theo chiều thời gian:</a:t>
            </a:r>
            <a:br/>
            <a:br/>
            <a:r>
              <a:t>v = max(1.8118, 0.6274, 0, 1.4759)</a:t>
            </a:r>
            <a:br/>
            <a:r>
              <a:t>==&gt; v = 1.8118</a:t>
            </a:r>
            <a:br/>
            <a:br/>
            <a:r>
              <a:t>Ý nghĩa:</a:t>
            </a:r>
            <a:br/>
            <a:r>
              <a:t>Bắt lấy đặc trưng N-gram mạnh nhất bất kể vị trí xuất hiện.</a:t>
            </a:r>
            <a:br/>
            <a:br/>
            <a:r>
              <a:t>Với 16 Bộ Lọc (Filters):</a:t>
            </a:r>
            <a:br/>
            <a:r>
              <a:t>Ta thu được Vector Đặc trưng 16 chiều h_pool ∈ ℝ¹⁶.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Calibri"/>
              </a:defRPr>
            </a:pPr>
            <a:r>
              <a:t>1D-CNN FOR NEXT WORD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Trebuchet MS"/>
              </a:defRPr>
            </a:pPr>
            <a:r>
              <a:t>Bước 6, 7 &amp; 8: Linear Layer, Softmax &amp; Dự đoán Argmax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E293B"/>
                </a:solidFill>
              </a:defRPr>
            </a:pPr>
            <a:r>
              <a:t>Phân phối Xác suất Softmax &amp; Kết quả Dự đoán</a:t>
            </a:r>
          </a:p>
          <a:p>
            <a:pPr>
              <a:defRPr sz="1100">
                <a:solidFill>
                  <a:srgbClr val="0E7490"/>
                </a:solidFill>
                <a:latin typeface="Consolas"/>
              </a:defRPr>
            </a:pPr>
            <a:r>
              <a:t>Linear Output: z = W_fc · h_pool + b_fc ∈ ℝ⁸ (Logits cho 8 từ trong Vocabulary)</a:t>
            </a:r>
            <a:br/>
            <a:r>
              <a:t>Công thức Softmax: P(y = i | X) = exp(z_i) / ∑ exp(z_j)</a:t>
            </a:r>
            <a:br/>
            <a:br/>
            <a:r>
              <a:t>+-------+--------------+---------------+--------------------+--------------------+</a:t>
            </a:r>
            <a:br/>
            <a:r>
              <a:t>| Index | Từ (Token)   | Logit (z_i)   | Softmax Prob P(y)  | Trạng thái         |</a:t>
            </a:r>
            <a:br/>
            <a:r>
              <a:t>+-------+--------------+---------------+--------------------+--------------------+</a:t>
            </a:r>
            <a:br/>
            <a:r>
              <a:t>|   0   | [UNK]        |     1.1       |      0.038 (3.8%)  |                    |</a:t>
            </a:r>
            <a:br/>
            <a:r>
              <a:t>|   1   | [pad]        |    -0.3       |      0.009 (0.9%)  |                    |</a:t>
            </a:r>
            <a:br/>
            <a:r>
              <a:t>|   2   | AI           |     0.7       |      0.025 (2.5%)  |                    |</a:t>
            </a:r>
            <a:br/>
            <a:r>
              <a:t>|   3   | am           |     0.2       |      0.015 (1.5%)  |                    |</a:t>
            </a:r>
            <a:br/>
            <a:r>
              <a:t>|   4   | are          |     1.9       |      0.084 (8.4%)  |                    |</a:t>
            </a:r>
            <a:br/>
            <a:r>
              <a:t>|   5   | he           |    -0.5       |      0.008 (0.8%)  |                    |</a:t>
            </a:r>
            <a:br/>
            <a:r>
              <a:t>|   6   | is (Target)  |     4.2       |      0.852 (85.2%) |  &lt;-- ARGMAX (MAX)  |</a:t>
            </a:r>
            <a:br/>
            <a:r>
              <a:t>|   7   | learning     |     0.4       |      0.019 (1.9%)  |                    |</a:t>
            </a:r>
            <a:br/>
            <a:r>
              <a:t>+-------+--------------+---------------+--------------------+--------------------+</a:t>
            </a:r>
            <a:br/>
            <a:br/>
            <a:r>
              <a:t>==&gt; Argmax: y_hat = argmax(P) = Index 6 -&gt; Dự đoán chính xác từ "is"!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Calibri"/>
              </a:defRPr>
            </a:pPr>
            <a:r>
              <a:t>1D-CNN FOR NEXT WORD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Trebuchet MS"/>
              </a:defRPr>
            </a:pPr>
            <a:r>
              <a:t>PyTorch Implementation &amp; Bảng Quy chuẩn Tensor Shapes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38BDF8"/>
                </a:solidFill>
              </a:defRPr>
            </a:pPr>
            <a:r>
              <a:t>PyTorch: TextCNNNextWord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class TextCNNNextWord(nn.Module):</a:t>
            </a:r>
            <a:br/>
            <a:r>
              <a:t>    def __init__(self, vocab=8, embed=4,</a:t>
            </a:r>
            <a:br/>
            <a:r>
              <a:t>                 filters=16, k=2):</a:t>
            </a:r>
            <a:br/>
            <a:r>
              <a:t>        super().__init__()</a:t>
            </a:r>
            <a:br/>
            <a:r>
              <a:t>        self.emb = nn.Embedding(vocab, embed)</a:t>
            </a:r>
            <a:br/>
            <a:r>
              <a:t>        self.conv = nn.Conv1d(in_channels=embed,</a:t>
            </a:r>
            <a:br/>
            <a:r>
              <a:t>                              out_channels=filters,</a:t>
            </a:r>
            <a:br/>
            <a:r>
              <a:t>                              kernel_size=k)</a:t>
            </a:r>
            <a:br/>
            <a:r>
              <a:t>        self.relu = nn.ReLU()</a:t>
            </a:r>
            <a:br/>
            <a:r>
              <a:t>        self.fc = nn.Linear(filters, vocab)</a:t>
            </a:r>
            <a:br/>
            <a:br/>
            <a:r>
              <a:t>    def forward(self, x):</a:t>
            </a:r>
            <a:br/>
            <a:r>
              <a:t>        # x: [Batch, 5]</a:t>
            </a:r>
            <a:br/>
            <a:r>
              <a:t>        e = self.emb(x)           # [Batch, 5, 4]</a:t>
            </a:r>
            <a:br/>
            <a:r>
              <a:t>        e = e.permute(0, 2, 1)    # [Batch, 4, 5]</a:t>
            </a:r>
            <a:br/>
            <a:r>
              <a:t>        c = self.conv(e)          # [Batch, 16, 4]</a:t>
            </a:r>
            <a:br/>
            <a:r>
              <a:t>        a = self.relu(c)          # [Batch, 16, 4]</a:t>
            </a:r>
            <a:br/>
            <a:r>
              <a:t>        p, _ = torch.max(a, dim=2)# [Batch, 16]</a:t>
            </a:r>
            <a:br/>
            <a:r>
              <a:t>        out = self.fc(p)          # [Batch, 8]</a:t>
            </a:r>
            <a:br/>
            <a:r>
              <a:t>        return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96793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E293B"/>
                </a:solidFill>
              </a:defRPr>
            </a:pPr>
            <a:r>
              <a:t>Bảng Quy chuẩn Tensor Shapes</a:t>
            </a:r>
          </a:p>
          <a:p>
            <a:pPr>
              <a:defRPr sz="1000">
                <a:solidFill>
                  <a:srgbClr val="0E7490"/>
                </a:solidFill>
                <a:latin typeface="Consolas"/>
              </a:defRPr>
            </a:pPr>
            <a:r>
              <a:t>+-------------------+-------------------+</a:t>
            </a:r>
            <a:br/>
            <a:r>
              <a:t>| Bước Xử lý        | Tensor Shape      |</a:t>
            </a:r>
            <a:br/>
            <a:r>
              <a:t>+-------------------+-------------------+</a:t>
            </a:r>
            <a:br/>
            <a:r>
              <a:t>| Input Tokens      | [5]               |</a:t>
            </a:r>
            <a:br/>
            <a:r>
              <a:t>| Embedding Lookup  | [5, 4]            |</a:t>
            </a:r>
            <a:br/>
            <a:r>
              <a:t>| Conv1d Permute    | [4, 5] (Ch, Seq)  |</a:t>
            </a:r>
            <a:br/>
            <a:r>
              <a:t>| Conv1d (k=2)      | [16, 4]           |</a:t>
            </a:r>
            <a:br/>
            <a:r>
              <a:t>| ReLU Activation   | [16, 4]           |</a:t>
            </a:r>
            <a:br/>
            <a:r>
              <a:t>| Global Max-Pool   | [16]              |</a:t>
            </a:r>
            <a:br/>
            <a:r>
              <a:t>| Linear Layer      | [8]  (Logits)     |</a:t>
            </a:r>
            <a:br/>
            <a:r>
              <a:t>| Softmax &amp; Argmax  | [8] -&gt; Index 6    |</a:t>
            </a:r>
            <a:br/>
            <a:r>
              <a:t>+-------------------+-------------------+</a:t>
            </a:r>
            <a:br/>
            <a:br/>
            <a:r>
              <a:t>Điểm khác biệt chính với MLP:</a:t>
            </a:r>
            <a:br/>
            <a:r>
              <a:t>• MLP: Flatten [5, 4] -&gt; [20]</a:t>
            </a:r>
            <a:br/>
            <a:r>
              <a:t>• CNN: Conv1d trượt N-gram -&gt; [16, 4]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Calibri"/>
              </a:defRPr>
            </a:pPr>
            <a:r>
              <a:t>1D-CNN FOR NEXT WORD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Trebuchet MS"/>
              </a:defRPr>
            </a:pPr>
            <a:r>
              <a:t>So sánh 3 Kiến trúc: MLP vs 1D-CNN vs RNN (Động lực chuyển dịch)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E293B"/>
                </a:solidFill>
              </a:defRPr>
            </a:pPr>
            <a:r>
              <a:t>Bảng So sánh Tổng quan MLP, CNN và RNN</a:t>
            </a:r>
          </a:p>
          <a:p>
            <a:pPr>
              <a:defRPr sz="1100">
                <a:solidFill>
                  <a:srgbClr val="334155"/>
                </a:solidFill>
                <a:latin typeface="Consolas"/>
              </a:defRPr>
            </a:pPr>
            <a:r>
              <a:t>+----------------------+-----------------------+-----------------------+-----------------------+</a:t>
            </a:r>
            <a:br/>
            <a:r>
              <a:t>| Tiêu chí             | MLP (Feedforward)     | 1D-CNN (Convolutional)| RNN (Recurrent)       |</a:t>
            </a:r>
            <a:br/>
            <a:r>
              <a:t>+----------------------+-----------------------+-----------------------+-----------------------+</a:t>
            </a:r>
            <a:br/>
            <a:r>
              <a:t>| Ngữ cảnh (Context)   | Cố định (Bắt buộc pad)| Cửa sổ N-gram (k=2,3) | Chuỗi thời gian vô hạn|</a:t>
            </a:r>
            <a:br/>
            <a:r>
              <a:t>| Trọng số (Weights)   | Cố định vị trí        | Chia sẻ qua Cửa sổ    | Chia sẻ theo Thời gian|</a:t>
            </a:r>
            <a:br/>
            <a:r>
              <a:t>| Đặc tính Tuần tự     | Mất (Ép phẳng Flatten)| Nhận diện Cụm Cục bộ  | Duy trì Thứ tự Chuỗi  |</a:t>
            </a:r>
            <a:br/>
            <a:r>
              <a:t>| Trạng thái Bổ sung   | Không có              | Max-Pooling gom đặc x.| Hidden State h_t      |</a:t>
            </a:r>
            <a:br/>
            <a:r>
              <a:t>| Bùng nổ Tham số      | Rất nhanh khi câu dài | Thấp (Phụ thuộc k, Ch)| Rất thấp (Dùng chung W)|</a:t>
            </a:r>
            <a:br/>
            <a:r>
              <a:t>+----------------------+-----------------------+-----------------------+-----------------------+</a:t>
            </a:r>
            <a:br/>
            <a:br/>
            <a:r>
              <a:t>TỔNG KẾT &amp; ĐỘNG LỰC DẪN DẮT:</a:t>
            </a:r>
            <a:br/>
            <a:r>
              <a:t>• MLP: Đơn giản nhưng ép phẳng làm mất hoàn toàn thứ tự từ và bị giới hạn khung ngữ cảnh cố định.</a:t>
            </a:r>
            <a:br/>
            <a:r>
              <a:t>• CNN: Cải tiến nhờ trượt N-gram bắt cụm từ cục bộ tốt hơn, nhưng vẫn bị giới hạn tầm nhìn (receptive field).</a:t>
            </a:r>
            <a:br/>
            <a:r>
              <a:t>• RNN: Giải pháp tối ưu cho ngôn ngữ nhờ Trạng thái ẩn h_t tích lũy thông tin quá khứ liên tục qua từng thời điểm.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