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Kiến trúc MLP cho Bài toán Next Word Prediction</a:t>
            </a:r>
          </a:p>
          <a:p>
            <a:pPr>
              <a:spcBef>
                <a:spcPts val="1200"/>
              </a:spcBef>
              <a:defRPr sz="1800">
                <a:solidFill>
                  <a:srgbClr val="94A3B8"/>
                </a:solidFill>
                <a:latin typeface="Arial"/>
              </a:defRPr>
            </a:pPr>
            <a:r>
              <a:t>Giải thích từng bước chi tiết (Step-by-Step Forward Pass) kèm minh họa toán học &amp; sơ đồ mạng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3931920"/>
            <a:ext cx="9448495" cy="1097280"/>
          </a:xfrm>
          <a:prstGeom prst="round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200" b="1">
                <a:solidFill>
                  <a:srgbClr val="0D9488"/>
                </a:solidFill>
                <a:latin typeface="Arial"/>
              </a:defRPr>
            </a:pPr>
            <a:r>
              <a:t>VÍ DỤ XUYÊN SUỐT TRONG NGUỒN:</a:t>
            </a:r>
          </a:p>
          <a:p>
            <a:pPr>
              <a:spcBef>
                <a:spcPts val="400"/>
              </a:spcBef>
              <a:defRPr sz="1600" b="1">
                <a:solidFill>
                  <a:srgbClr val="FFFFFF"/>
                </a:solidFill>
                <a:latin typeface="Arial"/>
              </a:defRPr>
            </a:pPr>
            <a:r>
              <a:t>Input (X): "We are learning AI"  ➔  Target (y): "is"  |  Vocab Size (V) = 8, Embedding Dim (d) = 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BƯỚC 1 &amp; 2: TIỀN XỬ LÝ DỮ LIỆU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Chuyển đổi Văn bản thành Mã định danh (Token IDs) &amp; Thêm Padding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Georgia"/>
              </a:defRPr>
            </a:pPr>
            <a:r>
              <a:t>1. Quy trình Tokenization &amp; Padding:</a:t>
            </a:r>
          </a:p>
          <a:p>
            <a:pPr>
              <a:spcBef>
                <a:spcPts val="800"/>
              </a:spcBef>
              <a:defRPr sz="1400" b="1">
                <a:solidFill>
                  <a:srgbClr val="0D9488"/>
                </a:solidFill>
                <a:latin typeface="Arial"/>
              </a:defRPr>
            </a:pPr>
            <a:r>
              <a:t>• Text ban đầu: </a:t>
            </a:r>
            <a:r>
              <a:rPr b="0">
                <a:solidFill>
                  <a:srgbClr val="1E293B"/>
                </a:solidFill>
              </a:rPr>
              <a:t>"We are learning AI"</a:t>
            </a:r>
          </a:p>
          <a:p>
            <a:pPr>
              <a:spcBef>
                <a:spcPts val="800"/>
              </a:spcBef>
              <a:defRPr sz="1400" b="1">
                <a:solidFill>
                  <a:srgbClr val="0D9488"/>
                </a:solidFill>
                <a:latin typeface="Arial"/>
              </a:defRPr>
            </a:pPr>
            <a:r>
              <a:t>• Tách Token (List): </a:t>
            </a:r>
            <a:r>
              <a:rPr b="0">
                <a:solidFill>
                  <a:srgbClr val="1E293B"/>
                </a:solidFill>
              </a:rPr>
              <a:t>["We", "are", "learning", "AI"]</a:t>
            </a:r>
          </a:p>
          <a:p>
            <a:pPr>
              <a:spcBef>
                <a:spcPts val="800"/>
              </a:spcBef>
              <a:defRPr sz="1400" b="1">
                <a:solidFill>
                  <a:srgbClr val="0D9488"/>
                </a:solidFill>
                <a:latin typeface="Arial"/>
              </a:defRPr>
            </a:pPr>
            <a:r>
              <a:t>• Tra cứu Token ID: </a:t>
            </a:r>
            <a:r>
              <a:rPr b="0">
                <a:solidFill>
                  <a:srgbClr val="1E293B"/>
                </a:solidFill>
              </a:rPr>
              <a:t>We ➔ 0 ([UNK]), are ➔ 4, learning ➔ 7, AI ➔ 2</a:t>
            </a:r>
          </a:p>
          <a:p>
            <a:pPr>
              <a:spcBef>
                <a:spcPts val="800"/>
              </a:spcBef>
              <a:defRPr sz="1400" b="1">
                <a:solidFill>
                  <a:srgbClr val="0D9488"/>
                </a:solidFill>
                <a:latin typeface="Arial"/>
              </a:defRPr>
            </a:pPr>
            <a:r>
              <a:t>• Token IDs ban đầu: </a:t>
            </a:r>
            <a:r>
              <a:rPr b="0">
                <a:solidFill>
                  <a:srgbClr val="1E293B"/>
                </a:solidFill>
              </a:rPr>
              <a:t>[0, 4, 7, 2]  (Độ dài seq = 4)</a:t>
            </a:r>
          </a:p>
          <a:p>
            <a:pPr>
              <a:spcBef>
                <a:spcPts val="800"/>
              </a:spcBef>
              <a:defRPr sz="1400" b="1">
                <a:solidFill>
                  <a:srgbClr val="0D9488"/>
                </a:solidFill>
                <a:latin typeface="Arial"/>
              </a:defRPr>
            </a:pPr>
            <a:r>
              <a:t>• Padding cố định (len=5): </a:t>
            </a:r>
            <a:r>
              <a:rPr b="0">
                <a:solidFill>
                  <a:srgbClr val="1E293B"/>
                </a:solidFill>
              </a:rPr>
              <a:t>[0, 4, 7, 2, 1]  (Thêm token &lt;pad&gt; = 1)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223760" y="1463040"/>
            <a:ext cx="42062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0F172A"/>
                </a:solidFill>
                <a:latin typeface="Georgia"/>
              </a:defRPr>
            </a:pPr>
            <a:r>
              <a:t>Bảng Vocabulary (V = 8)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406640" y="2011680"/>
          <a:ext cx="3840480" cy="402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47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Index (ID)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Word / Token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[UNK] (We)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[pad] (Padding)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are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cs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is (Target)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70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BƯỚC 3 &amp; 4: TRA CỨU EMBEDDING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Chuyển Token ID thành Vector đặc trưng (Embedding Matrix E ∈ ℝ⁸ˣ⁴)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0" tIns="137160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Arial"/>
              </a:defRPr>
            </a:pPr>
            <a:r>
              <a:t>Tại sao cần Embedding? </a:t>
            </a:r>
            <a:r>
              <a:rPr b="0">
                <a:solidFill>
                  <a:srgbClr val="1E293B"/>
                </a:solidFill>
              </a:rPr>
              <a:t>Token ID chỉ là mã đại số danh định (ví dụ ID 7 của 'learning' không có nghĩa lớn hơn ID 4 của 'are'). Embedding biến mỗi ID thành một vector liên tục 4 chiều mang ngữ nghĩa, học thông qua Backpropagation.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651760"/>
          <a:ext cx="106984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09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Token &amp;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Công thức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Vector Embedding Chi tiết (d = 4)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Kích thước (Shape)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We (Token 0)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X₁ = E[0]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ourier New"/>
                        </a:defRPr>
                      </a:pPr>
                      <a:r>
                        <a:t>[-0.1882,   0.5530,   1.6267,   0.7013]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×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are (Token 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X₂ = E[4]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ourier New"/>
                        </a:defRPr>
                      </a:pPr>
                      <a:r>
                        <a:t>[ 0.2293,   1.3255,   0.1318,   2.0501]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×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learning (Token 7)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X₃ = E[7]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ourier New"/>
                        </a:defRPr>
                      </a:pPr>
                      <a:r>
                        <a:t>[ 0.4309,  -1.3067,  -0.8823,   1.5977]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×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AI (Token 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X₄ = E[2]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ourier New"/>
                        </a:defRPr>
                      </a:pPr>
                      <a:r>
                        <a:t>[ 1.0281,  -1.9094,   0.3182,   0.4211]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× 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&lt;pad&gt; (Token 1)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X₅ = E[1]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Courier New"/>
                        </a:defRPr>
                      </a:pPr>
                      <a:r>
                        <a:t>[ 1.7840,  -0.8278,  -0.2701,   1.3586]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1 × 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BƯỚC 5: GHÉP ĐẶC TRƯNG (CONCATENATION)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Nối tất cả 5 Embedding Vectors thành 1 Vector Phẳng 20 Chiều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82296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37160" rtlCol="0" anchor="ctr"/>
          <a:lstStyle/>
          <a:p>
            <a:pPr algn="ctr">
              <a:defRPr sz="1400" b="1">
                <a:solidFill>
                  <a:srgbClr val="0F172A"/>
                </a:solidFill>
                <a:latin typeface="Arial"/>
              </a:defRPr>
            </a:pPr>
            <a:r>
              <a:t>Ý tưởng cốt lõi của MLP cho chuỗi: </a:t>
            </a:r>
            <a:r>
              <a:rPr b="0">
                <a:solidFill>
                  <a:srgbClr val="64748B"/>
                </a:solidFill>
              </a:rPr>
              <a:t>Ép phẳng toàn bộ ngữ cảnh (5 tokens × 4 chiều) thành 1 vector duy nhất X_concat ∈ ℝ²⁰ trước khi truyền vào các lớp Linear của MLP.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69848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1097280" y="2560320"/>
            <a:ext cx="3474720" cy="548640"/>
          </a:xfrm>
          <a:prstGeom prst="round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X₁: We [4]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246120"/>
            <a:ext cx="3474720" cy="548640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X₂: are [4]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931920"/>
            <a:ext cx="3474720" cy="54864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X₃: learning [4]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97280" y="4617720"/>
            <a:ext cx="3474720" cy="5486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X₄: AI [4]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97280" y="5303520"/>
            <a:ext cx="3474720" cy="548640"/>
          </a:xfrm>
          <a:prstGeom prst="roundRect">
            <a:avLst/>
          </a:prstGeom>
          <a:solidFill>
            <a:srgbClr val="EAB3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  <a:latin typeface="Arial"/>
              </a:defRPr>
            </a:pPr>
            <a:r>
              <a:t>X₅: &lt;pad&gt; [4]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846320" y="3931920"/>
            <a:ext cx="1097280" cy="54864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6217920" y="2560320"/>
            <a:ext cx="4754880" cy="3474720"/>
          </a:xfrm>
          <a:prstGeom prst="roundRect">
            <a:avLst/>
          </a:prstGeom>
          <a:solidFill>
            <a:srgbClr val="0F172A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tlCol="0" anchor="ctr"/>
          <a:lstStyle/>
          <a:p>
            <a:pPr algn="ctr">
              <a:defRPr sz="1500" b="1">
                <a:solidFill>
                  <a:srgbClr val="0D9488"/>
                </a:solidFill>
                <a:latin typeface="Georgia"/>
              </a:defRPr>
            </a:pPr>
            <a:r>
              <a:t>X_concat (Kích thước: 20 chiều)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Courier New"/>
              </a:defRPr>
            </a:pPr>
            <a:r>
              <a:t>X_concat = [X₁ ; X₂ ; X₃ ; X₄ ; X₅]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Courier New"/>
              </a:defRPr>
            </a:pPr>
            <a:r>
              <a:t>= [-0.1882, 0.5530, 1.6267, 0.7013,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Courier New"/>
              </a:defRPr>
            </a:pPr>
            <a:r>
              <a:t>   0.2293, 1.3255, 0.1318, 2.0501,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Courier New"/>
              </a:defRPr>
            </a:pPr>
            <a:r>
              <a:t>   0.4309, -1.3067, -0.8823, 1.5977,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Courier New"/>
              </a:defRPr>
            </a:pPr>
            <a:r>
              <a:t>   1.0281, -1.9094, 0.3182, 0.4211,</a:t>
            </a:r>
          </a:p>
          <a:p>
            <a:pPr>
              <a:spcBef>
                <a:spcPts val="200"/>
              </a:spcBef>
              <a:defRPr sz="1050">
                <a:solidFill>
                  <a:srgbClr val="E2E8F0"/>
                </a:solidFill>
                <a:latin typeface="Courier New"/>
              </a:defRPr>
            </a:pPr>
            <a:r>
              <a:t>   1.7840, -0.8278, -0.2701, 1.3586]</a:t>
            </a:r>
          </a:p>
          <a:p>
            <a:br/>
            <a:r>
              <a:t>Shape biến đổi: [1, 5, 4] ➔ [1, 20]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BƯỚC 6: SƠ ĐỒ MẠNG MLP &amp; COMPUTING FORWARD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Xử lý qua Hidden Layer (Linear + ReLU) ➔ Output Layer (Logits)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6984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2103120" cy="3840480"/>
          </a:xfrm>
          <a:prstGeom prst="roundRect">
            <a:avLst/>
          </a:prstGeom>
          <a:solidFill>
            <a:srgbClr val="F1F5F9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400" b="1">
                <a:solidFill>
                  <a:srgbClr val="2563EB"/>
                </a:solidFill>
                <a:latin typeface="Arial"/>
              </a:defRPr>
            </a:pPr>
            <a:r>
              <a:rPr dirty="0"/>
              <a:t>INPUT LAYER</a:t>
            </a:r>
            <a:br>
              <a:rPr dirty="0"/>
            </a:br>
            <a:r>
              <a:rPr dirty="0"/>
              <a:t>(</a:t>
            </a:r>
            <a:r>
              <a:rPr dirty="0" err="1"/>
              <a:t>X_concat</a:t>
            </a:r>
            <a:r>
              <a:rPr dirty="0"/>
              <a:t>)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20 Features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[1, 20]</a:t>
            </a:r>
          </a:p>
        </p:txBody>
      </p:sp>
      <p:sp>
        <p:nvSpPr>
          <p:cNvPr id="6" name="Right Arrow 5"/>
          <p:cNvSpPr/>
          <p:nvPr/>
        </p:nvSpPr>
        <p:spPr>
          <a:xfrm>
            <a:off x="3291840" y="3566160"/>
            <a:ext cx="914400" cy="457200"/>
          </a:xfrm>
          <a:prstGeom prst="rightArrow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017520" y="28346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D9488"/>
                </a:solidFill>
              </a:defRPr>
            </a:pPr>
            <a:r>
              <a:t>Linear 1</a:t>
            </a:r>
            <a:br/>
            <a:r>
              <a:t>W₁ ∈ ℝ¹⁶ˣ²⁰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2377440" cy="3840480"/>
          </a:xfrm>
          <a:prstGeom prst="roundRect">
            <a:avLst/>
          </a:prstGeom>
          <a:solidFill>
            <a:srgbClr val="CCFBF1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400" b="1">
                <a:solidFill>
                  <a:srgbClr val="0D9488"/>
                </a:solidFill>
                <a:latin typeface="Arial"/>
              </a:defRPr>
            </a:pPr>
            <a:r>
              <a:rPr dirty="0"/>
              <a:t>HIDDEN LAYER</a:t>
            </a:r>
            <a:br>
              <a:rPr dirty="0"/>
            </a:br>
            <a:r>
              <a:rPr dirty="0"/>
              <a:t>+ </a:t>
            </a:r>
            <a:r>
              <a:rPr dirty="0" err="1"/>
              <a:t>ReLU</a:t>
            </a:r>
            <a:endParaRPr dirty="0"/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16 Neurons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[1, 16]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h₁ = </a:t>
            </a:r>
            <a:r>
              <a:rPr dirty="0" err="1">
                <a:solidFill>
                  <a:schemeClr val="tx1"/>
                </a:solidFill>
              </a:rPr>
              <a:t>ReLU</a:t>
            </a:r>
            <a:r>
              <a:rPr dirty="0">
                <a:solidFill>
                  <a:schemeClr val="tx1"/>
                </a:solidFill>
              </a:rPr>
              <a:t>(W₁X + b₁)</a:t>
            </a:r>
          </a:p>
        </p:txBody>
      </p:sp>
      <p:sp>
        <p:nvSpPr>
          <p:cNvPr id="9" name="Right Arrow 8"/>
          <p:cNvSpPr/>
          <p:nvPr/>
        </p:nvSpPr>
        <p:spPr>
          <a:xfrm>
            <a:off x="6766560" y="3566160"/>
            <a:ext cx="914400" cy="457200"/>
          </a:xfrm>
          <a:prstGeom prst="rightArrow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92240" y="2834640"/>
            <a:ext cx="14630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D97706"/>
                </a:solidFill>
              </a:defRPr>
            </a:pPr>
            <a:r>
              <a:t>Linear 2</a:t>
            </a:r>
            <a:br/>
            <a:r>
              <a:t>W₂ ∈ ℝ⁸ˣ¹⁶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0" y="2011680"/>
            <a:ext cx="3291840" cy="384048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182880" rtlCol="0" anchor="ctr"/>
          <a:lstStyle/>
          <a:p>
            <a:pPr algn="ctr">
              <a:defRPr sz="1400" b="1">
                <a:solidFill>
                  <a:srgbClr val="D97706"/>
                </a:solidFill>
                <a:latin typeface="Arial"/>
              </a:defRPr>
            </a:pPr>
            <a:r>
              <a:rPr dirty="0"/>
              <a:t>OUTPUT LAYER (LOGITS)</a:t>
            </a:r>
            <a:br>
              <a:rPr dirty="0"/>
            </a:br>
            <a:r>
              <a:rPr dirty="0"/>
              <a:t>z = </a:t>
            </a:r>
            <a:r>
              <a:rPr dirty="0" err="1"/>
              <a:t>W₂h</a:t>
            </a:r>
            <a:r>
              <a:rPr dirty="0"/>
              <a:t> + b₂</a:t>
            </a:r>
          </a:p>
          <a:p>
            <a:br>
              <a:rPr dirty="0"/>
            </a:br>
            <a:r>
              <a:rPr dirty="0">
                <a:solidFill>
                  <a:schemeClr val="tx1"/>
                </a:solidFill>
              </a:rPr>
              <a:t>8 Logits [1, 8]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(</a:t>
            </a:r>
            <a:r>
              <a:rPr dirty="0" err="1">
                <a:solidFill>
                  <a:schemeClr val="tx1"/>
                </a:solidFill>
              </a:rPr>
              <a:t>Tương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ứng</a:t>
            </a:r>
            <a:r>
              <a:rPr dirty="0">
                <a:solidFill>
                  <a:schemeClr val="tx1"/>
                </a:solidFill>
              </a:rPr>
              <a:t> V = 8 </a:t>
            </a:r>
            <a:r>
              <a:rPr dirty="0" err="1">
                <a:solidFill>
                  <a:schemeClr val="tx1"/>
                </a:solidFill>
              </a:rPr>
              <a:t>từ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dirty="0" err="1">
                <a:solidFill>
                  <a:schemeClr val="tx1"/>
                </a:solidFill>
              </a:rPr>
              <a:t>trong</a:t>
            </a:r>
            <a:r>
              <a:rPr dirty="0">
                <a:solidFill>
                  <a:schemeClr val="tx1"/>
                </a:solidFill>
              </a:rPr>
              <a:t> vocab)</a:t>
            </a:r>
            <a:br>
              <a:rPr dirty="0">
                <a:solidFill>
                  <a:schemeClr val="tx1"/>
                </a:solidFill>
              </a:rPr>
            </a:b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z = [1.2, -0.4, 0.8, 0.1,</a:t>
            </a:r>
            <a:br>
              <a:rPr dirty="0">
                <a:solidFill>
                  <a:schemeClr val="tx1"/>
                </a:solidFill>
              </a:rPr>
            </a:br>
            <a:r>
              <a:rPr dirty="0">
                <a:solidFill>
                  <a:schemeClr val="tx1"/>
                </a:solidFill>
              </a:rPr>
              <a:t>     2.1, -0.7, 4.5, 0.3]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BƯỚC 7 &amp; 8: SOFTMAX &amp; KẾT QUẢ DỰ ĐOÁN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Chuyển đổi Logits thành Xác suất ➔ Chọn Từ có Xác suất Cao nhất (Argmax)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475488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45920"/>
            <a:ext cx="43891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F172A"/>
                </a:solidFill>
                <a:latin typeface="Georgia"/>
              </a:defRPr>
            </a:pPr>
            <a:r>
              <a:t>Hàm Softmax &amp; Chuẩn hóa:</a:t>
            </a:r>
          </a:p>
          <a:p>
            <a:pPr>
              <a:spcBef>
                <a:spcPts val="800"/>
              </a:spcBef>
              <a:defRPr sz="1300" b="1">
                <a:solidFill>
                  <a:srgbClr val="0D9488"/>
                </a:solidFill>
                <a:latin typeface="Courier New"/>
              </a:defRPr>
            </a:pPr>
            <a:r>
              <a:t>P(y = i | X) = e^(z_i) / ∑ e^(z_j)</a:t>
            </a:r>
          </a:p>
          <a:p>
            <a:pPr>
              <a:spcBef>
                <a:spcPts val="6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Softmax biến 8 giá trị logits thành phân phối xác suất có tổng bằng 1.0 (100%).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3931920"/>
            <a:ext cx="4206240" cy="2103120"/>
          </a:xfrm>
          <a:prstGeom prst="roundRect">
            <a:avLst/>
          </a:prstGeom>
          <a:solidFill>
            <a:srgbClr val="FEF3C7"/>
          </a:solidFill>
          <a:ln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82880" rtlCol="0" anchor="ctr"/>
          <a:lstStyle/>
          <a:p>
            <a:pPr algn="ctr">
              <a:defRPr sz="1100" b="1">
                <a:solidFill>
                  <a:srgbClr val="D97706"/>
                </a:solidFill>
                <a:latin typeface="Arial"/>
              </a:defRPr>
            </a:pPr>
            <a:r>
              <a:t>KẾT QUẢ DỰ ĐOÁN (ARGMAX):</a:t>
            </a:r>
          </a:p>
          <a:p>
            <a:pPr>
              <a:spcBef>
                <a:spcPts val="400"/>
              </a:spcBef>
              <a:defRPr sz="1600" b="1">
                <a:solidFill>
                  <a:srgbClr val="0F172A"/>
                </a:solidFill>
                <a:latin typeface="Georgia"/>
              </a:defRPr>
            </a:pPr>
            <a:r>
              <a:t>ŷ = argmax(P) = Index 6 ➔ "is"</a:t>
            </a:r>
          </a:p>
          <a:p>
            <a:pPr>
              <a:spcBef>
                <a:spcPts val="400"/>
              </a:spcBef>
              <a:defRPr sz="1150">
                <a:solidFill>
                  <a:srgbClr val="1E293B"/>
                </a:solidFill>
                <a:latin typeface="Arial"/>
              </a:defRPr>
            </a:pPr>
            <a:r>
              <a:t>Từ "is" đạt xác suất cao nhất 88% (0.88), chính xác tuyệt đối theo Target kì vọng!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760720" y="1463040"/>
          <a:ext cx="566928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Index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Word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Logit (z)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Softmax Prob (P)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[UNK]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1.2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0.020 (2.0%)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[pad]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-0.4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0.004 (0.4%)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ai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0.8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0.010 (1.0%)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0.005 (0.5%)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are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2.1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0.050 (5.0%)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cs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-0.7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0.002 (0.2%)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is (Target)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4.5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D97706"/>
                          </a:solidFill>
                          <a:latin typeface="Arial"/>
                        </a:defRPr>
                      </a:pPr>
                      <a:r>
                        <a:t>0.880 (88.0%) ⭐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8480"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learning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Arial"/>
                        </a:defRPr>
                      </a:pPr>
                      <a:r>
                        <a:t>0.030 (3.0%)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TỔNG HỢP KỸ THUẬT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Mã Nguồn PyTorch Cài đặt Mô hình &amp; Bảng Tra cứu Shape Từng bước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6217920" cy="4846320"/>
          </a:xfrm>
          <a:prstGeom prst="roundRect">
            <a:avLst/>
          </a:prstGeom>
          <a:solidFill>
            <a:srgbClr val="0F172A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400" b="1">
                <a:solidFill>
                  <a:srgbClr val="0D9488"/>
                </a:solidFill>
                <a:latin typeface="Arial"/>
              </a:defRPr>
            </a:pPr>
            <a:r>
              <a:t>PyTorch Implementation (Sát với Ví dụ):</a:t>
            </a:r>
          </a:p>
          <a:p>
            <a:pPr>
              <a:spcBef>
                <a:spcPts val="600"/>
              </a:spcBef>
              <a:defRPr sz="1050">
                <a:solidFill>
                  <a:srgbClr val="E2E8F0"/>
                </a:solidFill>
                <a:latin typeface="Courier New"/>
              </a:defRPr>
            </a:pPr>
            <a:r>
              <a:t>import torch</a:t>
            </a:r>
            <a:br/>
            <a:r>
              <a:t>import torch.nn as nn</a:t>
            </a:r>
            <a:br/>
            <a:br/>
            <a:r>
              <a:t>class NextWordMLP(nn.Module):</a:t>
            </a:r>
            <a:br/>
            <a:r>
              <a:t>    def __init__(self, vocab_size=8, emb_dim=4, </a:t>
            </a:r>
            <a:br/>
            <a:r>
              <a:t>                 seq_len=5, hidden_dim=16):</a:t>
            </a:r>
            <a:br/>
            <a:r>
              <a:t>        super().__init__()</a:t>
            </a:r>
            <a:br/>
            <a:r>
              <a:t>        self.embedding = nn.Embedding(vocab_size, emb_dim)</a:t>
            </a:r>
            <a:br/>
            <a:r>
              <a:t>        self.fc1 = nn.Linear(seq_len * emb_dim, hidden_dim)</a:t>
            </a:r>
            <a:br/>
            <a:r>
              <a:t>        self.relu = nn.ReLU()</a:t>
            </a:r>
            <a:br/>
            <a:r>
              <a:t>        self.fc2 = nn.Linear(hidden_dim, vocab_size)</a:t>
            </a:r>
            <a:br/>
            <a:br/>
            <a:r>
              <a:t>    def forward(self, x):</a:t>
            </a:r>
            <a:br/>
            <a:r>
              <a:t>        # x shape: [batch, 5]</a:t>
            </a:r>
            <a:br/>
            <a:r>
              <a:t>        x = self.embedding(x)      # -&gt; [batch, 5, 4]</a:t>
            </a:r>
            <a:br/>
            <a:r>
              <a:t>        x = x.reshape(x.size(0), -1)# -&gt; [batch, 20]</a:t>
            </a:r>
            <a:br/>
            <a:r>
              <a:t>        x = self.fc1(x)            # -&gt; [batch, 16]</a:t>
            </a:r>
            <a:br/>
            <a:r>
              <a:t>        x = self.relu(x)           # -&gt; [batch, 16]</a:t>
            </a:r>
            <a:br/>
            <a:r>
              <a:t>        logits = self.fc2(x)       # -&gt; [batch, 8]</a:t>
            </a:r>
            <a:br/>
            <a:r>
              <a:t>        return logits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223760" y="1463040"/>
          <a:ext cx="4206240" cy="4846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Bước (Step)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Single Shape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Batch Shape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1. Input Tokens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[5]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[B, 5]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2. Embedding Lookup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[5, 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[B, 5, 4]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3. Reshape / Concat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[20]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[B, 20]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4. Linear 1 (20➔16)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[B, 16]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5. ReLU Activation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[16]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[B, 16]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6. Linear 2 (16➔8)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[B, 8]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D9488"/>
                          </a:solidFill>
                          <a:latin typeface="Arial"/>
                        </a:defRPr>
                      </a:pPr>
                      <a:r>
                        <a:t>7. Softmax &amp; Argmax</a:t>
                      </a:r>
                    </a:p>
                  </a:txBody>
                  <a:tcPr>
                    <a:solidFill/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[1] (ID=6)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E293B"/>
                          </a:solidFill>
                          <a:latin typeface="Arial"/>
                        </a:defRPr>
                      </a:pPr>
                      <a:r>
                        <a:t>[B, 1]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pic>
        <p:nvPicPr>
          <p:cNvPr id="7" name="Picture 6">
            <a:extLst>
              <a:ext uri="{FF2B5EF4-FFF2-40B4-BE49-F238E27FC236}">
                <a16:creationId xmlns:a16="http://schemas.microsoft.com/office/drawing/2014/main" id="{76C396B8-9408-39B4-9E20-D643C505B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59" y="1302836"/>
            <a:ext cx="7628281" cy="425232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0DE0356-EBBB-375B-E41B-68499FE54B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59" y="1302836"/>
            <a:ext cx="7628281" cy="42523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525916CF-F346-37E5-B802-EB3C57DC81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59" y="1302836"/>
            <a:ext cx="7628281" cy="4252328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3AE8C51-4820-72B6-4C53-D58D582E56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1859" y="1302836"/>
            <a:ext cx="7628281" cy="425232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DFC3DBC2-71C6-3399-B950-B1AEB1660A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4406"/>
            <a:ext cx="12192000" cy="648918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D9488"/>
                </a:solidFill>
                <a:latin typeface="Arial"/>
              </a:defRPr>
            </a:pPr>
            <a:r>
              <a:t>HẠN CHẾ CỦA MLP &amp; ĐỘNG LỰC SANG RNN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Georgia"/>
              </a:defRPr>
            </a:pPr>
            <a:r>
              <a:t>Tại sao Concatenate trong MLP bị hạn chế và Cần đến Kiến trúc Tuần tự RNN?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DC2626"/>
                </a:solidFill>
                <a:latin typeface="Georgia"/>
              </a:defRPr>
            </a:pPr>
            <a:r>
              <a:t>3 Điểm nghẽn Cốt lõi của MLP: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1. Cửa sổ Ngữ cảnh Cố định (Fixed Context):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Mạng yêu cầu đầu vào 20 chiều cố định. Câu ngắn phải dùng &lt;pad&gt;, câu dài hơn 5 từ không thể xử lý trực tiếp.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2. Mất đặc tính Tuần tự (Non-sequential):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Nối phẳng (Concatenate) biến các từ thành vị trí độc lập, không học được quy luật dịch chuyển hay phụ thuộc thời gian.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3. Bùng nổ Tham số (Parameter Explosion):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Khi tăng độ dài ngữ cảnh N, số trọng số W₁ tăng theo N × d, gây lãng phí bộ nhớ.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1463040"/>
            <a:ext cx="5120640" cy="4846320"/>
          </a:xfrm>
          <a:prstGeom prst="roundRect">
            <a:avLst/>
          </a:prstGeom>
          <a:solidFill>
            <a:srgbClr val="FFFFFF"/>
          </a:solidFill>
          <a:ln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274320" rtlCol="0" anchor="ctr"/>
          <a:lstStyle/>
          <a:p>
            <a:pPr algn="ctr">
              <a:defRPr sz="1800" b="1">
                <a:solidFill>
                  <a:srgbClr val="0D9488"/>
                </a:solidFill>
                <a:latin typeface="Georgia"/>
              </a:defRPr>
            </a:pPr>
            <a:r>
              <a:t>Giải pháp Kiến trúc RNN (Đột phá):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1. Xử lý Chuỗi Độ dài Linh hoạt: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RNN đọc lần lượt từng từ x_t theo bước thời gian t, không cần ghép cứng độ dài cố định hay padding dư thừa.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2. Bộ nhớ Trạng thái Ẩn (Hidden State h_t):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Duy trì bộ nhớ liên tục h_t = f(h_{t-1}, x_t) tích lũy thông tin từ toàn bộ quá khứ.</a:t>
            </a:r>
          </a:p>
          <a:p>
            <a:pPr>
              <a:spcBef>
                <a:spcPts val="800"/>
              </a:spcBef>
              <a:defRPr sz="1300" b="1">
                <a:solidFill>
                  <a:srgbClr val="0F172A"/>
                </a:solidFill>
                <a:latin typeface="Arial"/>
              </a:defRPr>
            </a:pPr>
            <a:r>
              <a:t>3. Chia sẻ Trọng số (Weight Sharing):</a:t>
            </a:r>
          </a:p>
          <a:p>
            <a:pPr>
              <a:defRPr sz="1200">
                <a:solidFill>
                  <a:srgbClr val="64748B"/>
                </a:solidFill>
                <a:latin typeface="Arial"/>
              </a:defRPr>
            </a:pPr>
            <a:r>
              <a:t>Dùng chung bộ tham số (W_hh, W_xh) cho mọi bước thời gian, tối ưu tham số vượt trội.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1676</Words>
  <Application>Microsoft Office PowerPoint</Application>
  <PresentationFormat>Widescreen</PresentationFormat>
  <Paragraphs>172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Van Thi Mai Linh D23CN13</cp:lastModifiedBy>
  <cp:revision>2</cp:revision>
  <dcterms:created xsi:type="dcterms:W3CDTF">2013-01-27T09:14:16Z</dcterms:created>
  <dcterms:modified xsi:type="dcterms:W3CDTF">2026-09-29T17:10:21Z</dcterms:modified>
  <cp:category/>
</cp:coreProperties>
</file>