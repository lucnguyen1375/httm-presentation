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1/11 — Dữ liệu chuỗi có thứ tự; mạng thường không nhớ → cần RNN. Hàm make_windows cắt cửa sổ 30 ngày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2/11 — h_t là trí nhớ; lặp CÙNG trọng số qua từng thời điểm. Hàm rnn_cell = 1 bước, comment từng dòng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3/11 — Toán của các hàm: tanh (e^z), sigmoid, ⊙ — công thức, miền giá trị, đạo hàm, bão hòa; vì sao RNN chọn tanh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4/11 — 3 công cụ đạo hàm — chain rule, affine, tanh — BPTT (slide 8) chỉ là lắp chúng theo thời gian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5/11 — Công thức trung tâm + vai trò 3 ma trận + tên gọi tương ứng trong PyTorch/Keras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6/11 — Ví dụ số nhỏ chạy tay 1 bước — 4 dòng trong bảng = 4 phép tính, code sinh đúng số đó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7/11 — 4 hàm tiền xử lý: load+sort → chia chrono → MinMax fit train → make_windows + guard ±3σ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8/11 — BPTT: gradient chảy ngược thời gian, mỗi bước nhân thêm U^T·diag(1−tanh²) → ‖U‖&lt;1 biến mất, &gt;1 bùng nổ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9/11 — Vòng lặp huấn luyện notebook 01 — từng lệnh đánh số ①→⑧; phải: bảng vai trò từng lệnh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10/11 — Dự báo Δ residual (giá mai = giá nay + Δ̂, guard ±3σ) thắng naive trên cả 2 tập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11/11 — LSTM 5 cổng + băng chuyền c_t (gradient qua phép CỘNG); GRU bản gọn 2 cổng; đổi 1 dòng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Vì sao cần mạng RNN?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224000"/>
            <a:ext cx="669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Calibri"/>
              </a:rPr>
              <a:t>Dữ liệu chuỗi = dữ liệu có THỨ TỰ theo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746000"/>
            <a:ext cx="669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•  Giá vàng &amp; bạc theo ngày (1968–2021, Kaggle)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268000"/>
            <a:ext cx="669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•  Giá cổ phiếu Amazon AMZN + khối lượng (1997–2023, Kaggle)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790000"/>
            <a:ext cx="669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•  Mạng thường nhìn mỗi đầu vào riêng lẻ → KHÔNG nhớ hôm qua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312000"/>
            <a:ext cx="6696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Calibri"/>
              </a:rPr>
              <a:t>Cần mạng có TRÍ NHỚ: quá khứ + hôm nay → dự đoán ngày mai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43999" y="1368000"/>
            <a:ext cx="4428000" cy="324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222"/>
                </a:solidFill>
                <a:latin typeface="Consolas"/>
              </a:rPr>
              <a:t># hàm 1 — cắt chuỗi thành cửa sổ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# (notebook 03, code thật)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def make_windows(arr, L=30):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X = np.stack([arr[i:i+L]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  for i in range(len(arr)-L)])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# mỗi mẫu = 30 ngày liên tiếp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y = arr[L:, 0] - arr[L-1:-1, 0]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# nhãn = Δ giá của NGÀY KẾ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return X, y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X.shape  # (N, 30, 2) — N mẫu × 30 ngày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y.shape  # (N,) — biết hôm nay, đoán biến thiên mai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Ý tưởng RNN: trạng thái ẩn h_t chính là “trí nhớ”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•  h_t = tóm tắt mọi thứ mạng đã thấy tới thời điểm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584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Calibri"/>
              </a:rPr>
              <a:t>•  Mỗi bước: đọc đầu vào mới x_t + trí nhớ cũ h_(t−1) → trí nhớ mới h_t — cùng trọng số, lặp qua từng ngày</a:t>
            </a:r>
          </a:p>
        </p:txBody>
      </p:sp>
      <p:pic>
        <p:nvPicPr>
          <p:cNvPr id="6" name="Picture 5" descr="slide-04-unro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2592000"/>
            <a:ext cx="6120000" cy="24018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03999" y="2592000"/>
            <a:ext cx="4968000" cy="309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222222"/>
                </a:solidFill>
                <a:latin typeface="Consolas"/>
              </a:rPr>
              <a:t># hàm 2 — MỘT bước RNN (numpy thuần, nb 00)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def rnn_cell(x_t, h_prev, W, U, b_h):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a = W @ x_t + U @ h_prev + b_h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# W @ x_t   : đọc tín hiệu MỚI hôm nay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# U @ h_prev: mở TRÍ NHỚ hôm qua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# b_h       : thiên lệch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return np.tanh(a)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# tanh nén về (−1, 1) — giữ số ổn định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h = np.zeros(d_h)          # h_0 = 0 — chưa biết gì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for t in range(T):         # lặp CÙNG 1 cell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h = rnn_cell(x[t], h, W, U, b_h)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y = V @ h + b_y            # đọc trí nhớ cuối → dự đoán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Các hàm toán trong RNN: tanh, σ, ⊙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152000"/>
            <a:ext cx="6263999" cy="417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222222"/>
                </a:solidFill>
                <a:latin typeface="Consolas"/>
              </a:rPr>
              <a:t>tanh(z) = (e^z − e^(−z)) / (e^z + e^(−z))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  # miền (−1, 1), ĐỐI XỨNG tâm 0, tanh(0) = 0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  # tanh(±2) ≈ ±0.96 — sát biên (vùng BÃO HÒA)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d/dz tanh(z) = 1 − tanh²(z)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  # ∈ (0, 1]; ĐỈNH = 1 tại z = 0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  # → 0 khi |z| &gt; 2 — bão hòa làm gradient tắt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σ(z) = 1 / (1 + e^(−z))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  # miền (0, 1) — như VAN đóng/mở 0 → 1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  # σ′ = σ·(1 − σ) ≤ 0.25 — nhỏ hơn đạo hàm tanh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a ⊙ b = [a_1·b_1, …, a_n·b_n]</a:t>
            </a:r>
          </a:p>
          <a:p>
            <a:r>
              <a:rPr sz="1300">
                <a:solidFill>
                  <a:srgbClr val="222222"/>
                </a:solidFill>
                <a:latin typeface="Consolas"/>
              </a:rPr>
              <a:t>  # nhân TỪNG PHẦN TỬ của 2 vector (LSTM/GRU)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12000" y="1224000"/>
          <a:ext cx="4859998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176"/>
                <a:gridCol w="929117"/>
                <a:gridCol w="1286470"/>
                <a:gridCol w="1858235"/>
              </a:tblGrid>
              <a:tr h="59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Hàm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Miền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Đạo hàm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Dùng ở đâu?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tanh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(−1, 1)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1 − tanh² ≤ 1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Tầng ẩn RNN (chuẩn)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(0, 1)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σ(1−σ) ≤ 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Cổng LSTM / GRU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0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ReLU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[0, +∞)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0 hoặc 1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22222"/>
                          </a:solidFill>
                        </a:rPr>
                        <a:t>Hiếm — h không chặn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lide-03-t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000" y="3816000"/>
            <a:ext cx="4860000" cy="1271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5472000"/>
            <a:ext cx="11304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Vì sao RNN cổ điển chọn tanh: (1) tâm 0 → trí nhớ dương/âm cân bằng; (2) chặn về (−1,1) giữ chuẩn h_t ổn định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theo thời gian; (3) đạo hàm gọn 1 − tanh². ReLU không chặn dễ bùng nổ theo t; σ lệch dương và đạo hàm ≤ 0.25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khiến gradient biến mất nhanh gấp đôi so với tanh.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Quan hệ giữa hai hàm: tanh(z) = 2σ(2z) − 1 — chính là sigmoid kéo về tâm 0. Sigmoid ra (0,1) không âm →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gradient của W CÙNG DẤU mỗi batch → bước cập nhật ziczac, hội tụ chậm hơn.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Đạo hàm sẽ dùng trong BPTT — 3 công cụ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152000"/>
            <a:ext cx="6336000" cy="446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222"/>
                </a:solidFill>
                <a:latin typeface="Consolas"/>
              </a:rPr>
              <a:t>CÔNG CỤ 1 — Luật dây chuyền (chain rule):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∂L/∂W = (∂L/∂y) · (∂y/∂W)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# gradient chảy QUA các phép trung gian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CÔNG CỤ 2 — Phép affine y = W·x + b: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∂L/∂x = Wᵀ · δ        (δ = ∂L/∂y)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∂L/∂W = δ · xᵀ        (tích NGOẠI: vector × vector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                       # → ma trận — mỗi trọng số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                       # nhận “vệt” từ đầu vào của nó)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CÔNG CỤ 3 — Nén tanh h = tanh(a):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∂L/∂a = diag(1 − tanh²(a)) · (∂L/∂h)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# nhân TỪNG toạ độ một hệ số ≤ 1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Loss MSE trung bình theo thời gian: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L = (1/T)·Σ_t (ŷ_t − y_t)²  →  δ_t = (2/T)(ŷ_t − y_t)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3999" y="1224000"/>
            <a:ext cx="478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BPTT ở slide 8 = lắp 3 công cụ này theo CHIỀU THỜI GIAN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3999" y="1836000"/>
            <a:ext cx="478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Wᵀ xuất hiện vì gradient đi ngược chiều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3999" y="2448000"/>
            <a:ext cx="478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δ·xᵀ (ngoại) là nguồn các công thức ∂L/∂W = Σ δz_t·x_tᵀ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3999" y="3060000"/>
            <a:ext cx="478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diag(1−tanh²) ≤ 1 chính là nhân tử làm gradient tắt dần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3999" y="3672000"/>
            <a:ext cx="4788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Cùng bộ quy tắc cho Keras/PyTorch — chúng chỉ tự động hoá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 Công thức &amp; 3 ma trận W, U, V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116000"/>
            <a:ext cx="11304000" cy="86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222222"/>
                </a:solidFill>
                <a:latin typeface="Consolas"/>
              </a:rPr>
              <a:t>h_t = tanh( W · x_t  +  U · h_(t−1)  +  b_h )          y_t = V · h_t  +  b_y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2232000"/>
          <a:ext cx="6767998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235"/>
                <a:gridCol w="1194352"/>
                <a:gridCol w="1592470"/>
                <a:gridCol w="3184941"/>
              </a:tblGrid>
              <a:tr h="63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Ma trận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Kích thước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Ánh xạ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Vai trò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W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d_h × d_x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input → hidden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Đọc thông tin mới x_t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d_h × d_h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hidden → hidden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GIỮ TRÍ NHỚ — trái tim của RNN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V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d_y × d_h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hidden → output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Đọc trí nhớ h_t thành kết quả y_t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416000" y="2232000"/>
            <a:ext cx="4356000" cy="324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# PyTorch (nb 01) — định nghĩa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rnn = nn.RNN(2, 64, batch_first=True)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fc  = nn.Linear(64, 1)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weight_ih_l0 = W  (64×2)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weight_hh_l0 = U  (64×64)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fc.weight    = V  (1×64)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out, h_n = rnn(Xb)     # truyền TRỌN chuỗi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y = fc(out[:, -1])     # chỉ đọc ngày CUỐI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Keras (nb 02)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SimpleRNN(64, input_shape=(30, 2))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kernel = W, recurrent = 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5760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Một bộ W, U, V duy nhất dùng CHUNG cho mọi thời điểm → số tham số không phụ thuộc độ dài chuỗi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6. Tính thử một bước (ví dụ số nhỏ: d_x=2, d_h=2, d_y=1)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224000"/>
          <a:ext cx="6768000" cy="35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000"/>
                <a:gridCol w="3008000"/>
                <a:gridCol w="2256000"/>
              </a:tblGrid>
              <a:tr h="7056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Bước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Công thức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Kết quả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056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1. Đọc đầu vào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W · x_1   (x_1 = [1.0, 0.5])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[-0.455, +0.080]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7056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2. Nhớ lại quá khứ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U · h_0   (h_0 = [0, 0] — khởi tạo)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[+0.000, +0.000]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6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3. Cộng &amp; nén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h_1 = tanh(W·x_1 + U·h_0 + b_h)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[-0.426, +0.080]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7056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4. Đưa ra kết quả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y_1 = V · h_1 + b_y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[+0.158]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16000" y="1368000"/>
            <a:ext cx="4356000" cy="25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# sinh đúng các số trong bảng trái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np.random.seed(7)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W = np.round(np.random.uniform(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-0.8, 0.8, (2, 2)), 2)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U = np.round(np.random.uniform(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-0.8, 0.8, (2, 2)), 2)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V = np.round(np.random.uniform(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-0.8, 0.8, (1, 2)), 2)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h1 = np.tanh(W @ x1 + U @ h0)  # bước 3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y1 = V @ h1                    # bước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004000"/>
            <a:ext cx="11304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8A"/>
                </a:solidFill>
                <a:latin typeface="Calibri"/>
              </a:rPr>
              <a:t>Bước t=2 lặp y hệt: thay x_2, lấy h_1 vừa tính làm trí nhớ cũ → h_2, y_2, …</a:t>
            </a:r>
          </a:p>
          <a:p>
            <a:pPr algn="l"/>
            <a:r>
              <a:rPr sz="1500" b="0">
                <a:solidFill>
                  <a:srgbClr val="1E3A8A"/>
                </a:solidFill>
                <a:latin typeface="Calibri"/>
              </a:rPr>
              <a:t>PyTorch: W = weight_ih_l0, U = weight_hh_l0   ·   Keras: W = kernel, U = recurrent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7. Chuẩn bị dữ liệu: từng hàm trong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224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① Chia chronological 70/15/15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584000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train_df = df.iloc[:n_train] — cắt THEO THỜI GIAN, không xáo trộn. Xáo trộn cho mẫu tương lai lọt vào train → rò rỉ dữ liệu.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35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② MinMaxScaler().fit(train_df)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2718000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Chuẩn hoá z = (x − min)/(max − min) ∈ [0,1]. CHỈ fit trên tập train — nếu fit cả chuỗi, min/max của tương lai bị lộ cho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492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③ make_windows(z, L=30)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852000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Cửa sổ trượt: X_i = 30 ngày × 2 đặc trưng (vàng+bạc), nhãn y_i = Δ vàng scaled của ngày kế tiếp.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4626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④ Guard clip ±3σ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4986000"/>
            <a:ext cx="54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22222"/>
                </a:solidFill>
                <a:latin typeface="Calibri"/>
              </a:rPr>
              <a:t>σ = std(Δ train); nhãn |Δ|&gt;3σ bị kéo về biên — lợi suất có đuôi dày, vài ngày khủng hoảng Δ cực lớn sẽ chi phối loss.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8000" y="1224000"/>
            <a:ext cx="5724000" cy="453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# (notebook 01 — code thật)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n = len(df)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n_tr, n_va = int(n*0.70), int(n*0.85)   # ① chrono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scaler = MinMaxScaler().fit(df[:n_tr])  # ② fit TRAIN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z = scaler.transform(df)                #    → [0,1]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def make_windows(f, L):                  # ③ cửa sổ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X, y = [], []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for i in range(len(f) - L):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X.append(f[i:i+L])    # 30 ngày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y.append(f[i+L, 0] - f[i+L-1, 0])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#            Δ = giá mai − giá nay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return np.asarray(X), np.asarray(y)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SIGMA = np.std(y_train_raw)              # ④ σ Δ train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BOUND  = 3.0 * SIGMA                     # biên ±3σ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y_train = np.clip(y_train_raw, -BOUND, BOUND)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8. Huấn luyện — BPTT: gradient chảy ngược qua thời gian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188000"/>
            <a:ext cx="6408000" cy="345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>
                <a:solidFill>
                  <a:srgbClr val="222222"/>
                </a:solidFill>
                <a:latin typeface="Consolas"/>
              </a:rPr>
              <a:t>L = mean(ŷ − y)²                  # loss cuối chuỗi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∂L/∂V = (ŷ − y) · h_T             # tầng output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∂h_i/∂h_(i−1) = U^T · diag(1 − tanh²(a_i))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      # nhân tử JACOBIAN lặp lại mỗi bước ngược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∂L/∂W = Σ_t Σ_(k≤t) (∂L/∂h_t) ·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      [ ∏_(i=k+1)^t ∂h_i/∂h_(i−1) ] · (∂h_k/∂W)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      # mỗi thời điểm k CỘNG DỒN mọi đường ngược về nó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‖∂h_t/∂h_k‖ ≤ ‖U‖^(t−k)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‖U‖ &lt; 1 → cấp số nhân → 0  (BIẾN MẤT)</a:t>
            </a:r>
          </a:p>
          <a:p>
            <a:r>
              <a:rPr sz="1250">
                <a:solidFill>
                  <a:srgbClr val="222222"/>
                </a:solidFill>
                <a:latin typeface="Consolas"/>
              </a:rPr>
              <a:t>  ‖U‖ &gt; 1 → cấp số nhân → ∞  (BÙNG NỔ)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896000"/>
            <a:ext cx="640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diag(1 − tanh²) ≤ 1 nên chỉ U quyết định tăng/giảm gradient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364000"/>
            <a:ext cx="640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Calibri"/>
              </a:rPr>
              <a:t>Chuỗi dài → mạng khó học quá khứ XA; khắc phục: LSTM / GRU (slide 11)</a:t>
            </a:r>
          </a:p>
        </p:txBody>
      </p:sp>
      <p:pic>
        <p:nvPicPr>
          <p:cNvPr id="7" name="Picture 6" descr="slide-09-va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0" y="1224000"/>
            <a:ext cx="4572000" cy="24805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00000" y="3816000"/>
            <a:ext cx="45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3A8A"/>
                </a:solidFill>
                <a:latin typeface="Calibri"/>
              </a:rPr>
              <a:t>Gradient suy giảm theo cấp số nhân (nb 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0" y="4248000"/>
            <a:ext cx="4572000" cy="1655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# chữa BÙNG NỔ — cắt gradient (nb 00)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g ← g · min( 1, c/‖g‖ )    # giữ hướng,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                   # chặn độ lớn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def clip_grad_norm(g, c=5.0):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s = min(1, c/‖g‖)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return {k: v*s for k, v in g.items()}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9. Vòng lặp huấn luyện — từng dòng (code thật notebook 01)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188000"/>
            <a:ext cx="6336000" cy="475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opt = torch.optim.Adam(model.parameters(), lr=1e-3)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criterion = nn.MSELoss()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for epoch in range(30):                # ≤ 30 epoch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for xb, yb in train_loader:        # (1) batch 64 cửa sổ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opt.zero_grad()                # (2) xoá gradient cũ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loss = criterion(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    model(xb).squeeze(-1), yb) # (3) forward 30 bước → Δ̂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loss.backward()                # (4) BPTT: ∂L/∂W,U,V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opt.step()                     # (5) Adam cập nhật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with torch.no_grad():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val = criterion(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    model(X_val), y_val)       # (6) loss trên tập val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if val &lt; best_val: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best_val = val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best = deepcopy(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    model.state_dict())        #     lưu bản tốt nhất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else: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bad += 1                       # (7) không giảm lần thứ bad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if bad &gt;= 4: break                 #     EarlyStopping (patience 4)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model.load_state_dict(best)            # (8) phục hồi bản tốt nhất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83999" y="1224000"/>
          <a:ext cx="4787999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892"/>
                <a:gridCol w="3241107"/>
              </a:tblGrid>
              <a:tr h="520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Lệnh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Vai trò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zero_grad()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Xoá gradient vòng trước — không cộng dồn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model(xb)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Forward: rnn_cell lặp 30 bước, đọc h ngày cuối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loss.backward()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BPTT — tự động tính ∂L/∂W, ∂L/∂U, ∂L/∂V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opt.step()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Adam: θ ← θ − lr·m/√v (lr tự thích ứng từng tham số)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torch.no_grad()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Tắt đồ thị tính toán — đo val cho nhanh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state_dict()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Chụp toàn bộ trọng số W,U,V hiện tại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EarlyStopping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Val loss không giảm 4 epoch → dừng, chống quá khớp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restore 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</a:rPr>
                        <a:t>Nạp lại bản val tốt nhất (không phải bản cuối)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10. Áp dụng: dự đoán giá ngày mai trên 2 tập dữ liệu thật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188000"/>
            <a:ext cx="5832000" cy="432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# MẸO THEN CHỐT: dự báo Δ, không dự báo mức giá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mức giá thua naive 2–5× (train giá thấp, test giá cao)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d_hat = model(X_test)              # Δ̂ scaled (nb 01)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d_hat = np.clip(d_hat, -BOUND, BOUND)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# chặn dự báo trong cùng biên ±3σ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z_prev = z[cuối_cửa_sổ, 0]         # giá "hôm nay"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p_hat  = inverse_gold(z_prev + d_hat)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   # giá mai = giá nay + Δ̂ → inverse → USD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/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def inverse_gold(y_s, scaler):     # đệm cột bạc = 0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d = np.zeros((len(y_s), 2))    # rồi inverse_transform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d[:, 0] = y_s                  # lấy cột vàng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return scaler.inverse_transform(d)[:, 0]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52000" y="1224000"/>
          <a:ext cx="5183998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846"/>
                <a:gridCol w="1063384"/>
                <a:gridCol w="1063384"/>
                <a:gridCol w="1063384"/>
              </a:tblGrid>
              <a:tr h="60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Tập dữ liệu (RMSE test)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PyTorch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Keras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Naive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Giá vàng (Gold &amp; Silver)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15.45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16.42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15.48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Cổ phiếu AMZN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</a:rPr>
                        <a:t>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52000" y="3240000"/>
            <a:ext cx="5184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Naive = dự báo “ngày mai giống hôm nay”.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RNN thắng baseline này trên cả 2 tập (R² ≥ 0.99,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MAPE 0.6–1.8%) — chỉ khi dự báo Δ residual.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Dự báo thẳng MỨC GIÁ: RMSE thua naive 2–5×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vì network bị kéo về trung bình giá train.</a:t>
            </a:r>
          </a:p>
          <a:p>
            <a:pPr algn="l"/>
            <a:r>
              <a:rPr sz="1400" b="1">
                <a:solidFill>
                  <a:srgbClr val="1E3A8A"/>
                </a:solidFill>
                <a:latin typeface="Calibri"/>
              </a:rPr>
              <a:t>Kỹ thuật Δ nhất quán ở cả 4 notebook.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25999"/>
            <a:ext cx="11617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11. Hạn chế của RNN &amp; mô hình phát triển: LSTM, GRU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080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Calibri"/>
              </a:rPr>
              <a:t>RNN đơn giản QUÊN quá khứ xa: gradient chỉ đi qua phép NHÂN U lặp lại → biến mất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512000"/>
            <a:ext cx="1130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LSTM thêm băng chuyền trí nhớ c_t: gradient đi qua phép CỘNG và cổng quên → gần như nguyên vẹn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2015999"/>
            <a:ext cx="5688000" cy="410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# LSTM — 5 cổng, σ(s)=1/(1+e^(−s)) ∈ (0,1)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f_t = σ(W_f·[h_(t−1),x_t] + b_f)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# cổng QUÊN: giữ lại bao nhiêu c_(t−1)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i_t = σ(W_i·[h_(t−1),x_t] + b_i)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# cổng GHI: nhận bao nhiêu tin mới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c̃_t = tanh(W_c·[h_(t−1),x_t] + b_c)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# nội dung mới đề xuất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c_t = f_t ⊙ c_(t−1) + i_t ⊙ c̃_t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# BĂNG CHUYỀN trí nhớ dài hạn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o_t = σ(W_o·[h_(t−1),x_t] + b_o)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# cổng XUẤT: lộ bao nhiêu ra ngoài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h_t = o_t ⊙ tanh(c_t)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     # trí nhớ ngắn hạn đưa ra ngoài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⊙ = nhân từng phần tử (element-wise)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2000" y="2015999"/>
            <a:ext cx="5400000" cy="273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# GRU — bản gọn: gộp quên+ghi thành 2 cổng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z_t = σ(W_z·[h_(t−1),x_t])   # cổng CẬP NHẬT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r_t = σ(W_r·[h_(t−1),x_t])   # cổng ĐẶT LẠI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h̃_t = tanh(W_h·[r_t ⊙ h_(t−1), x_t])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h_t = (1−z_t) ⊙ h_(t−1) + z_t ⊙ h̃_t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không có c_t riêng — ít tham số ~25%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# → nhanh hơn, hiệu quả tương đương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2000" y="4968000"/>
            <a:ext cx="5400000" cy="1152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>
                <a:solidFill>
                  <a:srgbClr val="222222"/>
                </a:solidFill>
                <a:latin typeface="Consolas"/>
              </a:rPr>
              <a:t># chỉ cần đổi 1 DÒNG (nb 00 so sánh cả 3)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nn.RNN (2, 64)   # thường — quên dài hạn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nn.LSTM(2, 64)   # nhớ dài hạn (5 cổng)</a:t>
            </a:r>
          </a:p>
          <a:p>
            <a:r>
              <a:rPr sz="1150">
                <a:solidFill>
                  <a:srgbClr val="222222"/>
                </a:solidFill>
                <a:latin typeface="Consolas"/>
              </a:rPr>
              <a:t>nn.GRU (2, 64)   # gọn, nhanh (2 cổng)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