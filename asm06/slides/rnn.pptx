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1/7 — Dữ liệu chuỗi có thứ tự; mạng thường không nhớ → cần RNN. Code: cắt chuỗi thành cửa sổ 30 ngày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2/7 — h_t là trí nhớ; lặp cùng trọng số qua từng thời điểm. Code: rnn_cell + vòng lặp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3/7 — Công thức trung tâm + vai trò 3 ma trận. Code: định nghĩa model PyTorch/Keras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4/7 — Ví dụ số nhỏ chạy tay 1 bước — code numpy sinh đúng các số trong bảng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5/7 — BPTT điều chỉnh W/U/V ngược theo thời gian; gradient suy giảm khi chuỗi dài. Code: vòng lặp train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6/7 — Pipeline đầy đủ trên 2 tập dữ liệu thật + kết quả RMSE so với naive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7/7 — RNN quên dài hạn → LSTM thêm cổng, GRU bản gọn. Code: đổi 1 dòng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1. Vì sao cần mạng RNN?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224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Dữ liệu chuỗi = dữ liệu có THỨ TỰ theo thời gian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746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Giá vàng &amp; bạc theo ngày (1968–2021, Kaggle)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268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Giá cổ phiếu Amazon AMZN + khối lượng (1997–2023, Kaggle)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790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Mạng thường nhìn mỗi đầu vào riêng lẻ → KHÔNG nhớ hôm qua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312000"/>
            <a:ext cx="6696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Calibri"/>
              </a:rPr>
              <a:t>Cần mạng có TRÍ NHỚ: quá khứ + hôm nay → dự đoán ngày mai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99" y="1368000"/>
            <a:ext cx="4428000" cy="2951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22222"/>
                </a:solidFill>
                <a:latin typeface="Consolas"/>
              </a:rPr>
              <a:t># dữ liệu chuỗi → cắt thành cửa sổ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30 ngày liên tiếp (notebook 03 thật)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def make_windows(arr, L=30):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X = np.stack([arr[i:i+L]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    for i in range(len(arr)-L)])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y = arr[L:, 0] - arr[L-1:-1, 0]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    return X, 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X.shape  # (N, 30, 2) — N mẫu × 30 ngày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y.shape  # (N,) — biến thiên giá ngày kế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2. Ý tưởng RNN: trạng thái ẩn h_t chính là “trí nhớ”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152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h_t = tóm tắt mọi thứ mạng đã thấy tới thời điểm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584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22222"/>
                </a:solidFill>
                <a:latin typeface="Calibri"/>
              </a:rPr>
              <a:t>•  Mỗi bước: đọc đầu vào mới x_t + trí nhớ cũ h_(t−1) → trí nhớ mới h_t — cùng trọng số, lặp qua từng ngày</a:t>
            </a:r>
          </a:p>
        </p:txBody>
      </p:sp>
      <p:pic>
        <p:nvPicPr>
          <p:cNvPr id="6" name="Picture 5" descr="slide-04-unroll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2664000"/>
            <a:ext cx="6263999" cy="245833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20000" y="2736000"/>
            <a:ext cx="4752000" cy="273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# một bước RNN (notebook 00 — numpy thuần)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def rnn_cell(x_t, h_prev, W, U, b_h):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a = W @ x_t + U @ h_prev + b_h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return np.tanh(a)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h = np.zeros(d_h)              # h_0 = 0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for t in range(T):             # lặp từng ngày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h = rnn_cell(x[t], h, W, U, b_h)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Công thức &amp; 3 ma trận W, U, V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16000"/>
            <a:ext cx="11304000" cy="86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>
                <a:solidFill>
                  <a:srgbClr val="222222"/>
                </a:solidFill>
                <a:latin typeface="Consolas"/>
              </a:rPr>
              <a:t>h_t = tanh( W · x_t  +  U · h_(t−1)  +  b_h )          y_t = V · h_t  +  b_y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32000" y="2232000"/>
          <a:ext cx="6767998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235"/>
                <a:gridCol w="1194352"/>
                <a:gridCol w="1592470"/>
                <a:gridCol w="3184941"/>
              </a:tblGrid>
              <a:tr h="630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Ma trận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Kích thước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Ánh xạ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Vai trò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d_h × d_x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input → hidden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Đọc thông tin mới x_t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d_h × d_h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hidden → hidden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GIỮ TRÍ NHỚ — trái tim của RNN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30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V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d_y × d_h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hidden → output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Đọc trí nhớ h_t thành kết quả y_t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416000" y="2232000"/>
            <a:ext cx="4356000" cy="309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222222"/>
                </a:solidFill>
                <a:latin typeface="Consolas"/>
              </a:rPr>
              <a:t># PyTorch (notebook 01)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rnn = nn.RNN(2, 64, batch_first=True)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fc  = nn.Linear(64, 1)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weight_ih_l0 = W (64×2)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weight_hh_l0 = U (64×64)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fc.weight    = V (1×64)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Keras (notebook 02)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SimpleRNN(64, input_shape=(30, 2))</a:t>
            </a:r>
          </a:p>
          <a:p>
            <a:r>
              <a:rPr sz="1200">
                <a:solidFill>
                  <a:srgbClr val="222222"/>
                </a:solidFill>
                <a:latin typeface="Consolas"/>
              </a:rPr>
              <a:t># kernel = W, recurrent = 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0"/>
            <a:ext cx="11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Một bộ W, U, V duy nhất dùng CHUNG cho mọi thời điểm → số tham số không phụ thuộc độ dài chuỗi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4. Tính thử một bước (ví dụ số nhỏ: d_x=2, d_h=2, d_y=1)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1224000"/>
          <a:ext cx="6768000" cy="35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4000"/>
                <a:gridCol w="3008000"/>
                <a:gridCol w="2256000"/>
              </a:tblGrid>
              <a:tr h="7056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Bước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Công thức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Kết quả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1. Đọc đầu vào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W · x_1   (x_1 = [1.0, 0.5])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[-0.455, +0.080]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2. Nhớ lại quá khứ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U · h_0   (h_0 = [0, 0] — khởi tạo)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[+0.000, +0.000]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3. Cộng &amp; nén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h_1 = tanh(W·x_1 + U·h_0 + b_h)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[-0.426, +0.080]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7056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4. Đưa ra kết quả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y_1 = V · h_1 + b_y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[+0.158]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416000" y="1368000"/>
            <a:ext cx="4356000" cy="237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>
                <a:solidFill>
                  <a:srgbClr val="222222"/>
                </a:solidFill>
                <a:latin typeface="Consolas"/>
              </a:rPr>
              <a:t># đúng các số trong bảng bên trái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np.random.seed(7)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W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(2,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U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(2,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V = np.round(np.random.uniform(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        -0.8, 0.8, (1, 2)), 2)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h1 = np.tanh(W @ x1 + U @ h0)</a:t>
            </a:r>
          </a:p>
          <a:p>
            <a:r>
              <a:rPr sz="1150">
                <a:solidFill>
                  <a:srgbClr val="222222"/>
                </a:solidFill>
                <a:latin typeface="Consolas"/>
              </a:rPr>
              <a:t>y1 = V @ h1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004000"/>
            <a:ext cx="11304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E3A8A"/>
                </a:solidFill>
                <a:latin typeface="Calibri"/>
              </a:rPr>
              <a:t>Bước t=2 lặp y hệt: thay x_2, lấy h_1 vừa tính làm trí nhớ cũ → h_2, y_2, …</a:t>
            </a:r>
          </a:p>
          <a:p>
            <a:pPr algn="l"/>
            <a:r>
              <a:rPr sz="1500" b="0">
                <a:solidFill>
                  <a:srgbClr val="1E3A8A"/>
                </a:solidFill>
                <a:latin typeface="Calibri"/>
              </a:rPr>
              <a:t>PyTorch: W = weight_ih_l0, U = weight_hh_l0   ·   Keras: W = kernel, U = recurrent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5. Huấn luyện: lan truyền ngược qua thời gian (BPTT)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188000"/>
            <a:ext cx="6983999" cy="4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•  Dự đoán sai → tính loss → điều chỉnh W, U, V theo thời gian NGƯỢC từ cuối chuỗi về đầu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674000"/>
            <a:ext cx="6983999" cy="4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22222"/>
                </a:solidFill>
                <a:latin typeface="Calibri"/>
              </a:rPr>
              <a:t>Chuỗi dài → gradient suy giảm nhanh: mạng khó học quá khứ XA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160000"/>
            <a:ext cx="6983999" cy="4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•  Khắc phục: cắt gradient (clipping) và dùng LSTM / GRU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3096000"/>
            <a:ext cx="6983999" cy="23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# vòng lặp huấn luyện (notebook 01)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for Xb, yb in loader: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loss = mse(model(Xb), yb)    # sai số dự báo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opt.zero_grad()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loss.backward()   # BPTT: gradient chảy ngược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                  # qua từng thời điểm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clip_grad_norm_(model.parameters(), 1.0)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opt.step()        # cập nhật W, U, V</a:t>
            </a:r>
          </a:p>
        </p:txBody>
      </p:sp>
      <p:pic>
        <p:nvPicPr>
          <p:cNvPr id="8" name="Picture 7" descr="slide-09-va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260000"/>
            <a:ext cx="4248000" cy="230479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2000" y="3671999"/>
            <a:ext cx="424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E3A8A"/>
                </a:solidFill>
                <a:latin typeface="Calibri"/>
              </a:rPr>
              <a:t>Gradient suy giảm theo cấp số nhân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6. Áp dụng: dự đoán giá ngày mai trên 2 tập dữ liệu thật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152000"/>
            <a:ext cx="6048000" cy="3096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# pipeline (notebook 01 &amp; 03)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scaler = MinMaxScaler().fit(train)   # chỉ fit train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z = scaler.transform(prices)         # chuẩn hoá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X, y = make_windows(z, L=30)         # cửa sổ 30 ngày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/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model = MetalsRNN(2, 128)            # nn.RNN + Linear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opt = torch.optim.Adam(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    model.parameters(), lr=1e-3)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# Keras: SimpleRNN(128) + Dense(1)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# + EarlyStopping(patience=4)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696000" y="1224000"/>
          <a:ext cx="5039999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461"/>
                <a:gridCol w="1033846"/>
                <a:gridCol w="1033846"/>
                <a:gridCol w="1033846"/>
              </a:tblGrid>
              <a:tr h="6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Tập dữ liệu (RMSE test)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PyTorch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Keras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Naive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Giá vàng (Gold &amp; Silver)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15.45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16.42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15.48</a:t>
                      </a:r>
                    </a:p>
                  </a:txBody>
                  <a:tcPr>
                    <a:solidFill>
                      <a:srgbClr val="EEF2FA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Cổ phiếu AMZN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696000" y="3311999"/>
            <a:ext cx="504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Naive = dự báo “ngày mai giống hôm nay”.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RNN đạt nhỉnh hơn baseline này trên cả 2 tập</a:t>
            </a:r>
          </a:p>
          <a:p>
            <a:pPr algn="l"/>
            <a:r>
              <a:rPr sz="1400" b="1">
                <a:solidFill>
                  <a:srgbClr val="1E3A8A"/>
                </a:solidFill>
                <a:latin typeface="Calibri"/>
              </a:rPr>
              <a:t>(R² ≥ 0.99, MAPE 0.6–1.8%).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92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8000" y="125999"/>
            <a:ext cx="116172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7. Hạn chế của RNN &amp; mô hình phát triển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188000"/>
            <a:ext cx="11304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22222"/>
                </a:solidFill>
                <a:latin typeface="Calibri"/>
              </a:rPr>
              <a:t>RNN đơn giản hay QUÊN quá khứ xa (gradient biến mất)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656000"/>
            <a:ext cx="11304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•  LSTM: thêm các cổng (quên f, ghi i, xuất o) — tự chọn điều gì đáng nhớ, đáng quên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124000"/>
            <a:ext cx="11304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•  GRU: bản gọn của LSTM (2 cổng z, r) — nhanh hơn, hiệu quả tương đương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2592000"/>
            <a:ext cx="11304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22222"/>
                </a:solidFill>
                <a:latin typeface="Calibri"/>
              </a:rPr>
              <a:t>•  Ứng dụng chuỗi: dự báo tài chính, dịch máy, nhận dạng giọng nói, phân tích hành vi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3384000"/>
            <a:ext cx="5472000" cy="2015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>
                <a:solidFill>
                  <a:srgbClr val="222222"/>
                </a:solidFill>
                <a:latin typeface="Consolas"/>
              </a:rPr>
              <a:t># chỉ cần đổi 1 dòng (notebook 00)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nn.RNN (2, 64)   # RNN thường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nn.LSTM(2, 64)   # thêm cổng nhớ dài hạn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nn.GRU (2, 64)   # bản gọn 2 cổng, nhanh hơn</a:t>
            </a:r>
          </a:p>
          <a:p>
            <a:r>
              <a:rPr sz="1250">
                <a:solidFill>
                  <a:srgbClr val="222222"/>
                </a:solidFill>
                <a:latin typeface="Consolas"/>
              </a:rPr>
              <a:t># dùng y hệt: out, h = layer(x)</a:t>
            </a:r>
          </a:p>
        </p:txBody>
      </p:sp>
      <p:pic>
        <p:nvPicPr>
          <p:cNvPr id="9" name="Picture 8" descr="slide-10-lst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999" y="3384000"/>
            <a:ext cx="5472000" cy="283723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