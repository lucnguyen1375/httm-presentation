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00ebf3b41a46bd" /><Relationship Type="http://schemas.openxmlformats.org/officeDocument/2006/relationships/extended-properties" Target="/docProps/app.xml" Id="R35390a7131654633" /><Relationship Type="http://schemas.openxmlformats.org/officeDocument/2006/relationships/officeDocument" Target="/ppt/presentation.xml" Id="R70867b5071894e79" /></Relationships>
</file>

<file path=ppt/presentation.xml><?xml version="1.0" encoding="utf-8"?>
<p:presentation xmlns:p="http://schemas.openxmlformats.org/presentationml/2006/main">
  <p:sldMasterIdLst>
    <p:sldMasterId xmlns:r="http://schemas.openxmlformats.org/officeDocument/2006/relationships" id="2147483648" r:id="R1d522b129f9e4898"/>
  </p:sldMasterIdLst>
  <p:notesMasterIdLst>
    <p:notesMasterId xmlns:r="http://schemas.openxmlformats.org/officeDocument/2006/relationships" r:id="R65d1354211504ff7"/>
  </p:notesMasterIdLst>
  <p:sldIdLst>
    <p:sldId xmlns:r="http://schemas.openxmlformats.org/officeDocument/2006/relationships" id="256" r:id="R7091b4e698bb4350"/>
    <p:sldId xmlns:r="http://schemas.openxmlformats.org/officeDocument/2006/relationships" id="257" r:id="R8832947ab35f4108"/>
    <p:sldId xmlns:r="http://schemas.openxmlformats.org/officeDocument/2006/relationships" id="258" r:id="R8677f5c727154ca7"/>
    <p:sldId xmlns:r="http://schemas.openxmlformats.org/officeDocument/2006/relationships" id="259" r:id="Rf1746532e65b4441"/>
    <p:sldId xmlns:r="http://schemas.openxmlformats.org/officeDocument/2006/relationships" id="260" r:id="Ra36f8e52d0134343"/>
    <p:sldId xmlns:r="http://schemas.openxmlformats.org/officeDocument/2006/relationships" id="261" r:id="R81de7c7036b24172"/>
    <p:sldId xmlns:r="http://schemas.openxmlformats.org/officeDocument/2006/relationships" id="262" r:id="Rbbb8f30f45e845fd"/>
    <p:sldId xmlns:r="http://schemas.openxmlformats.org/officeDocument/2006/relationships" id="263" r:id="R6f67b3a0a60349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4afbfb31b74eee" /><Relationship Type="http://schemas.openxmlformats.org/officeDocument/2006/relationships/slideMaster" Target="/ppt/slideMasters/slideMaster1.xml" Id="R1d522b129f9e4898" /><Relationship Type="http://schemas.openxmlformats.org/officeDocument/2006/relationships/notesMaster" Target="/ppt/notesMasters/notesMaster1.xml" Id="R65d1354211504ff7" /><Relationship Type="http://schemas.openxmlformats.org/officeDocument/2006/relationships/presProps" Target="/ppt/presProps.xml" Id="R715b991c12664561" /><Relationship Type="http://schemas.openxmlformats.org/officeDocument/2006/relationships/tableStyles" Target="/ppt/tableStyles.xml" Id="R6191b315ba1d421b" /><Relationship Type="http://schemas.openxmlformats.org/officeDocument/2006/relationships/slide" Target="/ppt/slides/slide1.xml" Id="R7091b4e698bb4350" /><Relationship Type="http://schemas.openxmlformats.org/officeDocument/2006/relationships/slide" Target="/ppt/slides/slide2.xml" Id="R8832947ab35f4108" /><Relationship Type="http://schemas.openxmlformats.org/officeDocument/2006/relationships/slide" Target="/ppt/slides/slide3.xml" Id="R8677f5c727154ca7" /><Relationship Type="http://schemas.openxmlformats.org/officeDocument/2006/relationships/slide" Target="/ppt/slides/slide4.xml" Id="Rf1746532e65b4441" /><Relationship Type="http://schemas.openxmlformats.org/officeDocument/2006/relationships/slide" Target="/ppt/slides/slide5.xml" Id="Ra36f8e52d0134343" /><Relationship Type="http://schemas.openxmlformats.org/officeDocument/2006/relationships/slide" Target="/ppt/slides/slide6.xml" Id="R81de7c7036b24172" /><Relationship Type="http://schemas.openxmlformats.org/officeDocument/2006/relationships/slide" Target="/ppt/slides/slide7.xml" Id="Rbbb8f30f45e845fd" /><Relationship Type="http://schemas.openxmlformats.org/officeDocument/2006/relationships/slide" Target="/ppt/slides/slide8.xml" Id="R6f67b3a0a60349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1115a03aea47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c4b0e9329046b7" /><Relationship Type="http://schemas.openxmlformats.org/officeDocument/2006/relationships/notesMaster" Target="/ppt/notesMasters/notesMaster1.xml" Id="R22204d2f8eb740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64872bd86a41b0" /><Relationship Type="http://schemas.openxmlformats.org/officeDocument/2006/relationships/notesMaster" Target="/ppt/notesMasters/notesMaster1.xml" Id="Rf50eaa101ec84b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f616cb6f734b91" /><Relationship Type="http://schemas.openxmlformats.org/officeDocument/2006/relationships/notesMaster" Target="/ppt/notesMasters/notesMaster1.xml" Id="Rfb70dee30c1642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7fe359f6d54da9" /><Relationship Type="http://schemas.openxmlformats.org/officeDocument/2006/relationships/notesMaster" Target="/ppt/notesMasters/notesMaster1.xml" Id="R3c7381483d384d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8a1b4289314eab" /><Relationship Type="http://schemas.openxmlformats.org/officeDocument/2006/relationships/notesMaster" Target="/ppt/notesMasters/notesMaster1.xml" Id="R7c2cf85c96614f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36a034fa174848" /><Relationship Type="http://schemas.openxmlformats.org/officeDocument/2006/relationships/notesMaster" Target="/ppt/notesMasters/notesMaster1.xml" Id="R6633cda028c24e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00d5789a0e42f9" /><Relationship Type="http://schemas.openxmlformats.org/officeDocument/2006/relationships/notesMaster" Target="/ppt/notesMasters/notesMaster1.xml" Id="R6f42c30b36e14c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7fe956675b49c0" /><Relationship Type="http://schemas.openxmlformats.org/officeDocument/2006/relationships/notesMaster" Target="/ppt/notesMasters/notesMaster1.xml" Id="Reaf1ccc47e88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Không phải mọi dữ liệu chuỗi đều được xử lý giống nhau. Phần này phân biệt pipeline NLP với pipeline giá vàng. Nguồn: notebook rnn_sequence_preprocessing_gold_price.ipynb; dataset https://www.kaggle.com/datasets/lbronchal/gold-and-silver-prices-dataset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ranh giới khái niệm. Chuỗi văn bản bắt đầu từ string và cần ánh xạ token sang số. Dataset giá vàng đã có giá trị số, nên không được áp dụng embedding theo cách của NLP.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padding bằng số 0 và liên hệ với mask. Embedding không biến giá vàng thành vector; nó dành cho các ID nguyên của token. Nguồn tham khảo: https://pytorch.org/docs/stable/generated/torch.nn.Embedding.html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chậm ở bước chia tập và scaling. Đây là phần dễ bị hỏi nhất: vì sao không fit scaler trên toàn bộ dataset? Vì max/min của tương lai sẽ làm mô hình biết trước phân phối test. Dataset source: https://www.kaggle.com/datasets/lbronchal/gold-and-silver-prices-dataset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code duy nhất dành riêng cho NLP. Không giải thích từng dòng quá lâu; chỉ chỉ ra luồng string → ID → padding → vector. Full code đã chạy trong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shape bằng một mẫu cụ thể: X là 30 giá liên tiếp, y là giá tiếp theo. Nhấn mạnh split theo thời gian trước khi scaler fit. Full implementation nằm trong cell windowing của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đi sâu vào W, U, V hoặc vanishing gradient vì đó là phần kiến trúc/training chung. Ở đây chỉ cần nối shape input với lớp RNN, output layer và quy trình loss.backward(). Nguồn API: https://pytorch.org/docs/stable/generated/torch.nn.RNN.html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bảng trước, sau đó chỉ vào biểu đồ actual-prediction và residual. Kết quả được lấy trực tiếp từ notebook đã chạy. Không nói RNN tốt hơn baseline. Đây là ví dụ cho thấy distribution shift làm Simple RNN khó ngoại suy mức giá mới. Notebook: rnn_sequence_preprocessing_gold_price.ipynb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4570081faf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bee636322f4969" /><Relationship Type="http://schemas.openxmlformats.org/officeDocument/2006/relationships/slideLayout" Target="/ppt/slideLayouts/slideLayout1.xml" Id="Rb6074ce72caf49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074ce72caf49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e330e16dfc4bb9" /><Relationship Type="http://schemas.openxmlformats.org/officeDocument/2006/relationships/notesSlide" Target="/ppt/notesSlides/notesSlide1.xml" Id="R24cda49a4f654f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5dfd7a98de47d4" /><Relationship Type="http://schemas.openxmlformats.org/officeDocument/2006/relationships/notesSlide" Target="/ppt/notesSlides/notesSlide2.xml" Id="Rca8c4b833c434c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57b6a88775433e" /><Relationship Type="http://schemas.openxmlformats.org/officeDocument/2006/relationships/notesSlide" Target="/ppt/notesSlides/notesSlide3.xml" Id="R5a3e9ff9a42b47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b1340108214b3e" /><Relationship Type="http://schemas.openxmlformats.org/officeDocument/2006/relationships/notesSlide" Target="/ppt/notesSlides/notesSlide4.xml" Id="Rcaa2ab89fc0343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4c5b7fe8ef421b" /><Relationship Type="http://schemas.openxmlformats.org/officeDocument/2006/relationships/notesSlide" Target="/ppt/notesSlides/notesSlide5.xml" Id="R9d427fa0663747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6a4451a576484b" /><Relationship Type="http://schemas.openxmlformats.org/officeDocument/2006/relationships/notesSlide" Target="/ppt/notesSlides/notesSlide6.xml" Id="R22a6e61dd4834a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651783b4a440a7" /><Relationship Type="http://schemas.openxmlformats.org/officeDocument/2006/relationships/image" Target="/ppt/media/image.png" Id="R8a98a18a7642410c" /><Relationship Type="http://schemas.openxmlformats.org/officeDocument/2006/relationships/notesSlide" Target="/ppt/notesSlides/notesSlide7.xml" Id="Rcbdea2db81214f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0af6c79d20476d" /><Relationship Type="http://schemas.openxmlformats.org/officeDocument/2006/relationships/image" Target="/ppt/media/image2.png" Id="R2003522f29c742de" /><Relationship Type="http://schemas.openxmlformats.org/officeDocument/2006/relationships/image" Target="/ppt/media/image3.png" Id="R40a6188c932e40ef" /><Relationship Type="http://schemas.openxmlformats.org/officeDocument/2006/relationships/notesSlide" Target="/ppt/notesSlides/notesSlide8.xml" Id="Rfb05427859954376" /></Relationships>
</file>

<file path=ppt/slides/slide1.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050C1AB-BD70-46AE-8D1C-75E77557AE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02BEF2-EC64-4412-A3E8-EA924825F7C3}"/>
              </a:ext>
            </a:extLst>
          </p:cNvPr>
          <p:cNvSpPr>
            <a:spLocks xmlns:a="http://schemas.openxmlformats.org/drawingml/2006/main" noGrp="1"/>
          </p:cNvSpPr>
          <p:nvPr/>
        </p:nvSpPr>
        <p:spPr>
          <a:xfrm xmlns:a="http://schemas.openxmlformats.org/drawingml/2006/main">
            <a:off x="838200" y="7239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58B2A"/>
                </a:solidFill>
                <a:latin typeface="Arial"/>
                <a:ea typeface="Arial"/>
                <a:cs typeface="Arial"/>
              </a:defRPr>
            </a:pPr>
            <a:r>
              <a:rPr sz="1350" b="1" i="0">
                <a:solidFill>
                  <a:srgbClr val="C58B2A"/>
                </a:solidFill>
                <a:latin typeface="Arial"/>
                <a:ea typeface="Arial"/>
                <a:cs typeface="Arial"/>
              </a:rPr>
              <a:t>PHẦN 2</a:t>
            </a:r>
          </a:p>
        </p:txBody>
      </p:sp>
      <p:sp>
        <p:nvSpPr>
          <p:cNvPr id="3" name="">
            <a:extLst xmlns:a="http://schemas.openxmlformats.org/drawingml/2006/main">
              <a:ext uri="{FF2B5EF4-FFF2-40B4-BE49-F238E27FC236}">
                <a16:creationId xmlns:a16="http://schemas.microsoft.com/office/drawing/2014/main" id="{E1F15E5B-901A-4750-BEDF-8E77695FD970}"/>
              </a:ext>
            </a:extLst>
          </p:cNvPr>
          <p:cNvSpPr>
            <a:spLocks xmlns:a="http://schemas.openxmlformats.org/drawingml/2006/main" noGrp="1"/>
          </p:cNvSpPr>
          <p:nvPr/>
        </p:nvSpPr>
        <p:spPr>
          <a:xfrm xmlns:a="http://schemas.openxmlformats.org/drawingml/2006/main">
            <a:off x="838200" y="1190625"/>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102A43"/>
                </a:solidFill>
                <a:latin typeface="Arial"/>
                <a:ea typeface="Arial"/>
                <a:cs typeface="Arial"/>
              </a:defRPr>
            </a:pPr>
            <a:r>
              <a:rPr sz="3600" b="1" i="0">
                <a:solidFill>
                  <a:srgbClr val="102A43"/>
                </a:solidFill>
                <a:latin typeface="Arial"/>
                <a:ea typeface="Arial"/>
                <a:cs typeface="Arial"/>
              </a:rPr>
              <a:t>Tiền xử lý dữ liệu chuỗi</a:t>
            </a:r>
          </a:p>
          <a:p xmlns:a="http://schemas.openxmlformats.org/drawingml/2006/main">
            <a:pPr algn="l">
              <a:defRPr sz="3600" b="1" i="0">
                <a:solidFill>
                  <a:srgbClr val="102A43"/>
                </a:solidFill>
                <a:latin typeface="Arial"/>
                <a:ea typeface="Arial"/>
                <a:cs typeface="Arial"/>
              </a:defRPr>
            </a:pPr>
            <a:r>
              <a:rPr sz="3600" b="1" i="0">
                <a:solidFill>
                  <a:srgbClr val="102A43"/>
                </a:solidFill>
                <a:latin typeface="Arial"/>
                <a:ea typeface="Arial"/>
                <a:cs typeface="Arial"/>
              </a:rPr>
              <a:t>cho RNN</a:t>
            </a:r>
          </a:p>
        </p:txBody>
      </p:sp>
      <p:sp>
        <p:nvSpPr>
          <p:cNvPr id="4" name="">
            <a:extLst xmlns:a="http://schemas.openxmlformats.org/drawingml/2006/main">
              <a:ext uri="{FF2B5EF4-FFF2-40B4-BE49-F238E27FC236}">
                <a16:creationId xmlns:a16="http://schemas.microsoft.com/office/drawing/2014/main" id="{6A938204-2BD0-4167-A162-682C05B82A2D}"/>
              </a:ext>
            </a:extLst>
          </p:cNvPr>
          <p:cNvSpPr>
            <a:spLocks xmlns:a="http://schemas.openxmlformats.org/drawingml/2006/main" noGrp="1"/>
          </p:cNvSpPr>
          <p:nvPr/>
        </p:nvSpPr>
        <p:spPr>
          <a:xfrm xmlns:a="http://schemas.openxmlformats.org/drawingml/2006/main">
            <a:off x="876300" y="28575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5C6B73"/>
                </a:solidFill>
                <a:latin typeface="Arial"/>
                <a:ea typeface="Arial"/>
                <a:cs typeface="Arial"/>
              </a:defRPr>
            </a:pPr>
            <a:r>
              <a:rPr sz="1725" b="0" i="0">
                <a:solidFill>
                  <a:srgbClr val="5C6B73"/>
                </a:solidFill>
                <a:latin typeface="Arial"/>
                <a:ea typeface="Arial"/>
                <a:cs typeface="Arial"/>
              </a:rPr>
              <a:t>Từ token văn bản đến tensor giá vàng</a:t>
            </a:r>
          </a:p>
        </p:txBody>
      </p:sp>
      <p:sp>
        <p:nvSpPr>
          <p:cNvPr id="5" name="">
            <a:extLst xmlns:a="http://schemas.openxmlformats.org/drawingml/2006/main">
              <a:ext uri="{FF2B5EF4-FFF2-40B4-BE49-F238E27FC236}">
                <a16:creationId xmlns:a16="http://schemas.microsoft.com/office/drawing/2014/main" id="{E75AF38C-3D5A-4343-B0E3-7AA514B88C59}"/>
              </a:ext>
            </a:extLst>
          </p:cNvPr>
          <p:cNvSpPr>
            <a:spLocks xmlns:a="http://schemas.openxmlformats.org/drawingml/2006/main" noGrp="1"/>
          </p:cNvSpPr>
          <p:nvPr/>
        </p:nvSpPr>
        <p:spPr>
          <a:xfrm xmlns:a="http://schemas.openxmlformats.org/drawingml/2006/main">
            <a:off x="838200" y="3905250"/>
            <a:ext cx="4857750" cy="1028700"/>
          </a:xfrm>
          <a:prstGeom xmlns:a="http://schemas.openxmlformats.org/drawingml/2006/main" prst="roundRect">
            <a:avLst>
              <a:gd name="adj" fmla="val 14815"/>
            </a:avLst>
          </a:prstGeom>
          <a:solidFill xmlns:a="http://schemas.openxmlformats.org/drawingml/2006/main">
            <a:srgbClr val="F2E5C4"/>
          </a:solidFill>
          <a:ln xmlns:a="http://schemas.openxmlformats.org/drawingml/2006/main" w="9525">
            <a:solidFill>
              <a:srgbClr val="C58B2A"/>
            </a:solidFill>
            <a:prstDash val="solid"/>
          </a:ln>
        </p:spPr>
      </p:sp>
      <p:sp>
        <p:nvSpPr>
          <p:cNvPr id="6" name="">
            <a:extLst xmlns:a="http://schemas.openxmlformats.org/drawingml/2006/main">
              <a:ext uri="{FF2B5EF4-FFF2-40B4-BE49-F238E27FC236}">
                <a16:creationId xmlns:a16="http://schemas.microsoft.com/office/drawing/2014/main" id="{E9B5F999-26F5-4DF9-88E2-445CAA766A5C}"/>
              </a:ext>
            </a:extLst>
          </p:cNvPr>
          <p:cNvSpPr>
            <a:spLocks xmlns:a="http://schemas.openxmlformats.org/drawingml/2006/main" noGrp="1"/>
          </p:cNvSpPr>
          <p:nvPr/>
        </p:nvSpPr>
        <p:spPr>
          <a:xfrm xmlns:a="http://schemas.openxmlformats.org/drawingml/2006/main">
            <a:off x="1066800" y="4095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Thông điệp chính</a:t>
            </a:r>
          </a:p>
        </p:txBody>
      </p:sp>
      <p:sp>
        <p:nvSpPr>
          <p:cNvPr id="7" name="">
            <a:extLst xmlns:a="http://schemas.openxmlformats.org/drawingml/2006/main">
              <a:ext uri="{FF2B5EF4-FFF2-40B4-BE49-F238E27FC236}">
                <a16:creationId xmlns:a16="http://schemas.microsoft.com/office/drawing/2014/main" id="{F6450FBD-13E8-40B6-8E5E-6F349897BC5C}"/>
              </a:ext>
            </a:extLst>
          </p:cNvPr>
          <p:cNvSpPr>
            <a:spLocks xmlns:a="http://schemas.openxmlformats.org/drawingml/2006/main" noGrp="1"/>
          </p:cNvSpPr>
          <p:nvPr/>
        </p:nvSpPr>
        <p:spPr>
          <a:xfrm xmlns:a="http://schemas.openxmlformats.org/drawingml/2006/main">
            <a:off x="1066800" y="4371975"/>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Văn bản cần tokenizer và embedding.</a:t>
            </a:r>
          </a:p>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Giá vàng đã là dữ liệu số liên tục.</a:t>
            </a:r>
          </a:p>
        </p:txBody>
      </p:sp>
      <p:sp>
        <p:nvSpPr>
          <p:cNvPr id="8" name="">
            <a:extLst xmlns:a="http://schemas.openxmlformats.org/drawingml/2006/main">
              <a:ext uri="{FF2B5EF4-FFF2-40B4-BE49-F238E27FC236}">
                <a16:creationId xmlns:a16="http://schemas.microsoft.com/office/drawing/2014/main" id="{E94C9CE8-5D54-43EC-AA98-F985BCE5776F}"/>
              </a:ext>
            </a:extLst>
          </p:cNvPr>
          <p:cNvSpPr>
            <a:spLocks xmlns:a="http://schemas.openxmlformats.org/drawingml/2006/main" noGrp="1"/>
          </p:cNvSpPr>
          <p:nvPr/>
        </p:nvSpPr>
        <p:spPr>
          <a:xfrm xmlns:a="http://schemas.openxmlformats.org/drawingml/2006/main">
            <a:off x="838200" y="62865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0">
                <a:solidFill>
                  <a:srgbClr val="5C6B73"/>
                </a:solidFill>
                <a:latin typeface="Arial"/>
                <a:ea typeface="Arial"/>
                <a:cs typeface="Arial"/>
              </a:defRPr>
            </a:pPr>
            <a:r>
              <a:rPr sz="975" b="0" i="0">
                <a:solidFill>
                  <a:srgbClr val="5C6B73"/>
                </a:solidFill>
                <a:latin typeface="Arial"/>
                <a:ea typeface="Arial"/>
                <a:cs typeface="Arial"/>
              </a:rPr>
              <a:t>Notebook chạy được: rnn_sequence_preprocessing_gold_price.ipynb</a:t>
            </a:r>
          </a:p>
        </p:txBody>
      </p:sp>
      <p:sp>
        <p:nvSpPr>
          <p:cNvPr id="9" name="">
            <a:extLst xmlns:a="http://schemas.openxmlformats.org/drawingml/2006/main">
              <a:ext uri="{FF2B5EF4-FFF2-40B4-BE49-F238E27FC236}">
                <a16:creationId xmlns:a16="http://schemas.microsoft.com/office/drawing/2014/main" id="{3CC73EBE-3249-4CE6-9EFD-B97758AC6559}"/>
              </a:ext>
            </a:extLst>
          </p:cNvPr>
          <p:cNvSpPr>
            <a:spLocks xmlns:a="http://schemas.openxmlformats.org/drawingml/2006/main" noGrp="1"/>
          </p:cNvSpPr>
          <p:nvPr/>
        </p:nvSpPr>
        <p:spPr>
          <a:xfrm xmlns:a="http://schemas.openxmlformats.org/drawingml/2006/main">
            <a:off x="7334250" y="952500"/>
            <a:ext cx="3714750" cy="447675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5"/>
            </a:solidFill>
            <a:prstDash val="solid"/>
          </a:ln>
        </p:spPr>
      </p:sp>
      <p:sp>
        <p:nvSpPr>
          <p:cNvPr id="10" name="">
            <a:extLst xmlns:a="http://schemas.openxmlformats.org/drawingml/2006/main">
              <a:ext uri="{FF2B5EF4-FFF2-40B4-BE49-F238E27FC236}">
                <a16:creationId xmlns:a16="http://schemas.microsoft.com/office/drawing/2014/main" id="{29FA585C-2DB5-4E9D-9852-9523E8C76264}"/>
              </a:ext>
            </a:extLst>
          </p:cNvPr>
          <p:cNvSpPr>
            <a:spLocks xmlns:a="http://schemas.openxmlformats.org/drawingml/2006/main" noGrp="1"/>
          </p:cNvSpPr>
          <p:nvPr/>
        </p:nvSpPr>
        <p:spPr>
          <a:xfrm xmlns:a="http://schemas.openxmlformats.org/drawingml/2006/main">
            <a:off x="7620000" y="1285875"/>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102A43"/>
                </a:solidFill>
                <a:latin typeface="Arial"/>
                <a:ea typeface="Arial"/>
                <a:cs typeface="Arial"/>
              </a:defRPr>
            </a:pPr>
            <a:r>
              <a:rPr sz="1800" b="1" i="0">
                <a:solidFill>
                  <a:srgbClr val="102A43"/>
                </a:solidFill>
                <a:latin typeface="Arial"/>
                <a:ea typeface="Arial"/>
                <a:cs typeface="Arial"/>
              </a:rPr>
              <a:t>Dữ liệu thô trở thành tensor như thế nào?</a:t>
            </a:r>
          </a:p>
        </p:txBody>
      </p:sp>
      <p:sp>
        <p:nvSpPr>
          <p:cNvPr id="11" name="">
            <a:extLst xmlns:a="http://schemas.openxmlformats.org/drawingml/2006/main">
              <a:ext uri="{FF2B5EF4-FFF2-40B4-BE49-F238E27FC236}">
                <a16:creationId xmlns:a16="http://schemas.microsoft.com/office/drawing/2014/main" id="{492C4E66-AED5-4B72-9112-061C3AC9F05E}"/>
              </a:ext>
            </a:extLst>
          </p:cNvPr>
          <p:cNvSpPr>
            <a:spLocks xmlns:a="http://schemas.openxmlformats.org/drawingml/2006/main" noGrp="1"/>
          </p:cNvSpPr>
          <p:nvPr/>
        </p:nvSpPr>
        <p:spPr>
          <a:xfrm xmlns:a="http://schemas.openxmlformats.org/drawingml/2006/main">
            <a:off x="766762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2" name="">
            <a:extLst xmlns:a="http://schemas.openxmlformats.org/drawingml/2006/main">
              <a:ext uri="{FF2B5EF4-FFF2-40B4-BE49-F238E27FC236}">
                <a16:creationId xmlns:a16="http://schemas.microsoft.com/office/drawing/2014/main" id="{74DB007C-BBA3-4A1D-A1CC-430479C0BBB4}"/>
              </a:ext>
            </a:extLst>
          </p:cNvPr>
          <p:cNvSpPr>
            <a:spLocks xmlns:a="http://schemas.openxmlformats.org/drawingml/2006/main" noGrp="1"/>
          </p:cNvSpPr>
          <p:nvPr/>
        </p:nvSpPr>
        <p:spPr>
          <a:xfrm xmlns:a="http://schemas.openxmlformats.org/drawingml/2006/main">
            <a:off x="769620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priceₜ₋₂</a:t>
            </a:r>
          </a:p>
        </p:txBody>
      </p:sp>
      <p:sp>
        <p:nvSpPr>
          <p:cNvPr id="13" name="">
            <a:extLst xmlns:a="http://schemas.openxmlformats.org/drawingml/2006/main">
              <a:ext uri="{FF2B5EF4-FFF2-40B4-BE49-F238E27FC236}">
                <a16:creationId xmlns:a16="http://schemas.microsoft.com/office/drawing/2014/main" id="{BD21184C-3558-4915-90B1-74352E9F52AA}"/>
              </a:ext>
            </a:extLst>
          </p:cNvPr>
          <p:cNvSpPr>
            <a:spLocks xmlns:a="http://schemas.openxmlformats.org/drawingml/2006/main" noGrp="1"/>
          </p:cNvSpPr>
          <p:nvPr/>
        </p:nvSpPr>
        <p:spPr>
          <a:xfrm xmlns:a="http://schemas.openxmlformats.org/drawingml/2006/main">
            <a:off x="832485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C5AF52-228A-49F8-8102-DBAB127F9579}"/>
              </a:ext>
            </a:extLst>
          </p:cNvPr>
          <p:cNvSpPr>
            <a:spLocks xmlns:a="http://schemas.openxmlformats.org/drawingml/2006/main" noGrp="1"/>
          </p:cNvSpPr>
          <p:nvPr/>
        </p:nvSpPr>
        <p:spPr>
          <a:xfrm xmlns:a="http://schemas.openxmlformats.org/drawingml/2006/main">
            <a:off x="841057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5" name="">
            <a:extLst xmlns:a="http://schemas.openxmlformats.org/drawingml/2006/main">
              <a:ext uri="{FF2B5EF4-FFF2-40B4-BE49-F238E27FC236}">
                <a16:creationId xmlns:a16="http://schemas.microsoft.com/office/drawing/2014/main" id="{0061345D-792A-46EB-A7F0-8E0F674F70C9}"/>
              </a:ext>
            </a:extLst>
          </p:cNvPr>
          <p:cNvSpPr>
            <a:spLocks xmlns:a="http://schemas.openxmlformats.org/drawingml/2006/main" noGrp="1"/>
          </p:cNvSpPr>
          <p:nvPr/>
        </p:nvSpPr>
        <p:spPr>
          <a:xfrm xmlns:a="http://schemas.openxmlformats.org/drawingml/2006/main">
            <a:off x="843915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priceₜ₋₁</a:t>
            </a:r>
          </a:p>
        </p:txBody>
      </p:sp>
      <p:sp>
        <p:nvSpPr>
          <p:cNvPr id="16" name="">
            <a:extLst xmlns:a="http://schemas.openxmlformats.org/drawingml/2006/main">
              <a:ext uri="{FF2B5EF4-FFF2-40B4-BE49-F238E27FC236}">
                <a16:creationId xmlns:a16="http://schemas.microsoft.com/office/drawing/2014/main" id="{1487BE31-A122-4FAC-B517-A7496F409132}"/>
              </a:ext>
            </a:extLst>
          </p:cNvPr>
          <p:cNvSpPr>
            <a:spLocks xmlns:a="http://schemas.openxmlformats.org/drawingml/2006/main" noGrp="1"/>
          </p:cNvSpPr>
          <p:nvPr/>
        </p:nvSpPr>
        <p:spPr>
          <a:xfrm xmlns:a="http://schemas.openxmlformats.org/drawingml/2006/main">
            <a:off x="906780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B6FCC32-C55B-4126-9EB1-2E44A824B2D8}"/>
              </a:ext>
            </a:extLst>
          </p:cNvPr>
          <p:cNvSpPr>
            <a:spLocks xmlns:a="http://schemas.openxmlformats.org/drawingml/2006/main" noGrp="1"/>
          </p:cNvSpPr>
          <p:nvPr/>
        </p:nvSpPr>
        <p:spPr>
          <a:xfrm xmlns:a="http://schemas.openxmlformats.org/drawingml/2006/main">
            <a:off x="915352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8" name="">
            <a:extLst xmlns:a="http://schemas.openxmlformats.org/drawingml/2006/main">
              <a:ext uri="{FF2B5EF4-FFF2-40B4-BE49-F238E27FC236}">
                <a16:creationId xmlns:a16="http://schemas.microsoft.com/office/drawing/2014/main" id="{636D1D51-AE32-4C2E-940F-BD7DA6AAFEEB}"/>
              </a:ext>
            </a:extLst>
          </p:cNvPr>
          <p:cNvSpPr>
            <a:spLocks xmlns:a="http://schemas.openxmlformats.org/drawingml/2006/main" noGrp="1"/>
          </p:cNvSpPr>
          <p:nvPr/>
        </p:nvSpPr>
        <p:spPr>
          <a:xfrm xmlns:a="http://schemas.openxmlformats.org/drawingml/2006/main">
            <a:off x="918210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a:t>
            </a:r>
          </a:p>
        </p:txBody>
      </p:sp>
      <p:sp>
        <p:nvSpPr>
          <p:cNvPr id="19" name="">
            <a:extLst xmlns:a="http://schemas.openxmlformats.org/drawingml/2006/main">
              <a:ext uri="{FF2B5EF4-FFF2-40B4-BE49-F238E27FC236}">
                <a16:creationId xmlns:a16="http://schemas.microsoft.com/office/drawing/2014/main" id="{95FD52EC-0D14-449C-8886-F20BDB61A0BE}"/>
              </a:ext>
            </a:extLst>
          </p:cNvPr>
          <p:cNvSpPr>
            <a:spLocks xmlns:a="http://schemas.openxmlformats.org/drawingml/2006/main" noGrp="1"/>
          </p:cNvSpPr>
          <p:nvPr/>
        </p:nvSpPr>
        <p:spPr>
          <a:xfrm xmlns:a="http://schemas.openxmlformats.org/drawingml/2006/main">
            <a:off x="981075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074323-D314-44F3-BAAD-5EA568A7F891}"/>
              </a:ext>
            </a:extLst>
          </p:cNvPr>
          <p:cNvSpPr>
            <a:spLocks xmlns:a="http://schemas.openxmlformats.org/drawingml/2006/main" noGrp="1"/>
          </p:cNvSpPr>
          <p:nvPr/>
        </p:nvSpPr>
        <p:spPr>
          <a:xfrm xmlns:a="http://schemas.openxmlformats.org/drawingml/2006/main">
            <a:off x="9896475" y="2667000"/>
            <a:ext cx="647700" cy="647700"/>
          </a:xfrm>
          <a:prstGeom xmlns:a="http://schemas.openxmlformats.org/drawingml/2006/main" prst="roundRect">
            <a:avLst>
              <a:gd name="adj" fmla="val 17647"/>
            </a:avLst>
          </a:prstGeom>
          <a:solidFill xmlns:a="http://schemas.openxmlformats.org/drawingml/2006/main">
            <a:srgbClr val="F5E2DE"/>
          </a:solidFill>
          <a:ln xmlns:a="http://schemas.openxmlformats.org/drawingml/2006/main" w="9525">
            <a:solidFill>
              <a:srgbClr val="B65345"/>
            </a:solidFill>
            <a:prstDash val="solid"/>
          </a:ln>
        </p:spPr>
      </p:sp>
      <p:sp>
        <p:nvSpPr>
          <p:cNvPr id="21" name="">
            <a:extLst xmlns:a="http://schemas.openxmlformats.org/drawingml/2006/main">
              <a:ext uri="{FF2B5EF4-FFF2-40B4-BE49-F238E27FC236}">
                <a16:creationId xmlns:a16="http://schemas.microsoft.com/office/drawing/2014/main" id="{0054E52D-6303-4975-A32A-43671029B913}"/>
              </a:ext>
            </a:extLst>
          </p:cNvPr>
          <p:cNvSpPr>
            <a:spLocks xmlns:a="http://schemas.openxmlformats.org/drawingml/2006/main" noGrp="1"/>
          </p:cNvSpPr>
          <p:nvPr/>
        </p:nvSpPr>
        <p:spPr>
          <a:xfrm xmlns:a="http://schemas.openxmlformats.org/drawingml/2006/main">
            <a:off x="992505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B65345"/>
                </a:solidFill>
                <a:latin typeface="Arial"/>
                <a:ea typeface="Arial"/>
                <a:cs typeface="Arial"/>
              </a:defRPr>
            </a:pPr>
            <a:r>
              <a:rPr sz="975" b="1" i="0">
                <a:solidFill>
                  <a:srgbClr val="B65345"/>
                </a:solidFill>
                <a:latin typeface="Arial"/>
                <a:ea typeface="Arial"/>
                <a:cs typeface="Arial"/>
              </a:rPr>
              <a:t>yₜ₊₁</a:t>
            </a:r>
          </a:p>
        </p:txBody>
      </p:sp>
      <p:sp>
        <p:nvSpPr>
          <p:cNvPr id="22" name="">
            <a:extLst xmlns:a="http://schemas.openxmlformats.org/drawingml/2006/main">
              <a:ext uri="{FF2B5EF4-FFF2-40B4-BE49-F238E27FC236}">
                <a16:creationId xmlns:a16="http://schemas.microsoft.com/office/drawing/2014/main" id="{F0DAAD92-ACA0-4B12-A853-FB77476F9B31}"/>
              </a:ext>
            </a:extLst>
          </p:cNvPr>
          <p:cNvSpPr>
            <a:spLocks xmlns:a="http://schemas.openxmlformats.org/drawingml/2006/main" noGrp="1"/>
          </p:cNvSpPr>
          <p:nvPr/>
        </p:nvSpPr>
        <p:spPr>
          <a:xfrm xmlns:a="http://schemas.openxmlformats.org/drawingml/2006/main">
            <a:off x="7953375" y="36004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C6B73"/>
                </a:solidFill>
                <a:latin typeface="Arial"/>
                <a:ea typeface="Arial"/>
                <a:cs typeface="Arial"/>
              </a:defRPr>
            </a:pPr>
            <a:r>
              <a:rPr sz="1200" b="0" i="0">
                <a:solidFill>
                  <a:srgbClr val="5C6B73"/>
                </a:solidFill>
                <a:latin typeface="Arial"/>
                <a:ea typeface="Arial"/>
                <a:cs typeface="Arial"/>
              </a:rPr>
              <a:t>chuỗi đầu vào</a:t>
            </a:r>
          </a:p>
        </p:txBody>
      </p:sp>
      <p:sp>
        <p:nvSpPr>
          <p:cNvPr id="23" name="">
            <a:extLst xmlns:a="http://schemas.openxmlformats.org/drawingml/2006/main">
              <a:ext uri="{FF2B5EF4-FFF2-40B4-BE49-F238E27FC236}">
                <a16:creationId xmlns:a16="http://schemas.microsoft.com/office/drawing/2014/main" id="{429D2BFA-C7B9-4D20-B5C5-FCD64A75572E}"/>
              </a:ext>
            </a:extLst>
          </p:cNvPr>
          <p:cNvSpPr>
            <a:spLocks xmlns:a="http://schemas.openxmlformats.org/drawingml/2006/main" noGrp="1"/>
          </p:cNvSpPr>
          <p:nvPr/>
        </p:nvSpPr>
        <p:spPr>
          <a:xfrm xmlns:a="http://schemas.openxmlformats.org/drawingml/2006/main">
            <a:off x="8801100" y="404812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02A43"/>
                </a:solidFill>
                <a:latin typeface="Arial"/>
                <a:ea typeface="Arial"/>
                <a:cs typeface="Arial"/>
              </a:defRPr>
            </a:pPr>
            <a:r>
              <a:rPr sz="2250" b="1" i="0">
                <a:solidFill>
                  <a:srgbClr val="102A43"/>
                </a:solidFill>
                <a:latin typeface="Arial"/>
                <a:ea typeface="Arial"/>
                <a:cs typeface="Arial"/>
              </a:rPr>
              <a:t>RNN</a:t>
            </a:r>
          </a:p>
        </p:txBody>
      </p:sp>
      <p:sp>
        <p:nvSpPr>
          <p:cNvPr id="24" name="">
            <a:extLst xmlns:a="http://schemas.openxmlformats.org/drawingml/2006/main">
              <a:ext uri="{FF2B5EF4-FFF2-40B4-BE49-F238E27FC236}">
                <a16:creationId xmlns:a16="http://schemas.microsoft.com/office/drawing/2014/main" id="{973AEFFE-2445-4901-9A3A-1CCCE307936A}"/>
              </a:ext>
            </a:extLst>
          </p:cNvPr>
          <p:cNvSpPr>
            <a:spLocks xmlns:a="http://schemas.openxmlformats.org/drawingml/2006/main" noGrp="1"/>
          </p:cNvSpPr>
          <p:nvPr/>
        </p:nvSpPr>
        <p:spPr>
          <a:xfrm xmlns:a="http://schemas.openxmlformats.org/drawingml/2006/main">
            <a:off x="8020050" y="45720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C6B73"/>
                </a:solidFill>
                <a:latin typeface="Arial"/>
                <a:ea typeface="Arial"/>
                <a:cs typeface="Arial"/>
              </a:defRPr>
            </a:pPr>
            <a:r>
              <a:rPr sz="1275" b="0" i="0">
                <a:solidFill>
                  <a:srgbClr val="5C6B73"/>
                </a:solidFill>
                <a:latin typeface="Arial"/>
                <a:ea typeface="Arial"/>
                <a:cs typeface="Arial"/>
              </a:rPr>
              <a:t>dự đoán bước kế tiếp</a:t>
            </a:r>
          </a:p>
        </p:txBody>
      </p:sp>
    </p:spTree>
    <p:extLst>
      <p:ext uri="{BB962C8B-B14F-4D97-AF65-F5344CB8AC3E}">
        <p14:creationId xmlns:p14="http://schemas.microsoft.com/office/powerpoint/2010/main" val="281202468"/>
      </p:ext>
    </p:extLst>
  </p:cSld>
</p:sld>
</file>

<file path=ppt/slides/slide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E015493-C797-4111-9B9C-BAD48756B4A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D38767-3764-4431-A7A9-D36D9513992C}"/>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26FD0EF-BE73-4C91-B6B7-E0821EFC8B87}"/>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Hai loại dữ liệu chuỗi, hai pipeline</a:t>
            </a:r>
          </a:p>
        </p:txBody>
      </p:sp>
      <p:sp>
        <p:nvSpPr>
          <p:cNvPr id="4" name="">
            <a:extLst xmlns:a="http://schemas.openxmlformats.org/drawingml/2006/main">
              <a:ext uri="{FF2B5EF4-FFF2-40B4-BE49-F238E27FC236}">
                <a16:creationId xmlns:a16="http://schemas.microsoft.com/office/drawing/2014/main" id="{E125CE35-1889-4E96-B0BA-5FF6091A8AC7}"/>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Tokenizer phù hợp với token rời rạc; giá vàng cần scaling và windowing.</a:t>
            </a:r>
          </a:p>
        </p:txBody>
      </p:sp>
      <p:sp>
        <p:nvSpPr>
          <p:cNvPr id="5" name="">
            <a:extLst xmlns:a="http://schemas.openxmlformats.org/drawingml/2006/main">
              <a:ext uri="{FF2B5EF4-FFF2-40B4-BE49-F238E27FC236}">
                <a16:creationId xmlns:a16="http://schemas.microsoft.com/office/drawing/2014/main" id="{F001C536-F0B5-48DA-AF4C-AAC3E944F87B}"/>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6E61E58D-534E-46A4-9E71-495EFE9302B8}"/>
              </a:ext>
            </a:extLst>
          </p:cNvPr>
          <p:cNvSpPr>
            <a:spLocks xmlns:a="http://schemas.openxmlformats.org/drawingml/2006/main" noGrp="1"/>
          </p:cNvSpPr>
          <p:nvPr/>
        </p:nvSpPr>
        <p:spPr>
          <a:xfrm xmlns:a="http://schemas.openxmlformats.org/drawingml/2006/main">
            <a:off x="685800" y="1571625"/>
            <a:ext cx="4972050" cy="409575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B3E21832-3197-42A6-966D-467318E651E5}"/>
              </a:ext>
            </a:extLst>
          </p:cNvPr>
          <p:cNvSpPr>
            <a:spLocks xmlns:a="http://schemas.openxmlformats.org/drawingml/2006/main" noGrp="1"/>
          </p:cNvSpPr>
          <p:nvPr/>
        </p:nvSpPr>
        <p:spPr>
          <a:xfrm xmlns:a="http://schemas.openxmlformats.org/drawingml/2006/main">
            <a:off x="6534150" y="1571625"/>
            <a:ext cx="4972050" cy="409575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D9DEE5"/>
            </a:solidFill>
            <a:prstDash val="solid"/>
          </a:ln>
        </p:spPr>
      </p:sp>
      <p:sp>
        <p:nvSpPr>
          <p:cNvPr id="8" name="">
            <a:extLst xmlns:a="http://schemas.openxmlformats.org/drawingml/2006/main">
              <a:ext uri="{FF2B5EF4-FFF2-40B4-BE49-F238E27FC236}">
                <a16:creationId xmlns:a16="http://schemas.microsoft.com/office/drawing/2014/main" id="{6111C643-B058-41A4-927F-8D8E34781652}"/>
              </a:ext>
            </a:extLst>
          </p:cNvPr>
          <p:cNvSpPr>
            <a:spLocks xmlns:a="http://schemas.openxmlformats.org/drawingml/2006/main" noGrp="1"/>
          </p:cNvSpPr>
          <p:nvPr/>
        </p:nvSpPr>
        <p:spPr>
          <a:xfrm xmlns:a="http://schemas.openxmlformats.org/drawingml/2006/main">
            <a:off x="971550" y="1828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2D6A8F"/>
                </a:solidFill>
                <a:latin typeface="Arial"/>
                <a:ea typeface="Arial"/>
                <a:cs typeface="Arial"/>
              </a:defRPr>
            </a:pPr>
            <a:r>
              <a:rPr sz="1950" b="1" i="0">
                <a:solidFill>
                  <a:srgbClr val="2D6A8F"/>
                </a:solidFill>
                <a:latin typeface="Arial"/>
                <a:ea typeface="Arial"/>
                <a:cs typeface="Arial"/>
              </a:rPr>
              <a:t>Chuỗi văn bản</a:t>
            </a:r>
          </a:p>
        </p:txBody>
      </p:sp>
      <p:sp>
        <p:nvSpPr>
          <p:cNvPr id="9" name="">
            <a:extLst xmlns:a="http://schemas.openxmlformats.org/drawingml/2006/main">
              <a:ext uri="{FF2B5EF4-FFF2-40B4-BE49-F238E27FC236}">
                <a16:creationId xmlns:a16="http://schemas.microsoft.com/office/drawing/2014/main" id="{0C9E5383-CA06-4F03-8791-E37285F86569}"/>
              </a:ext>
            </a:extLst>
          </p:cNvPr>
          <p:cNvSpPr>
            <a:spLocks xmlns:a="http://schemas.openxmlformats.org/drawingml/2006/main" noGrp="1"/>
          </p:cNvSpPr>
          <p:nvPr/>
        </p:nvSpPr>
        <p:spPr>
          <a:xfrm xmlns:a="http://schemas.openxmlformats.org/drawingml/2006/main">
            <a:off x="6819900" y="1828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C58B2A"/>
                </a:solidFill>
                <a:latin typeface="Arial"/>
                <a:ea typeface="Arial"/>
                <a:cs typeface="Arial"/>
              </a:defRPr>
            </a:pPr>
            <a:r>
              <a:rPr sz="1950" b="1" i="0">
                <a:solidFill>
                  <a:srgbClr val="C58B2A"/>
                </a:solidFill>
                <a:latin typeface="Arial"/>
                <a:ea typeface="Arial"/>
                <a:cs typeface="Arial"/>
              </a:rPr>
              <a:t>Chuỗi giá vàng</a:t>
            </a:r>
          </a:p>
        </p:txBody>
      </p:sp>
      <p:sp>
        <p:nvSpPr>
          <p:cNvPr id="10" name="">
            <a:extLst xmlns:a="http://schemas.openxmlformats.org/drawingml/2006/main">
              <a:ext uri="{FF2B5EF4-FFF2-40B4-BE49-F238E27FC236}">
                <a16:creationId xmlns:a16="http://schemas.microsoft.com/office/drawing/2014/main" id="{89F091E9-AE39-40EC-9C1E-69F39C1AF2B4}"/>
              </a:ext>
            </a:extLst>
          </p:cNvPr>
          <p:cNvSpPr>
            <a:spLocks xmlns:a="http://schemas.openxmlformats.org/drawingml/2006/main" noGrp="1"/>
          </p:cNvSpPr>
          <p:nvPr/>
        </p:nvSpPr>
        <p:spPr>
          <a:xfrm xmlns:a="http://schemas.openxmlformats.org/drawingml/2006/main">
            <a:off x="990600" y="252412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6AE73B8-24A9-4366-8628-861B68F95767}"/>
              </a:ext>
            </a:extLst>
          </p:cNvPr>
          <p:cNvSpPr>
            <a:spLocks xmlns:a="http://schemas.openxmlformats.org/drawingml/2006/main" noGrp="1"/>
          </p:cNvSpPr>
          <p:nvPr/>
        </p:nvSpPr>
        <p:spPr>
          <a:xfrm xmlns:a="http://schemas.openxmlformats.org/drawingml/2006/main">
            <a:off x="120015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Tokenizer</a:t>
            </a:r>
          </a:p>
        </p:txBody>
      </p:sp>
      <p:sp>
        <p:nvSpPr>
          <p:cNvPr id="12" name="">
            <a:extLst xmlns:a="http://schemas.openxmlformats.org/drawingml/2006/main">
              <a:ext uri="{FF2B5EF4-FFF2-40B4-BE49-F238E27FC236}">
                <a16:creationId xmlns:a16="http://schemas.microsoft.com/office/drawing/2014/main" id="{A68C7344-FCDB-47C0-8CF3-A7D1BBDD2511}"/>
              </a:ext>
            </a:extLst>
          </p:cNvPr>
          <p:cNvSpPr>
            <a:spLocks xmlns:a="http://schemas.openxmlformats.org/drawingml/2006/main" noGrp="1"/>
          </p:cNvSpPr>
          <p:nvPr/>
        </p:nvSpPr>
        <p:spPr>
          <a:xfrm xmlns:a="http://schemas.openxmlformats.org/drawingml/2006/main">
            <a:off x="2609850" y="2476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tách câu thành token</a:t>
            </a:r>
          </a:p>
        </p:txBody>
      </p:sp>
      <p:sp>
        <p:nvSpPr>
          <p:cNvPr id="13" name="">
            <a:extLst xmlns:a="http://schemas.openxmlformats.org/drawingml/2006/main">
              <a:ext uri="{FF2B5EF4-FFF2-40B4-BE49-F238E27FC236}">
                <a16:creationId xmlns:a16="http://schemas.microsoft.com/office/drawing/2014/main" id="{ABD06E18-1E11-4286-A63D-8A16B4398DFC}"/>
              </a:ext>
            </a:extLst>
          </p:cNvPr>
          <p:cNvSpPr>
            <a:spLocks xmlns:a="http://schemas.openxmlformats.org/drawingml/2006/main" noGrp="1"/>
          </p:cNvSpPr>
          <p:nvPr/>
        </p:nvSpPr>
        <p:spPr>
          <a:xfrm xmlns:a="http://schemas.openxmlformats.org/drawingml/2006/main">
            <a:off x="990600" y="3067050"/>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C33F94-6D4C-4E55-B139-C60C739AA92A}"/>
              </a:ext>
            </a:extLst>
          </p:cNvPr>
          <p:cNvSpPr>
            <a:spLocks xmlns:a="http://schemas.openxmlformats.org/drawingml/2006/main" noGrp="1"/>
          </p:cNvSpPr>
          <p:nvPr/>
        </p:nvSpPr>
        <p:spPr>
          <a:xfrm xmlns:a="http://schemas.openxmlformats.org/drawingml/2006/main">
            <a:off x="1200150" y="30194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Vocabulary</a:t>
            </a:r>
          </a:p>
        </p:txBody>
      </p:sp>
      <p:sp>
        <p:nvSpPr>
          <p:cNvPr id="15" name="">
            <a:extLst xmlns:a="http://schemas.openxmlformats.org/drawingml/2006/main">
              <a:ext uri="{FF2B5EF4-FFF2-40B4-BE49-F238E27FC236}">
                <a16:creationId xmlns:a16="http://schemas.microsoft.com/office/drawing/2014/main" id="{062B7848-9FDB-4207-A1C7-11F5725114A0}"/>
              </a:ext>
            </a:extLst>
          </p:cNvPr>
          <p:cNvSpPr>
            <a:spLocks xmlns:a="http://schemas.openxmlformats.org/drawingml/2006/main" noGrp="1"/>
          </p:cNvSpPr>
          <p:nvPr/>
        </p:nvSpPr>
        <p:spPr>
          <a:xfrm xmlns:a="http://schemas.openxmlformats.org/drawingml/2006/main">
            <a:off x="2609850" y="30194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token → ID</a:t>
            </a:r>
          </a:p>
        </p:txBody>
      </p:sp>
      <p:sp>
        <p:nvSpPr>
          <p:cNvPr id="16" name="">
            <a:extLst xmlns:a="http://schemas.openxmlformats.org/drawingml/2006/main">
              <a:ext uri="{FF2B5EF4-FFF2-40B4-BE49-F238E27FC236}">
                <a16:creationId xmlns:a16="http://schemas.microsoft.com/office/drawing/2014/main" id="{1909BF49-4BAC-4D0B-BED8-6175BDA26E53}"/>
              </a:ext>
            </a:extLst>
          </p:cNvPr>
          <p:cNvSpPr>
            <a:spLocks xmlns:a="http://schemas.openxmlformats.org/drawingml/2006/main" noGrp="1"/>
          </p:cNvSpPr>
          <p:nvPr/>
        </p:nvSpPr>
        <p:spPr>
          <a:xfrm xmlns:a="http://schemas.openxmlformats.org/drawingml/2006/main">
            <a:off x="990600" y="360997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8B5D6B0-23D3-4B7C-8865-74DB6E09A0E8}"/>
              </a:ext>
            </a:extLst>
          </p:cNvPr>
          <p:cNvSpPr>
            <a:spLocks xmlns:a="http://schemas.openxmlformats.org/drawingml/2006/main" noGrp="1"/>
          </p:cNvSpPr>
          <p:nvPr/>
        </p:nvSpPr>
        <p:spPr>
          <a:xfrm xmlns:a="http://schemas.openxmlformats.org/drawingml/2006/main">
            <a:off x="1200150" y="35623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Integer encoding</a:t>
            </a:r>
          </a:p>
        </p:txBody>
      </p:sp>
      <p:sp>
        <p:nvSpPr>
          <p:cNvPr id="18" name="">
            <a:extLst xmlns:a="http://schemas.openxmlformats.org/drawingml/2006/main">
              <a:ext uri="{FF2B5EF4-FFF2-40B4-BE49-F238E27FC236}">
                <a16:creationId xmlns:a16="http://schemas.microsoft.com/office/drawing/2014/main" id="{E6676343-C5FD-41D7-88CA-266B9FB19A4E}"/>
              </a:ext>
            </a:extLst>
          </p:cNvPr>
          <p:cNvSpPr>
            <a:spLocks xmlns:a="http://schemas.openxmlformats.org/drawingml/2006/main" noGrp="1"/>
          </p:cNvSpPr>
          <p:nvPr/>
        </p:nvSpPr>
        <p:spPr>
          <a:xfrm xmlns:a="http://schemas.openxmlformats.org/drawingml/2006/main">
            <a:off x="260985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ID nguyên cho mô hình</a:t>
            </a:r>
          </a:p>
        </p:txBody>
      </p:sp>
      <p:sp>
        <p:nvSpPr>
          <p:cNvPr id="19" name="">
            <a:extLst xmlns:a="http://schemas.openxmlformats.org/drawingml/2006/main">
              <a:ext uri="{FF2B5EF4-FFF2-40B4-BE49-F238E27FC236}">
                <a16:creationId xmlns:a16="http://schemas.microsoft.com/office/drawing/2014/main" id="{D5323168-80FF-4DFE-96E9-653B6B1D6F2A}"/>
              </a:ext>
            </a:extLst>
          </p:cNvPr>
          <p:cNvSpPr>
            <a:spLocks xmlns:a="http://schemas.openxmlformats.org/drawingml/2006/main" noGrp="1"/>
          </p:cNvSpPr>
          <p:nvPr/>
        </p:nvSpPr>
        <p:spPr>
          <a:xfrm xmlns:a="http://schemas.openxmlformats.org/drawingml/2006/main">
            <a:off x="990600" y="4152900"/>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CA4928D-809D-4CCF-8395-9D762F2CAD94}"/>
              </a:ext>
            </a:extLst>
          </p:cNvPr>
          <p:cNvSpPr>
            <a:spLocks xmlns:a="http://schemas.openxmlformats.org/drawingml/2006/main" noGrp="1"/>
          </p:cNvSpPr>
          <p:nvPr/>
        </p:nvSpPr>
        <p:spPr>
          <a:xfrm xmlns:a="http://schemas.openxmlformats.org/drawingml/2006/main">
            <a:off x="120015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Padding</a:t>
            </a:r>
          </a:p>
        </p:txBody>
      </p:sp>
      <p:sp>
        <p:nvSpPr>
          <p:cNvPr id="21" name="">
            <a:extLst xmlns:a="http://schemas.openxmlformats.org/drawingml/2006/main">
              <a:ext uri="{FF2B5EF4-FFF2-40B4-BE49-F238E27FC236}">
                <a16:creationId xmlns:a16="http://schemas.microsoft.com/office/drawing/2014/main" id="{85F6610B-BC51-4F61-AE6F-327760DB539F}"/>
              </a:ext>
            </a:extLst>
          </p:cNvPr>
          <p:cNvSpPr>
            <a:spLocks xmlns:a="http://schemas.openxmlformats.org/drawingml/2006/main" noGrp="1"/>
          </p:cNvSpPr>
          <p:nvPr/>
        </p:nvSpPr>
        <p:spPr>
          <a:xfrm xmlns:a="http://schemas.openxmlformats.org/drawingml/2006/main">
            <a:off x="2609850" y="41052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cùng độ dài trong batch</a:t>
            </a:r>
          </a:p>
        </p:txBody>
      </p:sp>
      <p:sp>
        <p:nvSpPr>
          <p:cNvPr id="22" name="">
            <a:extLst xmlns:a="http://schemas.openxmlformats.org/drawingml/2006/main">
              <a:ext uri="{FF2B5EF4-FFF2-40B4-BE49-F238E27FC236}">
                <a16:creationId xmlns:a16="http://schemas.microsoft.com/office/drawing/2014/main" id="{10D926C4-B08F-4200-9282-69081C550256}"/>
              </a:ext>
            </a:extLst>
          </p:cNvPr>
          <p:cNvSpPr>
            <a:spLocks xmlns:a="http://schemas.openxmlformats.org/drawingml/2006/main" noGrp="1"/>
          </p:cNvSpPr>
          <p:nvPr/>
        </p:nvSpPr>
        <p:spPr>
          <a:xfrm xmlns:a="http://schemas.openxmlformats.org/drawingml/2006/main">
            <a:off x="990600" y="469582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B1CB83-F2B0-4F27-BA8A-36811B25A2FC}"/>
              </a:ext>
            </a:extLst>
          </p:cNvPr>
          <p:cNvSpPr>
            <a:spLocks xmlns:a="http://schemas.openxmlformats.org/drawingml/2006/main" noGrp="1"/>
          </p:cNvSpPr>
          <p:nvPr/>
        </p:nvSpPr>
        <p:spPr>
          <a:xfrm xmlns:a="http://schemas.openxmlformats.org/drawingml/2006/main">
            <a:off x="1200150" y="46482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Embedding</a:t>
            </a:r>
          </a:p>
        </p:txBody>
      </p:sp>
      <p:sp>
        <p:nvSpPr>
          <p:cNvPr id="24" name="">
            <a:extLst xmlns:a="http://schemas.openxmlformats.org/drawingml/2006/main">
              <a:ext uri="{FF2B5EF4-FFF2-40B4-BE49-F238E27FC236}">
                <a16:creationId xmlns:a16="http://schemas.microsoft.com/office/drawing/2014/main" id="{DBFE4FB3-774B-4B71-BC6B-922FAD882BD7}"/>
              </a:ext>
            </a:extLst>
          </p:cNvPr>
          <p:cNvSpPr>
            <a:spLocks xmlns:a="http://schemas.openxmlformats.org/drawingml/2006/main" noGrp="1"/>
          </p:cNvSpPr>
          <p:nvPr/>
        </p:nvSpPr>
        <p:spPr>
          <a:xfrm xmlns:a="http://schemas.openxmlformats.org/drawingml/2006/main">
            <a:off x="2609850" y="4648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ID → vector thực</a:t>
            </a:r>
          </a:p>
        </p:txBody>
      </p:sp>
      <p:sp>
        <p:nvSpPr>
          <p:cNvPr id="25" name="">
            <a:extLst xmlns:a="http://schemas.openxmlformats.org/drawingml/2006/main">
              <a:ext uri="{FF2B5EF4-FFF2-40B4-BE49-F238E27FC236}">
                <a16:creationId xmlns:a16="http://schemas.microsoft.com/office/drawing/2014/main" id="{72B5513A-C218-48C6-AF94-DD9A31F49079}"/>
              </a:ext>
            </a:extLst>
          </p:cNvPr>
          <p:cNvSpPr>
            <a:spLocks xmlns:a="http://schemas.openxmlformats.org/drawingml/2006/main" noGrp="1"/>
          </p:cNvSpPr>
          <p:nvPr/>
        </p:nvSpPr>
        <p:spPr>
          <a:xfrm xmlns:a="http://schemas.openxmlformats.org/drawingml/2006/main">
            <a:off x="6838950" y="252412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0288FA-E3F6-4DE1-B150-C572874B60FC}"/>
              </a:ext>
            </a:extLst>
          </p:cNvPr>
          <p:cNvSpPr>
            <a:spLocks xmlns:a="http://schemas.openxmlformats.org/drawingml/2006/main" noGrp="1"/>
          </p:cNvSpPr>
          <p:nvPr/>
        </p:nvSpPr>
        <p:spPr>
          <a:xfrm xmlns:a="http://schemas.openxmlformats.org/drawingml/2006/main">
            <a:off x="704850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Làm sạch date/price</a:t>
            </a:r>
          </a:p>
        </p:txBody>
      </p:sp>
      <p:sp>
        <p:nvSpPr>
          <p:cNvPr id="27" name="">
            <a:extLst xmlns:a="http://schemas.openxmlformats.org/drawingml/2006/main">
              <a:ext uri="{FF2B5EF4-FFF2-40B4-BE49-F238E27FC236}">
                <a16:creationId xmlns:a16="http://schemas.microsoft.com/office/drawing/2014/main" id="{5D645AC7-BCEB-40F3-9434-DD97ECFF21C6}"/>
              </a:ext>
            </a:extLst>
          </p:cNvPr>
          <p:cNvSpPr>
            <a:spLocks xmlns:a="http://schemas.openxmlformats.org/drawingml/2006/main" noGrp="1"/>
          </p:cNvSpPr>
          <p:nvPr/>
        </p:nvSpPr>
        <p:spPr>
          <a:xfrm xmlns:a="http://schemas.openxmlformats.org/drawingml/2006/main">
            <a:off x="8458200" y="2476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date là chỉ mục, price là số</a:t>
            </a:r>
          </a:p>
        </p:txBody>
      </p:sp>
      <p:sp>
        <p:nvSpPr>
          <p:cNvPr id="28" name="">
            <a:extLst xmlns:a="http://schemas.openxmlformats.org/drawingml/2006/main">
              <a:ext uri="{FF2B5EF4-FFF2-40B4-BE49-F238E27FC236}">
                <a16:creationId xmlns:a16="http://schemas.microsoft.com/office/drawing/2014/main" id="{A63324DD-9582-437D-8F05-70B62866E57F}"/>
              </a:ext>
            </a:extLst>
          </p:cNvPr>
          <p:cNvSpPr>
            <a:spLocks xmlns:a="http://schemas.openxmlformats.org/drawingml/2006/main" noGrp="1"/>
          </p:cNvSpPr>
          <p:nvPr/>
        </p:nvSpPr>
        <p:spPr>
          <a:xfrm xmlns:a="http://schemas.openxmlformats.org/drawingml/2006/main">
            <a:off x="6838950" y="3067050"/>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28E7B0-1D56-491F-BB9F-4552CD7405F4}"/>
              </a:ext>
            </a:extLst>
          </p:cNvPr>
          <p:cNvSpPr>
            <a:spLocks xmlns:a="http://schemas.openxmlformats.org/drawingml/2006/main" noGrp="1"/>
          </p:cNvSpPr>
          <p:nvPr/>
        </p:nvSpPr>
        <p:spPr>
          <a:xfrm xmlns:a="http://schemas.openxmlformats.org/drawingml/2006/main">
            <a:off x="7048500" y="30194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Chia theo thời gian</a:t>
            </a:r>
          </a:p>
        </p:txBody>
      </p:sp>
      <p:sp>
        <p:nvSpPr>
          <p:cNvPr id="30" name="">
            <a:extLst xmlns:a="http://schemas.openxmlformats.org/drawingml/2006/main">
              <a:ext uri="{FF2B5EF4-FFF2-40B4-BE49-F238E27FC236}">
                <a16:creationId xmlns:a16="http://schemas.microsoft.com/office/drawing/2014/main" id="{94C860B0-9195-42AE-98B1-056ADB782B49}"/>
              </a:ext>
            </a:extLst>
          </p:cNvPr>
          <p:cNvSpPr>
            <a:spLocks xmlns:a="http://schemas.openxmlformats.org/drawingml/2006/main" noGrp="1"/>
          </p:cNvSpPr>
          <p:nvPr/>
        </p:nvSpPr>
        <p:spPr>
          <a:xfrm xmlns:a="http://schemas.openxmlformats.org/drawingml/2006/main">
            <a:off x="8458200" y="30194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giữ đúng thứ tự quá khứ → tương lai</a:t>
            </a:r>
          </a:p>
        </p:txBody>
      </p:sp>
      <p:sp>
        <p:nvSpPr>
          <p:cNvPr id="31" name="">
            <a:extLst xmlns:a="http://schemas.openxmlformats.org/drawingml/2006/main">
              <a:ext uri="{FF2B5EF4-FFF2-40B4-BE49-F238E27FC236}">
                <a16:creationId xmlns:a16="http://schemas.microsoft.com/office/drawing/2014/main" id="{40EC381D-7A1B-4B95-98A0-BE9F291183B5}"/>
              </a:ext>
            </a:extLst>
          </p:cNvPr>
          <p:cNvSpPr>
            <a:spLocks xmlns:a="http://schemas.openxmlformats.org/drawingml/2006/main" noGrp="1"/>
          </p:cNvSpPr>
          <p:nvPr/>
        </p:nvSpPr>
        <p:spPr>
          <a:xfrm xmlns:a="http://schemas.openxmlformats.org/drawingml/2006/main">
            <a:off x="6838950" y="360997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E749D48-E1C8-4382-BC51-CB927D394E1F}"/>
              </a:ext>
            </a:extLst>
          </p:cNvPr>
          <p:cNvSpPr>
            <a:spLocks xmlns:a="http://schemas.openxmlformats.org/drawingml/2006/main" noGrp="1"/>
          </p:cNvSpPr>
          <p:nvPr/>
        </p:nvSpPr>
        <p:spPr>
          <a:xfrm xmlns:a="http://schemas.openxmlformats.org/drawingml/2006/main">
            <a:off x="7048500" y="35623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log1p + scaling</a:t>
            </a:r>
          </a:p>
        </p:txBody>
      </p:sp>
      <p:sp>
        <p:nvSpPr>
          <p:cNvPr id="33" name="">
            <a:extLst xmlns:a="http://schemas.openxmlformats.org/drawingml/2006/main">
              <a:ext uri="{FF2B5EF4-FFF2-40B4-BE49-F238E27FC236}">
                <a16:creationId xmlns:a16="http://schemas.microsoft.com/office/drawing/2014/main" id="{B4E9C9C8-BF73-4630-A421-2F7AADC3B60E}"/>
              </a:ext>
            </a:extLst>
          </p:cNvPr>
          <p:cNvSpPr>
            <a:spLocks xmlns:a="http://schemas.openxmlformats.org/drawingml/2006/main" noGrp="1"/>
          </p:cNvSpPr>
          <p:nvPr/>
        </p:nvSpPr>
        <p:spPr>
          <a:xfrm xmlns:a="http://schemas.openxmlformats.org/drawingml/2006/main">
            <a:off x="845820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đưa giá về miền dễ học</a:t>
            </a:r>
          </a:p>
        </p:txBody>
      </p:sp>
      <p:sp>
        <p:nvSpPr>
          <p:cNvPr id="34" name="">
            <a:extLst xmlns:a="http://schemas.openxmlformats.org/drawingml/2006/main">
              <a:ext uri="{FF2B5EF4-FFF2-40B4-BE49-F238E27FC236}">
                <a16:creationId xmlns:a16="http://schemas.microsoft.com/office/drawing/2014/main" id="{D747C289-420B-416F-931C-BADC9F3987B6}"/>
              </a:ext>
            </a:extLst>
          </p:cNvPr>
          <p:cNvSpPr>
            <a:spLocks xmlns:a="http://schemas.openxmlformats.org/drawingml/2006/main" noGrp="1"/>
          </p:cNvSpPr>
          <p:nvPr/>
        </p:nvSpPr>
        <p:spPr>
          <a:xfrm xmlns:a="http://schemas.openxmlformats.org/drawingml/2006/main">
            <a:off x="6838950" y="4152900"/>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913B24E-F37E-4DD9-95F5-B1FE28479A69}"/>
              </a:ext>
            </a:extLst>
          </p:cNvPr>
          <p:cNvSpPr>
            <a:spLocks xmlns:a="http://schemas.openxmlformats.org/drawingml/2006/main" noGrp="1"/>
          </p:cNvSpPr>
          <p:nvPr/>
        </p:nvSpPr>
        <p:spPr>
          <a:xfrm xmlns:a="http://schemas.openxmlformats.org/drawingml/2006/main">
            <a:off x="704850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Cửa sổ 30 bước</a:t>
            </a:r>
          </a:p>
        </p:txBody>
      </p:sp>
      <p:sp>
        <p:nvSpPr>
          <p:cNvPr id="36" name="">
            <a:extLst xmlns:a="http://schemas.openxmlformats.org/drawingml/2006/main">
              <a:ext uri="{FF2B5EF4-FFF2-40B4-BE49-F238E27FC236}">
                <a16:creationId xmlns:a16="http://schemas.microsoft.com/office/drawing/2014/main" id="{73C6CB3A-BEFF-4636-B12F-B8B26005B5BE}"/>
              </a:ext>
            </a:extLst>
          </p:cNvPr>
          <p:cNvSpPr>
            <a:spLocks xmlns:a="http://schemas.openxmlformats.org/drawingml/2006/main" noGrp="1"/>
          </p:cNvSpPr>
          <p:nvPr/>
        </p:nvSpPr>
        <p:spPr>
          <a:xfrm xmlns:a="http://schemas.openxmlformats.org/drawingml/2006/main">
            <a:off x="8458200" y="41052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30 quan sát → dự đoán quan sát kế</a:t>
            </a:r>
          </a:p>
        </p:txBody>
      </p:sp>
      <p:sp>
        <p:nvSpPr>
          <p:cNvPr id="37" name="">
            <a:extLst xmlns:a="http://schemas.openxmlformats.org/drawingml/2006/main">
              <a:ext uri="{FF2B5EF4-FFF2-40B4-BE49-F238E27FC236}">
                <a16:creationId xmlns:a16="http://schemas.microsoft.com/office/drawing/2014/main" id="{F7E33B44-2F21-4B19-BE26-F78BAC9C64FE}"/>
              </a:ext>
            </a:extLst>
          </p:cNvPr>
          <p:cNvSpPr>
            <a:spLocks xmlns:a="http://schemas.openxmlformats.org/drawingml/2006/main" noGrp="1"/>
          </p:cNvSpPr>
          <p:nvPr/>
        </p:nvSpPr>
        <p:spPr>
          <a:xfrm xmlns:a="http://schemas.openxmlformats.org/drawingml/2006/main">
            <a:off x="6838950" y="469582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EBF8605-D19B-45E6-A672-9C0EE2276763}"/>
              </a:ext>
            </a:extLst>
          </p:cNvPr>
          <p:cNvSpPr>
            <a:spLocks xmlns:a="http://schemas.openxmlformats.org/drawingml/2006/main" noGrp="1"/>
          </p:cNvSpPr>
          <p:nvPr/>
        </p:nvSpPr>
        <p:spPr>
          <a:xfrm xmlns:a="http://schemas.openxmlformats.org/drawingml/2006/main">
            <a:off x="7048500" y="46482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Tensor (N, L, F)</a:t>
            </a:r>
          </a:p>
        </p:txBody>
      </p:sp>
      <p:sp>
        <p:nvSpPr>
          <p:cNvPr id="39" name="">
            <a:extLst xmlns:a="http://schemas.openxmlformats.org/drawingml/2006/main">
              <a:ext uri="{FF2B5EF4-FFF2-40B4-BE49-F238E27FC236}">
                <a16:creationId xmlns:a16="http://schemas.microsoft.com/office/drawing/2014/main" id="{74420052-176D-4865-AE0D-3E07EC6881E1}"/>
              </a:ext>
            </a:extLst>
          </p:cNvPr>
          <p:cNvSpPr>
            <a:spLocks xmlns:a="http://schemas.openxmlformats.org/drawingml/2006/main" noGrp="1"/>
          </p:cNvSpPr>
          <p:nvPr/>
        </p:nvSpPr>
        <p:spPr>
          <a:xfrm xmlns:a="http://schemas.openxmlformats.org/drawingml/2006/main">
            <a:off x="8458200" y="4648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(samples, timesteps, features)</a:t>
            </a:r>
          </a:p>
        </p:txBody>
      </p:sp>
      <p:sp>
        <p:nvSpPr>
          <p:cNvPr id="40" name="">
            <a:extLst xmlns:a="http://schemas.openxmlformats.org/drawingml/2006/main">
              <a:ext uri="{FF2B5EF4-FFF2-40B4-BE49-F238E27FC236}">
                <a16:creationId xmlns:a16="http://schemas.microsoft.com/office/drawing/2014/main" id="{3ACD57E5-9E1D-42AE-AE81-CC735FCFDCA6}"/>
              </a:ext>
            </a:extLst>
          </p:cNvPr>
          <p:cNvSpPr>
            <a:spLocks xmlns:a="http://schemas.openxmlformats.org/drawingml/2006/main" noGrp="1"/>
          </p:cNvSpPr>
          <p:nvPr/>
        </p:nvSpPr>
        <p:spPr>
          <a:xfrm xmlns:a="http://schemas.openxmlformats.org/drawingml/2006/main">
            <a:off x="1733550" y="5857875"/>
            <a:ext cx="8724900" cy="400050"/>
          </a:xfrm>
          <a:prstGeom xmlns:a="http://schemas.openxmlformats.org/drawingml/2006/main" prst="roundRect">
            <a:avLst>
              <a:gd name="adj" fmla="val 28571"/>
            </a:avLst>
          </a:prstGeom>
          <a:solidFill xmlns:a="http://schemas.openxmlformats.org/drawingml/2006/main">
            <a:srgbClr val="F5E2DE"/>
          </a:solidFill>
          <a:ln xmlns:a="http://schemas.openxmlformats.org/drawingml/2006/main" w="9525">
            <a:solidFill>
              <a:srgbClr val="B65345"/>
            </a:solidFill>
            <a:prstDash val="solid"/>
          </a:ln>
        </p:spPr>
      </p:sp>
      <p:sp>
        <p:nvSpPr>
          <p:cNvPr id="41" name="">
            <a:extLst xmlns:a="http://schemas.openxmlformats.org/drawingml/2006/main">
              <a:ext uri="{FF2B5EF4-FFF2-40B4-BE49-F238E27FC236}">
                <a16:creationId xmlns:a16="http://schemas.microsoft.com/office/drawing/2014/main" id="{8A947559-AAB5-4DB0-B442-7BBE1C143F66}"/>
              </a:ext>
            </a:extLst>
          </p:cNvPr>
          <p:cNvSpPr>
            <a:spLocks xmlns:a="http://schemas.openxmlformats.org/drawingml/2006/main" noGrp="1"/>
          </p:cNvSpPr>
          <p:nvPr/>
        </p:nvSpPr>
        <p:spPr>
          <a:xfrm xmlns:a="http://schemas.openxmlformats.org/drawingml/2006/main">
            <a:off x="1952625" y="5953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B65345"/>
                </a:solidFill>
                <a:latin typeface="Arial"/>
                <a:ea typeface="Arial"/>
                <a:cs typeface="Arial"/>
              </a:defRPr>
            </a:pPr>
            <a:r>
              <a:rPr sz="1200" b="1" i="0">
                <a:solidFill>
                  <a:srgbClr val="B65345"/>
                </a:solidFill>
                <a:latin typeface="Arial"/>
                <a:ea typeface="Arial"/>
                <a:cs typeface="Arial"/>
              </a:rPr>
              <a:t>date không phải token · price không cần vocabulary · fixed window nên thường không cần padding</a:t>
            </a:r>
          </a:p>
        </p:txBody>
      </p:sp>
    </p:spTree>
    <p:extLst>
      <p:ext uri="{BB962C8B-B14F-4D97-AF65-F5344CB8AC3E}">
        <p14:creationId xmlns:p14="http://schemas.microsoft.com/office/powerpoint/2010/main" val="347390544"/>
      </p:ext>
    </p:extLst>
  </p:cSld>
</p:sld>
</file>

<file path=ppt/slides/slide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EA3131D-190A-42DD-9BC2-22FDCCF2F95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79E9B2-019C-4909-8C30-A166F0F5691E}"/>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D2BD6DA-2535-4284-B37D-5011836D82A2}"/>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Tokenizer, vocabulary, padding và embedding</a:t>
            </a:r>
          </a:p>
        </p:txBody>
      </p:sp>
      <p:sp>
        <p:nvSpPr>
          <p:cNvPr id="4" name="">
            <a:extLst xmlns:a="http://schemas.openxmlformats.org/drawingml/2006/main">
              <a:ext uri="{FF2B5EF4-FFF2-40B4-BE49-F238E27FC236}">
                <a16:creationId xmlns:a16="http://schemas.microsoft.com/office/drawing/2014/main" id="{4E0EF975-09D7-4368-924B-C4CA5E27841B}"/>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Một câu văn đi qua bốn bước trước khi đến RNN.</a:t>
            </a:r>
          </a:p>
        </p:txBody>
      </p:sp>
      <p:sp>
        <p:nvSpPr>
          <p:cNvPr id="5" name="">
            <a:extLst xmlns:a="http://schemas.openxmlformats.org/drawingml/2006/main">
              <a:ext uri="{FF2B5EF4-FFF2-40B4-BE49-F238E27FC236}">
                <a16:creationId xmlns:a16="http://schemas.microsoft.com/office/drawing/2014/main" id="{211DE943-358C-46E4-873E-AE19F49FF832}"/>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12E05DB3-95C0-459A-9FD9-AB5B55CE49A1}"/>
              </a:ext>
            </a:extLst>
          </p:cNvPr>
          <p:cNvSpPr>
            <a:spLocks xmlns:a="http://schemas.openxmlformats.org/drawingml/2006/main" noGrp="1"/>
          </p:cNvSpPr>
          <p:nvPr/>
        </p:nvSpPr>
        <p:spPr>
          <a:xfrm xmlns:a="http://schemas.openxmlformats.org/drawingml/2006/main">
            <a:off x="685800" y="1809750"/>
            <a:ext cx="2381250" cy="2428875"/>
          </a:xfrm>
          <a:prstGeom xmlns:a="http://schemas.openxmlformats.org/drawingml/2006/main" prst="roundRect">
            <a:avLst>
              <a:gd name="adj" fmla="val 4800"/>
            </a:avLst>
          </a:prstGeom>
          <a:solidFill xmlns:a="http://schemas.openxmlformats.org/drawingml/2006/main">
            <a:srgbClr val="DCEAF2"/>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C385B6F4-DD6F-492F-BA43-1DE40CCEC042}"/>
              </a:ext>
            </a:extLst>
          </p:cNvPr>
          <p:cNvSpPr>
            <a:spLocks xmlns:a="http://schemas.openxmlformats.org/drawingml/2006/main" noGrp="1"/>
          </p:cNvSpPr>
          <p:nvPr/>
        </p:nvSpPr>
        <p:spPr>
          <a:xfrm xmlns:a="http://schemas.openxmlformats.org/drawingml/2006/main">
            <a:off x="8763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4144E18-21BC-4C98-B138-01E2475CEAC2}"/>
              </a:ext>
            </a:extLst>
          </p:cNvPr>
          <p:cNvSpPr>
            <a:spLocks xmlns:a="http://schemas.openxmlformats.org/drawingml/2006/main" noGrp="1"/>
          </p:cNvSpPr>
          <p:nvPr/>
        </p:nvSpPr>
        <p:spPr>
          <a:xfrm xmlns:a="http://schemas.openxmlformats.org/drawingml/2006/main">
            <a:off x="87630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Tokenizer</a:t>
            </a:r>
          </a:p>
        </p:txBody>
      </p:sp>
      <p:sp>
        <p:nvSpPr>
          <p:cNvPr id="9" name="">
            <a:extLst xmlns:a="http://schemas.openxmlformats.org/drawingml/2006/main">
              <a:ext uri="{FF2B5EF4-FFF2-40B4-BE49-F238E27FC236}">
                <a16:creationId xmlns:a16="http://schemas.microsoft.com/office/drawing/2014/main" id="{C211789C-D51D-437A-9050-B689EEB1B292}"/>
              </a:ext>
            </a:extLst>
          </p:cNvPr>
          <p:cNvSpPr>
            <a:spLocks xmlns:a="http://schemas.openxmlformats.org/drawingml/2006/main" noGrp="1"/>
          </p:cNvSpPr>
          <p:nvPr/>
        </p:nvSpPr>
        <p:spPr>
          <a:xfrm xmlns:a="http://schemas.openxmlformats.org/drawingml/2006/main">
            <a:off x="87630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"giá vàng tăng"</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[giá, vàng, tăng]</a:t>
            </a:r>
          </a:p>
        </p:txBody>
      </p:sp>
      <p:sp>
        <p:nvSpPr>
          <p:cNvPr id="10" name="">
            <a:extLst xmlns:a="http://schemas.openxmlformats.org/drawingml/2006/main">
              <a:ext uri="{FF2B5EF4-FFF2-40B4-BE49-F238E27FC236}">
                <a16:creationId xmlns:a16="http://schemas.microsoft.com/office/drawing/2014/main" id="{C85BABB4-41A5-4869-BF02-F04B3FACCFC8}"/>
              </a:ext>
            </a:extLst>
          </p:cNvPr>
          <p:cNvSpPr>
            <a:spLocks xmlns:a="http://schemas.openxmlformats.org/drawingml/2006/main" noGrp="1"/>
          </p:cNvSpPr>
          <p:nvPr/>
        </p:nvSpPr>
        <p:spPr>
          <a:xfrm xmlns:a="http://schemas.openxmlformats.org/drawingml/2006/main">
            <a:off x="308610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4720B9-DD60-4D47-A0E5-1E2D600AE2F3}"/>
              </a:ext>
            </a:extLst>
          </p:cNvPr>
          <p:cNvSpPr>
            <a:spLocks xmlns:a="http://schemas.openxmlformats.org/drawingml/2006/main" noGrp="1"/>
          </p:cNvSpPr>
          <p:nvPr/>
        </p:nvSpPr>
        <p:spPr>
          <a:xfrm xmlns:a="http://schemas.openxmlformats.org/drawingml/2006/main">
            <a:off x="3409950" y="1809750"/>
            <a:ext cx="2381250" cy="2428875"/>
          </a:xfrm>
          <a:prstGeom xmlns:a="http://schemas.openxmlformats.org/drawingml/2006/main" prst="roundRect">
            <a:avLst>
              <a:gd name="adj" fmla="val 4800"/>
            </a:avLst>
          </a:prstGeom>
          <a:solidFill xmlns:a="http://schemas.openxmlformats.org/drawingml/2006/main">
            <a:srgbClr val="F2E5C4"/>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6BBF180B-FC18-4DAF-B357-EF397A1125A5}"/>
              </a:ext>
            </a:extLst>
          </p:cNvPr>
          <p:cNvSpPr>
            <a:spLocks xmlns:a="http://schemas.openxmlformats.org/drawingml/2006/main" noGrp="1"/>
          </p:cNvSpPr>
          <p:nvPr/>
        </p:nvSpPr>
        <p:spPr>
          <a:xfrm xmlns:a="http://schemas.openxmlformats.org/drawingml/2006/main">
            <a:off x="36004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9994EECD-82EC-4D63-824F-A14F24771323}"/>
              </a:ext>
            </a:extLst>
          </p:cNvPr>
          <p:cNvSpPr>
            <a:spLocks xmlns:a="http://schemas.openxmlformats.org/drawingml/2006/main" noGrp="1"/>
          </p:cNvSpPr>
          <p:nvPr/>
        </p:nvSpPr>
        <p:spPr>
          <a:xfrm xmlns:a="http://schemas.openxmlformats.org/drawingml/2006/main">
            <a:off x="360045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Vocabulary</a:t>
            </a:r>
          </a:p>
        </p:txBody>
      </p:sp>
      <p:sp>
        <p:nvSpPr>
          <p:cNvPr id="14" name="">
            <a:extLst xmlns:a="http://schemas.openxmlformats.org/drawingml/2006/main">
              <a:ext uri="{FF2B5EF4-FFF2-40B4-BE49-F238E27FC236}">
                <a16:creationId xmlns:a16="http://schemas.microsoft.com/office/drawing/2014/main" id="{F4A9AD4E-34C1-4DE9-B1B3-AA82FC749F60}"/>
              </a:ext>
            </a:extLst>
          </p:cNvPr>
          <p:cNvSpPr>
            <a:spLocks xmlns:a="http://schemas.openxmlformats.org/drawingml/2006/main" noGrp="1"/>
          </p:cNvSpPr>
          <p:nvPr/>
        </p:nvSpPr>
        <p:spPr>
          <a:xfrm xmlns:a="http://schemas.openxmlformats.org/drawingml/2006/main">
            <a:off x="360045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giá → 2</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vàng → 3</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tăng → 4</a:t>
            </a:r>
          </a:p>
        </p:txBody>
      </p:sp>
      <p:sp>
        <p:nvSpPr>
          <p:cNvPr id="15" name="">
            <a:extLst xmlns:a="http://schemas.openxmlformats.org/drawingml/2006/main">
              <a:ext uri="{FF2B5EF4-FFF2-40B4-BE49-F238E27FC236}">
                <a16:creationId xmlns:a16="http://schemas.microsoft.com/office/drawing/2014/main" id="{DE929B36-2E08-4D17-BCAF-6F20CF9E59E6}"/>
              </a:ext>
            </a:extLst>
          </p:cNvPr>
          <p:cNvSpPr>
            <a:spLocks xmlns:a="http://schemas.openxmlformats.org/drawingml/2006/main" noGrp="1"/>
          </p:cNvSpPr>
          <p:nvPr/>
        </p:nvSpPr>
        <p:spPr>
          <a:xfrm xmlns:a="http://schemas.openxmlformats.org/drawingml/2006/main">
            <a:off x="581025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E57011-E2C3-4B90-AF25-B673777F4F9B}"/>
              </a:ext>
            </a:extLst>
          </p:cNvPr>
          <p:cNvSpPr>
            <a:spLocks xmlns:a="http://schemas.openxmlformats.org/drawingml/2006/main" noGrp="1"/>
          </p:cNvSpPr>
          <p:nvPr/>
        </p:nvSpPr>
        <p:spPr>
          <a:xfrm xmlns:a="http://schemas.openxmlformats.org/drawingml/2006/main">
            <a:off x="6134100" y="1809750"/>
            <a:ext cx="2381250" cy="2428875"/>
          </a:xfrm>
          <a:prstGeom xmlns:a="http://schemas.openxmlformats.org/drawingml/2006/main" prst="roundRect">
            <a:avLst>
              <a:gd name="adj" fmla="val 4800"/>
            </a:avLst>
          </a:prstGeom>
          <a:solidFill xmlns:a="http://schemas.openxmlformats.org/drawingml/2006/main">
            <a:srgbClr val="E4F0E8"/>
          </a:solidFill>
          <a:ln xmlns:a="http://schemas.openxmlformats.org/drawingml/2006/main" w="9525">
            <a:solidFill>
              <a:srgbClr val="D9DEE5"/>
            </a:solidFill>
            <a:prstDash val="solid"/>
          </a:ln>
        </p:spPr>
      </p:sp>
      <p:sp>
        <p:nvSpPr>
          <p:cNvPr id="17" name="">
            <a:extLst xmlns:a="http://schemas.openxmlformats.org/drawingml/2006/main">
              <a:ext uri="{FF2B5EF4-FFF2-40B4-BE49-F238E27FC236}">
                <a16:creationId xmlns:a16="http://schemas.microsoft.com/office/drawing/2014/main" id="{4B4CCB1F-E338-467E-A14D-CC30EE8FBDA9}"/>
              </a:ext>
            </a:extLst>
          </p:cNvPr>
          <p:cNvSpPr>
            <a:spLocks xmlns:a="http://schemas.openxmlformats.org/drawingml/2006/main" noGrp="1"/>
          </p:cNvSpPr>
          <p:nvPr/>
        </p:nvSpPr>
        <p:spPr>
          <a:xfrm xmlns:a="http://schemas.openxmlformats.org/drawingml/2006/main">
            <a:off x="63246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F594B913-AE11-420C-BA7E-3A086CC560E3}"/>
              </a:ext>
            </a:extLst>
          </p:cNvPr>
          <p:cNvSpPr>
            <a:spLocks xmlns:a="http://schemas.openxmlformats.org/drawingml/2006/main" noGrp="1"/>
          </p:cNvSpPr>
          <p:nvPr/>
        </p:nvSpPr>
        <p:spPr>
          <a:xfrm xmlns:a="http://schemas.openxmlformats.org/drawingml/2006/main">
            <a:off x="632460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Padding</a:t>
            </a:r>
          </a:p>
        </p:txBody>
      </p:sp>
      <p:sp>
        <p:nvSpPr>
          <p:cNvPr id="19" name="">
            <a:extLst xmlns:a="http://schemas.openxmlformats.org/drawingml/2006/main">
              <a:ext uri="{FF2B5EF4-FFF2-40B4-BE49-F238E27FC236}">
                <a16:creationId xmlns:a16="http://schemas.microsoft.com/office/drawing/2014/main" id="{837F6D18-0C75-420C-8841-4A9F7BD6C0F8}"/>
              </a:ext>
            </a:extLst>
          </p:cNvPr>
          <p:cNvSpPr>
            <a:spLocks xmlns:a="http://schemas.openxmlformats.org/drawingml/2006/main" noGrp="1"/>
          </p:cNvSpPr>
          <p:nvPr/>
        </p:nvSpPr>
        <p:spPr>
          <a:xfrm xmlns:a="http://schemas.openxmlformats.org/drawingml/2006/main">
            <a:off x="632460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[2, 3, 4]</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[2, 3, 4, 0, 0, 0]</a:t>
            </a:r>
          </a:p>
        </p:txBody>
      </p:sp>
      <p:sp>
        <p:nvSpPr>
          <p:cNvPr id="20" name="">
            <a:extLst xmlns:a="http://schemas.openxmlformats.org/drawingml/2006/main">
              <a:ext uri="{FF2B5EF4-FFF2-40B4-BE49-F238E27FC236}">
                <a16:creationId xmlns:a16="http://schemas.microsoft.com/office/drawing/2014/main" id="{464427F8-1E93-4564-9FE5-073DCAB5FF4C}"/>
              </a:ext>
            </a:extLst>
          </p:cNvPr>
          <p:cNvSpPr>
            <a:spLocks xmlns:a="http://schemas.openxmlformats.org/drawingml/2006/main" noGrp="1"/>
          </p:cNvSpPr>
          <p:nvPr/>
        </p:nvSpPr>
        <p:spPr>
          <a:xfrm xmlns:a="http://schemas.openxmlformats.org/drawingml/2006/main">
            <a:off x="853440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D979DBC-E528-4C46-A32F-7C0CD3EB4FA9}"/>
              </a:ext>
            </a:extLst>
          </p:cNvPr>
          <p:cNvSpPr>
            <a:spLocks xmlns:a="http://schemas.openxmlformats.org/drawingml/2006/main" noGrp="1"/>
          </p:cNvSpPr>
          <p:nvPr/>
        </p:nvSpPr>
        <p:spPr>
          <a:xfrm xmlns:a="http://schemas.openxmlformats.org/drawingml/2006/main">
            <a:off x="8858250" y="1809750"/>
            <a:ext cx="2381250" cy="2428875"/>
          </a:xfrm>
          <a:prstGeom xmlns:a="http://schemas.openxmlformats.org/drawingml/2006/main" prst="roundRect">
            <a:avLst>
              <a:gd name="adj" fmla="val 4800"/>
            </a:avLst>
          </a:prstGeom>
          <a:solidFill xmlns:a="http://schemas.openxmlformats.org/drawingml/2006/main">
            <a:srgbClr val="F5E2DE"/>
          </a:solidFill>
          <a:ln xmlns:a="http://schemas.openxmlformats.org/drawingml/2006/main" w="9525">
            <a:solidFill>
              <a:srgbClr val="D9DEE5"/>
            </a:solidFill>
            <a:prstDash val="solid"/>
          </a:ln>
        </p:spPr>
      </p:sp>
      <p:sp>
        <p:nvSpPr>
          <p:cNvPr id="22" name="">
            <a:extLst xmlns:a="http://schemas.openxmlformats.org/drawingml/2006/main">
              <a:ext uri="{FF2B5EF4-FFF2-40B4-BE49-F238E27FC236}">
                <a16:creationId xmlns:a16="http://schemas.microsoft.com/office/drawing/2014/main" id="{0DAA33A0-25C0-4A31-AB37-37916BD8E06F}"/>
              </a:ext>
            </a:extLst>
          </p:cNvPr>
          <p:cNvSpPr>
            <a:spLocks xmlns:a="http://schemas.openxmlformats.org/drawingml/2006/main" noGrp="1"/>
          </p:cNvSpPr>
          <p:nvPr/>
        </p:nvSpPr>
        <p:spPr>
          <a:xfrm xmlns:a="http://schemas.openxmlformats.org/drawingml/2006/main">
            <a:off x="90487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EDE83C6-E892-445D-ABAF-D3991EED4C9D}"/>
              </a:ext>
            </a:extLst>
          </p:cNvPr>
          <p:cNvSpPr>
            <a:spLocks xmlns:a="http://schemas.openxmlformats.org/drawingml/2006/main" noGrp="1"/>
          </p:cNvSpPr>
          <p:nvPr/>
        </p:nvSpPr>
        <p:spPr>
          <a:xfrm xmlns:a="http://schemas.openxmlformats.org/drawingml/2006/main">
            <a:off x="904875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Embedding</a:t>
            </a:r>
          </a:p>
        </p:txBody>
      </p:sp>
      <p:sp>
        <p:nvSpPr>
          <p:cNvPr id="24" name="">
            <a:extLst xmlns:a="http://schemas.openxmlformats.org/drawingml/2006/main">
              <a:ext uri="{FF2B5EF4-FFF2-40B4-BE49-F238E27FC236}">
                <a16:creationId xmlns:a16="http://schemas.microsoft.com/office/drawing/2014/main" id="{D7985D26-9034-4647-AF5E-56C1A799721A}"/>
              </a:ext>
            </a:extLst>
          </p:cNvPr>
          <p:cNvSpPr>
            <a:spLocks xmlns:a="http://schemas.openxmlformats.org/drawingml/2006/main" noGrp="1"/>
          </p:cNvSpPr>
          <p:nvPr/>
        </p:nvSpPr>
        <p:spPr>
          <a:xfrm xmlns:a="http://schemas.openxmlformats.org/drawingml/2006/main">
            <a:off x="904875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ID 3</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vector 8 chiều</a:t>
            </a:r>
          </a:p>
        </p:txBody>
      </p:sp>
      <p:sp>
        <p:nvSpPr>
          <p:cNvPr id="25" name="">
            <a:extLst xmlns:a="http://schemas.openxmlformats.org/drawingml/2006/main">
              <a:ext uri="{FF2B5EF4-FFF2-40B4-BE49-F238E27FC236}">
                <a16:creationId xmlns:a16="http://schemas.microsoft.com/office/drawing/2014/main" id="{0FC53F5F-6C80-491A-942C-E9C9DF80F7D8}"/>
              </a:ext>
            </a:extLst>
          </p:cNvPr>
          <p:cNvSpPr>
            <a:spLocks xmlns:a="http://schemas.openxmlformats.org/drawingml/2006/main" noGrp="1"/>
          </p:cNvSpPr>
          <p:nvPr/>
        </p:nvSpPr>
        <p:spPr>
          <a:xfrm xmlns:a="http://schemas.openxmlformats.org/drawingml/2006/main">
            <a:off x="1828800" y="4762500"/>
            <a:ext cx="8534400" cy="1000125"/>
          </a:xfrm>
          <a:prstGeom xmlns:a="http://schemas.openxmlformats.org/drawingml/2006/main" prst="roundRect">
            <a:avLst>
              <a:gd name="adj" fmla="val 11429"/>
            </a:avLst>
          </a:prstGeom>
          <a:solidFill xmlns:a="http://schemas.openxmlformats.org/drawingml/2006/main">
            <a:srgbClr val="102A43"/>
          </a:solidFill>
          <a:ln xmlns:a="http://schemas.openxmlformats.org/drawingml/2006/main" w="9525">
            <a:solidFill>
              <a:srgbClr val="102A43"/>
            </a:solidFill>
            <a:prstDash val="solid"/>
          </a:ln>
        </p:spPr>
      </p:sp>
      <p:sp>
        <p:nvSpPr>
          <p:cNvPr id="26" name="">
            <a:extLst xmlns:a="http://schemas.openxmlformats.org/drawingml/2006/main">
              <a:ext uri="{FF2B5EF4-FFF2-40B4-BE49-F238E27FC236}">
                <a16:creationId xmlns:a16="http://schemas.microsoft.com/office/drawing/2014/main" id="{7CBB738F-842A-4F94-BE49-D462E8F7C534}"/>
              </a:ext>
            </a:extLst>
          </p:cNvPr>
          <p:cNvSpPr>
            <a:spLocks xmlns:a="http://schemas.openxmlformats.org/drawingml/2006/main" noGrp="1"/>
          </p:cNvSpPr>
          <p:nvPr/>
        </p:nvSpPr>
        <p:spPr>
          <a:xfrm xmlns:a="http://schemas.openxmlformats.org/drawingml/2006/main">
            <a:off x="2143125" y="498157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2E5C4"/>
                </a:solidFill>
                <a:latin typeface="Arial"/>
                <a:ea typeface="Arial"/>
                <a:cs typeface="Arial"/>
              </a:defRPr>
            </a:pPr>
            <a:r>
              <a:rPr sz="1350" b="1" i="0">
                <a:solidFill>
                  <a:srgbClr val="F2E5C4"/>
                </a:solidFill>
                <a:latin typeface="Arial"/>
                <a:ea typeface="Arial"/>
                <a:cs typeface="Arial"/>
              </a:rPr>
              <a:t>Embedding matrix</a:t>
            </a:r>
          </a:p>
        </p:txBody>
      </p:sp>
      <p:sp>
        <p:nvSpPr>
          <p:cNvPr id="27" name="">
            <a:extLst xmlns:a="http://schemas.openxmlformats.org/drawingml/2006/main">
              <a:ext uri="{FF2B5EF4-FFF2-40B4-BE49-F238E27FC236}">
                <a16:creationId xmlns:a16="http://schemas.microsoft.com/office/drawing/2014/main" id="{C4F7916A-95AC-45FD-9D7E-04596489BA43}"/>
              </a:ext>
            </a:extLst>
          </p:cNvPr>
          <p:cNvSpPr>
            <a:spLocks xmlns:a="http://schemas.openxmlformats.org/drawingml/2006/main" noGrp="1"/>
          </p:cNvSpPr>
          <p:nvPr/>
        </p:nvSpPr>
        <p:spPr>
          <a:xfrm xmlns:a="http://schemas.openxmlformats.org/drawingml/2006/main">
            <a:off x="2143125" y="5334000"/>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E ∈ R^(V × d)     |     token_id i → E[i]     |     output: (batch, length, d)</a:t>
            </a:r>
          </a:p>
        </p:txBody>
      </p:sp>
      <p:sp>
        <p:nvSpPr>
          <p:cNvPr id="28" name="">
            <a:extLst xmlns:a="http://schemas.openxmlformats.org/drawingml/2006/main">
              <a:ext uri="{FF2B5EF4-FFF2-40B4-BE49-F238E27FC236}">
                <a16:creationId xmlns:a16="http://schemas.microsoft.com/office/drawing/2014/main" id="{E76D2149-F1AE-4B62-A30B-571570535509}"/>
              </a:ext>
            </a:extLst>
          </p:cNvPr>
          <p:cNvSpPr>
            <a:spLocks xmlns:a="http://schemas.openxmlformats.org/drawingml/2006/main" noGrp="1"/>
          </p:cNvSpPr>
          <p:nvPr/>
        </p:nvSpPr>
        <p:spPr>
          <a:xfrm xmlns:a="http://schemas.openxmlformats.org/drawingml/2006/main">
            <a:off x="685800" y="604837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C6B73"/>
                </a:solidFill>
                <a:latin typeface="Arial"/>
                <a:ea typeface="Arial"/>
                <a:cs typeface="Arial"/>
              </a:defRPr>
            </a:pPr>
            <a:r>
              <a:rPr sz="1200" b="0" i="0">
                <a:solidFill>
                  <a:srgbClr val="5C6B73"/>
                </a:solidFill>
                <a:latin typeface="Arial"/>
                <a:ea typeface="Arial"/>
                <a:cs typeface="Arial"/>
              </a:rPr>
              <a:t>Notebook output: token_ids (4, 6)  ·  embedding (4, 6, 8)</a:t>
            </a:r>
          </a:p>
        </p:txBody>
      </p:sp>
    </p:spTree>
    <p:extLst>
      <p:ext uri="{BB962C8B-B14F-4D97-AF65-F5344CB8AC3E}">
        <p14:creationId xmlns:p14="http://schemas.microsoft.com/office/powerpoint/2010/main" val="666916679"/>
      </p:ext>
    </p:extLst>
  </p:cSld>
</p:sld>
</file>

<file path=ppt/slides/slide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3E5F5642-61A0-4ABE-8AEC-0C32327DBE8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4FC4B8-8009-429F-9EB6-F3CC8BD2B29B}"/>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FA10B67-DC34-465E-911F-4F4AD7C8FA1F}"/>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Pipeline tiền xử lý giá vàng</a:t>
            </a:r>
          </a:p>
        </p:txBody>
      </p:sp>
      <p:sp>
        <p:nvSpPr>
          <p:cNvPr id="4" name="">
            <a:extLst xmlns:a="http://schemas.openxmlformats.org/drawingml/2006/main">
              <a:ext uri="{FF2B5EF4-FFF2-40B4-BE49-F238E27FC236}">
                <a16:creationId xmlns:a16="http://schemas.microsoft.com/office/drawing/2014/main" id="{B9C04419-B7FA-4AD2-B0EF-D62AA2B83D06}"/>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Dataset gold_price.csv: từ CSV đến cửa sổ 30 bước.</a:t>
            </a:r>
          </a:p>
        </p:txBody>
      </p:sp>
      <p:sp>
        <p:nvSpPr>
          <p:cNvPr id="5" name="">
            <a:extLst xmlns:a="http://schemas.openxmlformats.org/drawingml/2006/main">
              <a:ext uri="{FF2B5EF4-FFF2-40B4-BE49-F238E27FC236}">
                <a16:creationId xmlns:a16="http://schemas.microsoft.com/office/drawing/2014/main" id="{3F3E0D3F-7FEE-4595-B4D6-DEC46D14EE7E}"/>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4A790EC6-B758-4CF2-86CD-1933DF0629A4}"/>
              </a:ext>
            </a:extLst>
          </p:cNvPr>
          <p:cNvSpPr>
            <a:spLocks xmlns:a="http://schemas.openxmlformats.org/drawingml/2006/main" noGrp="1"/>
          </p:cNvSpPr>
          <p:nvPr/>
        </p:nvSpPr>
        <p:spPr>
          <a:xfrm xmlns:a="http://schemas.openxmlformats.org/drawingml/2006/main">
            <a:off x="685800" y="1476375"/>
            <a:ext cx="2076450" cy="685800"/>
          </a:xfrm>
          <a:prstGeom xmlns:a="http://schemas.openxmlformats.org/drawingml/2006/main" prst="roundRect">
            <a:avLst>
              <a:gd name="adj" fmla="val 16667"/>
            </a:avLst>
          </a:prstGeom>
          <a:solidFill xmlns:a="http://schemas.openxmlformats.org/drawingml/2006/main">
            <a:srgbClr val="DCEAF2"/>
          </a:solidFill>
          <a:ln xmlns:a="http://schemas.openxmlformats.org/drawingml/2006/main" w="9525">
            <a:solidFill>
              <a:srgbClr val="2D6A8F"/>
            </a:solidFill>
            <a:prstDash val="solid"/>
          </a:ln>
        </p:spPr>
      </p:sp>
      <p:sp>
        <p:nvSpPr>
          <p:cNvPr id="7" name="">
            <a:extLst xmlns:a="http://schemas.openxmlformats.org/drawingml/2006/main">
              <a:ext uri="{FF2B5EF4-FFF2-40B4-BE49-F238E27FC236}">
                <a16:creationId xmlns:a16="http://schemas.microsoft.com/office/drawing/2014/main" id="{EEF4144F-A645-42F6-9B5E-19390853FB93}"/>
              </a:ext>
            </a:extLst>
          </p:cNvPr>
          <p:cNvSpPr>
            <a:spLocks xmlns:a="http://schemas.openxmlformats.org/drawingml/2006/main" noGrp="1"/>
          </p:cNvSpPr>
          <p:nvPr/>
        </p:nvSpPr>
        <p:spPr>
          <a:xfrm xmlns:a="http://schemas.openxmlformats.org/drawingml/2006/main">
            <a:off x="857250" y="16002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2D6A8F"/>
                </a:solidFill>
                <a:latin typeface="Arial"/>
                <a:ea typeface="Arial"/>
                <a:cs typeface="Arial"/>
              </a:defRPr>
            </a:pPr>
            <a:r>
              <a:rPr sz="1800" b="1" i="0">
                <a:solidFill>
                  <a:srgbClr val="2D6A8F"/>
                </a:solidFill>
                <a:latin typeface="Arial"/>
                <a:ea typeface="Arial"/>
                <a:cs typeface="Arial"/>
              </a:rPr>
              <a:t>13,461</a:t>
            </a:r>
          </a:p>
        </p:txBody>
      </p:sp>
      <p:sp>
        <p:nvSpPr>
          <p:cNvPr id="8" name="">
            <a:extLst xmlns:a="http://schemas.openxmlformats.org/drawingml/2006/main">
              <a:ext uri="{FF2B5EF4-FFF2-40B4-BE49-F238E27FC236}">
                <a16:creationId xmlns:a16="http://schemas.microsoft.com/office/drawing/2014/main" id="{ACB6EC9B-68CC-4599-B3F8-BE4867B834AF}"/>
              </a:ext>
            </a:extLst>
          </p:cNvPr>
          <p:cNvSpPr>
            <a:spLocks xmlns:a="http://schemas.openxmlformats.org/drawingml/2006/main" noGrp="1"/>
          </p:cNvSpPr>
          <p:nvPr/>
        </p:nvSpPr>
        <p:spPr>
          <a:xfrm xmlns:a="http://schemas.openxmlformats.org/drawingml/2006/main">
            <a:off x="85725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dòng thô</a:t>
            </a:r>
          </a:p>
        </p:txBody>
      </p:sp>
      <p:sp>
        <p:nvSpPr>
          <p:cNvPr id="9" name="">
            <a:extLst xmlns:a="http://schemas.openxmlformats.org/drawingml/2006/main">
              <a:ext uri="{FF2B5EF4-FFF2-40B4-BE49-F238E27FC236}">
                <a16:creationId xmlns:a16="http://schemas.microsoft.com/office/drawing/2014/main" id="{9C19F69E-0277-4426-A76B-3033BBD82EDC}"/>
              </a:ext>
            </a:extLst>
          </p:cNvPr>
          <p:cNvSpPr>
            <a:spLocks xmlns:a="http://schemas.openxmlformats.org/drawingml/2006/main" noGrp="1"/>
          </p:cNvSpPr>
          <p:nvPr/>
        </p:nvSpPr>
        <p:spPr>
          <a:xfrm xmlns:a="http://schemas.openxmlformats.org/drawingml/2006/main">
            <a:off x="3067050" y="1476375"/>
            <a:ext cx="2076450" cy="685800"/>
          </a:xfrm>
          <a:prstGeom xmlns:a="http://schemas.openxmlformats.org/drawingml/2006/main" prst="roundRect">
            <a:avLst>
              <a:gd name="adj" fmla="val 16667"/>
            </a:avLst>
          </a:prstGeom>
          <a:solidFill xmlns:a="http://schemas.openxmlformats.org/drawingml/2006/main">
            <a:srgbClr val="E4F0E8"/>
          </a:solidFill>
          <a:ln xmlns:a="http://schemas.openxmlformats.org/drawingml/2006/main" w="9525">
            <a:solidFill>
              <a:srgbClr val="3F7D5A"/>
            </a:solidFill>
            <a:prstDash val="solid"/>
          </a:ln>
        </p:spPr>
      </p:sp>
      <p:sp>
        <p:nvSpPr>
          <p:cNvPr id="10" name="">
            <a:extLst xmlns:a="http://schemas.openxmlformats.org/drawingml/2006/main">
              <a:ext uri="{FF2B5EF4-FFF2-40B4-BE49-F238E27FC236}">
                <a16:creationId xmlns:a16="http://schemas.microsoft.com/office/drawing/2014/main" id="{199DDBF7-DB1F-43C9-A504-5CAF6F59BA63}"/>
              </a:ext>
            </a:extLst>
          </p:cNvPr>
          <p:cNvSpPr>
            <a:spLocks xmlns:a="http://schemas.openxmlformats.org/drawingml/2006/main" noGrp="1"/>
          </p:cNvSpPr>
          <p:nvPr/>
        </p:nvSpPr>
        <p:spPr>
          <a:xfrm xmlns:a="http://schemas.openxmlformats.org/drawingml/2006/main">
            <a:off x="3238500" y="16002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3F7D5A"/>
                </a:solidFill>
                <a:latin typeface="Arial"/>
                <a:ea typeface="Arial"/>
                <a:cs typeface="Arial"/>
              </a:defRPr>
            </a:pPr>
            <a:r>
              <a:rPr sz="1800" b="1" i="0">
                <a:solidFill>
                  <a:srgbClr val="3F7D5A"/>
                </a:solidFill>
                <a:latin typeface="Arial"/>
                <a:ea typeface="Arial"/>
                <a:cs typeface="Arial"/>
              </a:rPr>
              <a:t>13,320</a:t>
            </a:r>
          </a:p>
        </p:txBody>
      </p:sp>
      <p:sp>
        <p:nvSpPr>
          <p:cNvPr id="11" name="">
            <a:extLst xmlns:a="http://schemas.openxmlformats.org/drawingml/2006/main">
              <a:ext uri="{FF2B5EF4-FFF2-40B4-BE49-F238E27FC236}">
                <a16:creationId xmlns:a16="http://schemas.microsoft.com/office/drawing/2014/main" id="{D642B440-0C1C-4F50-84EF-5E87F5B1D8E6}"/>
              </a:ext>
            </a:extLst>
          </p:cNvPr>
          <p:cNvSpPr>
            <a:spLocks xmlns:a="http://schemas.openxmlformats.org/drawingml/2006/main" noGrp="1"/>
          </p:cNvSpPr>
          <p:nvPr/>
        </p:nvSpPr>
        <p:spPr>
          <a:xfrm xmlns:a="http://schemas.openxmlformats.org/drawingml/2006/main">
            <a:off x="323850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dòng sau làm sạch</a:t>
            </a:r>
          </a:p>
        </p:txBody>
      </p:sp>
      <p:sp>
        <p:nvSpPr>
          <p:cNvPr id="12" name="">
            <a:extLst xmlns:a="http://schemas.openxmlformats.org/drawingml/2006/main">
              <a:ext uri="{FF2B5EF4-FFF2-40B4-BE49-F238E27FC236}">
                <a16:creationId xmlns:a16="http://schemas.microsoft.com/office/drawing/2014/main" id="{1B9555CD-40FB-4EE8-BA58-1358BCF1125E}"/>
              </a:ext>
            </a:extLst>
          </p:cNvPr>
          <p:cNvSpPr>
            <a:spLocks xmlns:a="http://schemas.openxmlformats.org/drawingml/2006/main" noGrp="1"/>
          </p:cNvSpPr>
          <p:nvPr/>
        </p:nvSpPr>
        <p:spPr>
          <a:xfrm xmlns:a="http://schemas.openxmlformats.org/drawingml/2006/main">
            <a:off x="5448300" y="1476375"/>
            <a:ext cx="2076450" cy="685800"/>
          </a:xfrm>
          <a:prstGeom xmlns:a="http://schemas.openxmlformats.org/drawingml/2006/main" prst="roundRect">
            <a:avLst>
              <a:gd name="adj" fmla="val 16667"/>
            </a:avLst>
          </a:prstGeom>
          <a:solidFill xmlns:a="http://schemas.openxmlformats.org/drawingml/2006/main">
            <a:srgbClr val="F2E5C4"/>
          </a:solidFill>
          <a:ln xmlns:a="http://schemas.openxmlformats.org/drawingml/2006/main" w="9525">
            <a:solidFill>
              <a:srgbClr val="C58B2A"/>
            </a:solidFill>
            <a:prstDash val="solid"/>
          </a:ln>
        </p:spPr>
      </p:sp>
      <p:sp>
        <p:nvSpPr>
          <p:cNvPr id="13" name="">
            <a:extLst xmlns:a="http://schemas.openxmlformats.org/drawingml/2006/main">
              <a:ext uri="{FF2B5EF4-FFF2-40B4-BE49-F238E27FC236}">
                <a16:creationId xmlns:a16="http://schemas.microsoft.com/office/drawing/2014/main" id="{BA9F776E-E5F2-4B8B-922C-8CB3B114FF0B}"/>
              </a:ext>
            </a:extLst>
          </p:cNvPr>
          <p:cNvSpPr>
            <a:spLocks xmlns:a="http://schemas.openxmlformats.org/drawingml/2006/main" noGrp="1"/>
          </p:cNvSpPr>
          <p:nvPr/>
        </p:nvSpPr>
        <p:spPr>
          <a:xfrm xmlns:a="http://schemas.openxmlformats.org/drawingml/2006/main">
            <a:off x="5619750" y="16002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C58B2A"/>
                </a:solidFill>
                <a:latin typeface="Arial"/>
                <a:ea typeface="Arial"/>
                <a:cs typeface="Arial"/>
              </a:defRPr>
            </a:pPr>
            <a:r>
              <a:rPr sz="1800" b="1" i="0">
                <a:solidFill>
                  <a:srgbClr val="C58B2A"/>
                </a:solidFill>
                <a:latin typeface="Arial"/>
                <a:ea typeface="Arial"/>
                <a:cs typeface="Arial"/>
              </a:rPr>
              <a:t>30</a:t>
            </a:r>
          </a:p>
        </p:txBody>
      </p:sp>
      <p:sp>
        <p:nvSpPr>
          <p:cNvPr id="14" name="">
            <a:extLst xmlns:a="http://schemas.openxmlformats.org/drawingml/2006/main">
              <a:ext uri="{FF2B5EF4-FFF2-40B4-BE49-F238E27FC236}">
                <a16:creationId xmlns:a16="http://schemas.microsoft.com/office/drawing/2014/main" id="{ED39AE4A-1F03-4EC9-969F-0A68ACC2AB7E}"/>
              </a:ext>
            </a:extLst>
          </p:cNvPr>
          <p:cNvSpPr>
            <a:spLocks xmlns:a="http://schemas.openxmlformats.org/drawingml/2006/main" noGrp="1"/>
          </p:cNvSpPr>
          <p:nvPr/>
        </p:nvSpPr>
        <p:spPr>
          <a:xfrm xmlns:a="http://schemas.openxmlformats.org/drawingml/2006/main">
            <a:off x="561975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bước nhìn lại</a:t>
            </a:r>
          </a:p>
        </p:txBody>
      </p:sp>
      <p:sp>
        <p:nvSpPr>
          <p:cNvPr id="15" name="">
            <a:extLst xmlns:a="http://schemas.openxmlformats.org/drawingml/2006/main">
              <a:ext uri="{FF2B5EF4-FFF2-40B4-BE49-F238E27FC236}">
                <a16:creationId xmlns:a16="http://schemas.microsoft.com/office/drawing/2014/main" id="{B82442F6-5605-468C-870C-8CBAC2AC40A5}"/>
              </a:ext>
            </a:extLst>
          </p:cNvPr>
          <p:cNvSpPr>
            <a:spLocks xmlns:a="http://schemas.openxmlformats.org/drawingml/2006/main" noGrp="1"/>
          </p:cNvSpPr>
          <p:nvPr/>
        </p:nvSpPr>
        <p:spPr>
          <a:xfrm xmlns:a="http://schemas.openxmlformats.org/drawingml/2006/main">
            <a:off x="68580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CD96E4E6-08E3-43AB-AA15-461A422B3956}"/>
              </a:ext>
            </a:extLst>
          </p:cNvPr>
          <p:cNvSpPr>
            <a:spLocks xmlns:a="http://schemas.openxmlformats.org/drawingml/2006/main" noGrp="1"/>
          </p:cNvSpPr>
          <p:nvPr/>
        </p:nvSpPr>
        <p:spPr>
          <a:xfrm xmlns:a="http://schemas.openxmlformats.org/drawingml/2006/main">
            <a:off x="81915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BA1CC85-22C7-4A6E-B3E5-5E0D1CF4CB60}"/>
              </a:ext>
            </a:extLst>
          </p:cNvPr>
          <p:cNvSpPr>
            <a:spLocks xmlns:a="http://schemas.openxmlformats.org/drawingml/2006/main" noGrp="1"/>
          </p:cNvSpPr>
          <p:nvPr/>
        </p:nvSpPr>
        <p:spPr>
          <a:xfrm xmlns:a="http://schemas.openxmlformats.org/drawingml/2006/main">
            <a:off x="81915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575E12DE-851C-4F6C-B806-9E4E859F3C76}"/>
              </a:ext>
            </a:extLst>
          </p:cNvPr>
          <p:cNvSpPr>
            <a:spLocks xmlns:a="http://schemas.openxmlformats.org/drawingml/2006/main" noGrp="1"/>
          </p:cNvSpPr>
          <p:nvPr/>
        </p:nvSpPr>
        <p:spPr>
          <a:xfrm xmlns:a="http://schemas.openxmlformats.org/drawingml/2006/main">
            <a:off x="120015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Đọc CSV</a:t>
            </a:r>
          </a:p>
        </p:txBody>
      </p:sp>
      <p:sp>
        <p:nvSpPr>
          <p:cNvPr id="19" name="">
            <a:extLst xmlns:a="http://schemas.openxmlformats.org/drawingml/2006/main">
              <a:ext uri="{FF2B5EF4-FFF2-40B4-BE49-F238E27FC236}">
                <a16:creationId xmlns:a16="http://schemas.microsoft.com/office/drawing/2014/main" id="{D8449D74-BAC5-40D3-9028-E914FE863C3A}"/>
              </a:ext>
            </a:extLst>
          </p:cNvPr>
          <p:cNvSpPr>
            <a:spLocks xmlns:a="http://schemas.openxmlformats.org/drawingml/2006/main" noGrp="1"/>
          </p:cNvSpPr>
          <p:nvPr/>
        </p:nvSpPr>
        <p:spPr>
          <a:xfrm xmlns:a="http://schemas.openxmlformats.org/drawingml/2006/main">
            <a:off x="83820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date, price</a:t>
            </a:r>
          </a:p>
        </p:txBody>
      </p:sp>
      <p:sp>
        <p:nvSpPr>
          <p:cNvPr id="20" name="">
            <a:extLst xmlns:a="http://schemas.openxmlformats.org/drawingml/2006/main">
              <a:ext uri="{FF2B5EF4-FFF2-40B4-BE49-F238E27FC236}">
                <a16:creationId xmlns:a16="http://schemas.microsoft.com/office/drawing/2014/main" id="{6E868927-099A-4E4F-B58D-2BA1257AC836}"/>
              </a:ext>
            </a:extLst>
          </p:cNvPr>
          <p:cNvSpPr>
            <a:spLocks xmlns:a="http://schemas.openxmlformats.org/drawingml/2006/main" noGrp="1"/>
          </p:cNvSpPr>
          <p:nvPr/>
        </p:nvSpPr>
        <p:spPr>
          <a:xfrm xmlns:a="http://schemas.openxmlformats.org/drawingml/2006/main">
            <a:off x="340995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ECA9771A-7C96-4D91-9048-23ECA519BC30}"/>
              </a:ext>
            </a:extLst>
          </p:cNvPr>
          <p:cNvSpPr>
            <a:spLocks xmlns:a="http://schemas.openxmlformats.org/drawingml/2006/main" noGrp="1"/>
          </p:cNvSpPr>
          <p:nvPr/>
        </p:nvSpPr>
        <p:spPr>
          <a:xfrm xmlns:a="http://schemas.openxmlformats.org/drawingml/2006/main">
            <a:off x="354330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263EA6-FFE1-479D-ADAF-766470F19184}"/>
              </a:ext>
            </a:extLst>
          </p:cNvPr>
          <p:cNvSpPr>
            <a:spLocks xmlns:a="http://schemas.openxmlformats.org/drawingml/2006/main" noGrp="1"/>
          </p:cNvSpPr>
          <p:nvPr/>
        </p:nvSpPr>
        <p:spPr>
          <a:xfrm xmlns:a="http://schemas.openxmlformats.org/drawingml/2006/main">
            <a:off x="354330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CC81D839-374A-4983-ACD2-BEFADC9B6486}"/>
              </a:ext>
            </a:extLst>
          </p:cNvPr>
          <p:cNvSpPr>
            <a:spLocks xmlns:a="http://schemas.openxmlformats.org/drawingml/2006/main" noGrp="1"/>
          </p:cNvSpPr>
          <p:nvPr/>
        </p:nvSpPr>
        <p:spPr>
          <a:xfrm xmlns:a="http://schemas.openxmlformats.org/drawingml/2006/main">
            <a:off x="392430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Chuyển kiểu</a:t>
            </a:r>
          </a:p>
        </p:txBody>
      </p:sp>
      <p:sp>
        <p:nvSpPr>
          <p:cNvPr id="24" name="">
            <a:extLst xmlns:a="http://schemas.openxmlformats.org/drawingml/2006/main">
              <a:ext uri="{FF2B5EF4-FFF2-40B4-BE49-F238E27FC236}">
                <a16:creationId xmlns:a16="http://schemas.microsoft.com/office/drawing/2014/main" id="{63491C2E-C09D-4426-8A8C-D6FF5DD96413}"/>
              </a:ext>
            </a:extLst>
          </p:cNvPr>
          <p:cNvSpPr>
            <a:spLocks xmlns:a="http://schemas.openxmlformats.org/drawingml/2006/main" noGrp="1"/>
          </p:cNvSpPr>
          <p:nvPr/>
        </p:nvSpPr>
        <p:spPr>
          <a:xfrm xmlns:a="http://schemas.openxmlformats.org/drawingml/2006/main">
            <a:off x="356235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datetime, float</a:t>
            </a:r>
          </a:p>
        </p:txBody>
      </p:sp>
      <p:sp>
        <p:nvSpPr>
          <p:cNvPr id="25" name="">
            <a:extLst xmlns:a="http://schemas.openxmlformats.org/drawingml/2006/main">
              <a:ext uri="{FF2B5EF4-FFF2-40B4-BE49-F238E27FC236}">
                <a16:creationId xmlns:a16="http://schemas.microsoft.com/office/drawing/2014/main" id="{2487DE01-91C9-4D92-BB3B-2E84D0C6A1B1}"/>
              </a:ext>
            </a:extLst>
          </p:cNvPr>
          <p:cNvSpPr>
            <a:spLocks xmlns:a="http://schemas.openxmlformats.org/drawingml/2006/main" noGrp="1"/>
          </p:cNvSpPr>
          <p:nvPr/>
        </p:nvSpPr>
        <p:spPr>
          <a:xfrm xmlns:a="http://schemas.openxmlformats.org/drawingml/2006/main">
            <a:off x="613410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26" name="">
            <a:extLst xmlns:a="http://schemas.openxmlformats.org/drawingml/2006/main">
              <a:ext uri="{FF2B5EF4-FFF2-40B4-BE49-F238E27FC236}">
                <a16:creationId xmlns:a16="http://schemas.microsoft.com/office/drawing/2014/main" id="{F13BC14F-674A-41B8-A812-28B6B364ED8F}"/>
              </a:ext>
            </a:extLst>
          </p:cNvPr>
          <p:cNvSpPr>
            <a:spLocks xmlns:a="http://schemas.openxmlformats.org/drawingml/2006/main" noGrp="1"/>
          </p:cNvSpPr>
          <p:nvPr/>
        </p:nvSpPr>
        <p:spPr>
          <a:xfrm xmlns:a="http://schemas.openxmlformats.org/drawingml/2006/main">
            <a:off x="626745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E2344C-84A6-428D-BD2A-8BB2E601D031}"/>
              </a:ext>
            </a:extLst>
          </p:cNvPr>
          <p:cNvSpPr>
            <a:spLocks xmlns:a="http://schemas.openxmlformats.org/drawingml/2006/main" noGrp="1"/>
          </p:cNvSpPr>
          <p:nvPr/>
        </p:nvSpPr>
        <p:spPr>
          <a:xfrm xmlns:a="http://schemas.openxmlformats.org/drawingml/2006/main">
            <a:off x="626745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2A0A8604-E4CB-4756-A806-20C1FF726A30}"/>
              </a:ext>
            </a:extLst>
          </p:cNvPr>
          <p:cNvSpPr>
            <a:spLocks xmlns:a="http://schemas.openxmlformats.org/drawingml/2006/main" noGrp="1"/>
          </p:cNvSpPr>
          <p:nvPr/>
        </p:nvSpPr>
        <p:spPr>
          <a:xfrm xmlns:a="http://schemas.openxmlformats.org/drawingml/2006/main">
            <a:off x="664845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Làm sạch</a:t>
            </a:r>
          </a:p>
        </p:txBody>
      </p:sp>
      <p:sp>
        <p:nvSpPr>
          <p:cNvPr id="29" name="">
            <a:extLst xmlns:a="http://schemas.openxmlformats.org/drawingml/2006/main">
              <a:ext uri="{FF2B5EF4-FFF2-40B4-BE49-F238E27FC236}">
                <a16:creationId xmlns:a16="http://schemas.microsoft.com/office/drawing/2014/main" id="{D795622E-FE32-4A2C-9C9A-B884A0D4152B}"/>
              </a:ext>
            </a:extLst>
          </p:cNvPr>
          <p:cNvSpPr>
            <a:spLocks xmlns:a="http://schemas.openxmlformats.org/drawingml/2006/main" noGrp="1"/>
          </p:cNvSpPr>
          <p:nvPr/>
        </p:nvSpPr>
        <p:spPr>
          <a:xfrm xmlns:a="http://schemas.openxmlformats.org/drawingml/2006/main">
            <a:off x="628650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dropna, deduplicate</a:t>
            </a:r>
          </a:p>
        </p:txBody>
      </p:sp>
      <p:sp>
        <p:nvSpPr>
          <p:cNvPr id="30" name="">
            <a:extLst xmlns:a="http://schemas.openxmlformats.org/drawingml/2006/main">
              <a:ext uri="{FF2B5EF4-FFF2-40B4-BE49-F238E27FC236}">
                <a16:creationId xmlns:a16="http://schemas.microsoft.com/office/drawing/2014/main" id="{83D2C0A3-A839-406F-89D4-0BFEF549A5BD}"/>
              </a:ext>
            </a:extLst>
          </p:cNvPr>
          <p:cNvSpPr>
            <a:spLocks xmlns:a="http://schemas.openxmlformats.org/drawingml/2006/main" noGrp="1"/>
          </p:cNvSpPr>
          <p:nvPr/>
        </p:nvSpPr>
        <p:spPr>
          <a:xfrm xmlns:a="http://schemas.openxmlformats.org/drawingml/2006/main">
            <a:off x="885825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31" name="">
            <a:extLst xmlns:a="http://schemas.openxmlformats.org/drawingml/2006/main">
              <a:ext uri="{FF2B5EF4-FFF2-40B4-BE49-F238E27FC236}">
                <a16:creationId xmlns:a16="http://schemas.microsoft.com/office/drawing/2014/main" id="{2AE7FD4B-5CA0-4145-B985-F5A8D0CE4CD9}"/>
              </a:ext>
            </a:extLst>
          </p:cNvPr>
          <p:cNvSpPr>
            <a:spLocks xmlns:a="http://schemas.openxmlformats.org/drawingml/2006/main" noGrp="1"/>
          </p:cNvSpPr>
          <p:nvPr/>
        </p:nvSpPr>
        <p:spPr>
          <a:xfrm xmlns:a="http://schemas.openxmlformats.org/drawingml/2006/main">
            <a:off x="899160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BA85EA-BC62-4A05-98AE-15F6D7BACA7D}"/>
              </a:ext>
            </a:extLst>
          </p:cNvPr>
          <p:cNvSpPr>
            <a:spLocks xmlns:a="http://schemas.openxmlformats.org/drawingml/2006/main" noGrp="1"/>
          </p:cNvSpPr>
          <p:nvPr/>
        </p:nvSpPr>
        <p:spPr>
          <a:xfrm xmlns:a="http://schemas.openxmlformats.org/drawingml/2006/main">
            <a:off x="899160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33" name="">
            <a:extLst xmlns:a="http://schemas.openxmlformats.org/drawingml/2006/main">
              <a:ext uri="{FF2B5EF4-FFF2-40B4-BE49-F238E27FC236}">
                <a16:creationId xmlns:a16="http://schemas.microsoft.com/office/drawing/2014/main" id="{5CBA3583-373F-4900-9AF9-7386A824C0A8}"/>
              </a:ext>
            </a:extLst>
          </p:cNvPr>
          <p:cNvSpPr>
            <a:spLocks xmlns:a="http://schemas.openxmlformats.org/drawingml/2006/main" noGrp="1"/>
          </p:cNvSpPr>
          <p:nvPr/>
        </p:nvSpPr>
        <p:spPr>
          <a:xfrm xmlns:a="http://schemas.openxmlformats.org/drawingml/2006/main">
            <a:off x="937260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Sắp xếp</a:t>
            </a:r>
          </a:p>
        </p:txBody>
      </p:sp>
      <p:sp>
        <p:nvSpPr>
          <p:cNvPr id="34" name="">
            <a:extLst xmlns:a="http://schemas.openxmlformats.org/drawingml/2006/main">
              <a:ext uri="{FF2B5EF4-FFF2-40B4-BE49-F238E27FC236}">
                <a16:creationId xmlns:a16="http://schemas.microsoft.com/office/drawing/2014/main" id="{9A3F4563-31CA-4FB5-A548-A76FB70F4302}"/>
              </a:ext>
            </a:extLst>
          </p:cNvPr>
          <p:cNvSpPr>
            <a:spLocks xmlns:a="http://schemas.openxmlformats.org/drawingml/2006/main" noGrp="1"/>
          </p:cNvSpPr>
          <p:nvPr/>
        </p:nvSpPr>
        <p:spPr>
          <a:xfrm xmlns:a="http://schemas.openxmlformats.org/drawingml/2006/main">
            <a:off x="901065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chronological</a:t>
            </a:r>
          </a:p>
        </p:txBody>
      </p:sp>
      <p:sp>
        <p:nvSpPr>
          <p:cNvPr id="35" name="">
            <a:extLst xmlns:a="http://schemas.openxmlformats.org/drawingml/2006/main">
              <a:ext uri="{FF2B5EF4-FFF2-40B4-BE49-F238E27FC236}">
                <a16:creationId xmlns:a16="http://schemas.microsoft.com/office/drawing/2014/main" id="{C6BDBC85-BD0A-4D31-916F-C84A1A7E8296}"/>
              </a:ext>
            </a:extLst>
          </p:cNvPr>
          <p:cNvSpPr>
            <a:spLocks xmlns:a="http://schemas.openxmlformats.org/drawingml/2006/main" noGrp="1"/>
          </p:cNvSpPr>
          <p:nvPr/>
        </p:nvSpPr>
        <p:spPr>
          <a:xfrm xmlns:a="http://schemas.openxmlformats.org/drawingml/2006/main">
            <a:off x="68580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36" name="">
            <a:extLst xmlns:a="http://schemas.openxmlformats.org/drawingml/2006/main">
              <a:ext uri="{FF2B5EF4-FFF2-40B4-BE49-F238E27FC236}">
                <a16:creationId xmlns:a16="http://schemas.microsoft.com/office/drawing/2014/main" id="{09BE4D5E-582A-43FF-8EA0-CEC45CBC092F}"/>
              </a:ext>
            </a:extLst>
          </p:cNvPr>
          <p:cNvSpPr>
            <a:spLocks xmlns:a="http://schemas.openxmlformats.org/drawingml/2006/main" noGrp="1"/>
          </p:cNvSpPr>
          <p:nvPr/>
        </p:nvSpPr>
        <p:spPr>
          <a:xfrm xmlns:a="http://schemas.openxmlformats.org/drawingml/2006/main">
            <a:off x="81915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E45D7D2-59BC-44D0-AA67-8C057E2C8DE3}"/>
              </a:ext>
            </a:extLst>
          </p:cNvPr>
          <p:cNvSpPr>
            <a:spLocks xmlns:a="http://schemas.openxmlformats.org/drawingml/2006/main" noGrp="1"/>
          </p:cNvSpPr>
          <p:nvPr/>
        </p:nvSpPr>
        <p:spPr>
          <a:xfrm xmlns:a="http://schemas.openxmlformats.org/drawingml/2006/main">
            <a:off x="81915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8" name="">
            <a:extLst xmlns:a="http://schemas.openxmlformats.org/drawingml/2006/main">
              <a:ext uri="{FF2B5EF4-FFF2-40B4-BE49-F238E27FC236}">
                <a16:creationId xmlns:a16="http://schemas.microsoft.com/office/drawing/2014/main" id="{0FC990A4-4D8E-4914-A96C-23C63493A153}"/>
              </a:ext>
            </a:extLst>
          </p:cNvPr>
          <p:cNvSpPr>
            <a:spLocks xmlns:a="http://schemas.openxmlformats.org/drawingml/2006/main" noGrp="1"/>
          </p:cNvSpPr>
          <p:nvPr/>
        </p:nvSpPr>
        <p:spPr>
          <a:xfrm xmlns:a="http://schemas.openxmlformats.org/drawingml/2006/main">
            <a:off x="120015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Chia tập</a:t>
            </a:r>
          </a:p>
        </p:txBody>
      </p:sp>
      <p:sp>
        <p:nvSpPr>
          <p:cNvPr id="39" name="">
            <a:extLst xmlns:a="http://schemas.openxmlformats.org/drawingml/2006/main">
              <a:ext uri="{FF2B5EF4-FFF2-40B4-BE49-F238E27FC236}">
                <a16:creationId xmlns:a16="http://schemas.microsoft.com/office/drawing/2014/main" id="{E11EB938-0855-44D0-83BE-1FBD57532FC7}"/>
              </a:ext>
            </a:extLst>
          </p:cNvPr>
          <p:cNvSpPr>
            <a:spLocks xmlns:a="http://schemas.openxmlformats.org/drawingml/2006/main" noGrp="1"/>
          </p:cNvSpPr>
          <p:nvPr/>
        </p:nvSpPr>
        <p:spPr>
          <a:xfrm xmlns:a="http://schemas.openxmlformats.org/drawingml/2006/main">
            <a:off x="83820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70 / 15 / 15</a:t>
            </a:r>
          </a:p>
        </p:txBody>
      </p:sp>
      <p:sp>
        <p:nvSpPr>
          <p:cNvPr id="40" name="">
            <a:extLst xmlns:a="http://schemas.openxmlformats.org/drawingml/2006/main">
              <a:ext uri="{FF2B5EF4-FFF2-40B4-BE49-F238E27FC236}">
                <a16:creationId xmlns:a16="http://schemas.microsoft.com/office/drawing/2014/main" id="{05DB7641-DF86-4DE2-BB93-7FE559A9A9F3}"/>
              </a:ext>
            </a:extLst>
          </p:cNvPr>
          <p:cNvSpPr>
            <a:spLocks xmlns:a="http://schemas.openxmlformats.org/drawingml/2006/main" noGrp="1"/>
          </p:cNvSpPr>
          <p:nvPr/>
        </p:nvSpPr>
        <p:spPr>
          <a:xfrm xmlns:a="http://schemas.openxmlformats.org/drawingml/2006/main">
            <a:off x="340995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41" name="">
            <a:extLst xmlns:a="http://schemas.openxmlformats.org/drawingml/2006/main">
              <a:ext uri="{FF2B5EF4-FFF2-40B4-BE49-F238E27FC236}">
                <a16:creationId xmlns:a16="http://schemas.microsoft.com/office/drawing/2014/main" id="{4661C173-1345-4250-8D4E-7FCC06C485A7}"/>
              </a:ext>
            </a:extLst>
          </p:cNvPr>
          <p:cNvSpPr>
            <a:spLocks xmlns:a="http://schemas.openxmlformats.org/drawingml/2006/main" noGrp="1"/>
          </p:cNvSpPr>
          <p:nvPr/>
        </p:nvSpPr>
        <p:spPr>
          <a:xfrm xmlns:a="http://schemas.openxmlformats.org/drawingml/2006/main">
            <a:off x="354330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04BED24-4B8B-4A3D-A6F6-24FB9A017379}"/>
              </a:ext>
            </a:extLst>
          </p:cNvPr>
          <p:cNvSpPr>
            <a:spLocks xmlns:a="http://schemas.openxmlformats.org/drawingml/2006/main" noGrp="1"/>
          </p:cNvSpPr>
          <p:nvPr/>
        </p:nvSpPr>
        <p:spPr>
          <a:xfrm xmlns:a="http://schemas.openxmlformats.org/drawingml/2006/main">
            <a:off x="354330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6</a:t>
            </a:r>
          </a:p>
        </p:txBody>
      </p:sp>
      <p:sp>
        <p:nvSpPr>
          <p:cNvPr id="43" name="">
            <a:extLst xmlns:a="http://schemas.openxmlformats.org/drawingml/2006/main">
              <a:ext uri="{FF2B5EF4-FFF2-40B4-BE49-F238E27FC236}">
                <a16:creationId xmlns:a16="http://schemas.microsoft.com/office/drawing/2014/main" id="{12A898B7-C94E-403F-93DA-81C4BA40AEB8}"/>
              </a:ext>
            </a:extLst>
          </p:cNvPr>
          <p:cNvSpPr>
            <a:spLocks xmlns:a="http://schemas.openxmlformats.org/drawingml/2006/main" noGrp="1"/>
          </p:cNvSpPr>
          <p:nvPr/>
        </p:nvSpPr>
        <p:spPr>
          <a:xfrm xmlns:a="http://schemas.openxmlformats.org/drawingml/2006/main">
            <a:off x="392430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Biến đổi</a:t>
            </a:r>
          </a:p>
        </p:txBody>
      </p:sp>
      <p:sp>
        <p:nvSpPr>
          <p:cNvPr id="44" name="">
            <a:extLst xmlns:a="http://schemas.openxmlformats.org/drawingml/2006/main">
              <a:ext uri="{FF2B5EF4-FFF2-40B4-BE49-F238E27FC236}">
                <a16:creationId xmlns:a16="http://schemas.microsoft.com/office/drawing/2014/main" id="{0978B35C-C2E8-4236-8AF0-A58693D025C0}"/>
              </a:ext>
            </a:extLst>
          </p:cNvPr>
          <p:cNvSpPr>
            <a:spLocks xmlns:a="http://schemas.openxmlformats.org/drawingml/2006/main" noGrp="1"/>
          </p:cNvSpPr>
          <p:nvPr/>
        </p:nvSpPr>
        <p:spPr>
          <a:xfrm xmlns:a="http://schemas.openxmlformats.org/drawingml/2006/main">
            <a:off x="356235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log1p(price)</a:t>
            </a:r>
          </a:p>
        </p:txBody>
      </p:sp>
      <p:sp>
        <p:nvSpPr>
          <p:cNvPr id="45" name="">
            <a:extLst xmlns:a="http://schemas.openxmlformats.org/drawingml/2006/main">
              <a:ext uri="{FF2B5EF4-FFF2-40B4-BE49-F238E27FC236}">
                <a16:creationId xmlns:a16="http://schemas.microsoft.com/office/drawing/2014/main" id="{781CD284-71FA-4EC5-AF39-ADA9D1C84931}"/>
              </a:ext>
            </a:extLst>
          </p:cNvPr>
          <p:cNvSpPr>
            <a:spLocks xmlns:a="http://schemas.openxmlformats.org/drawingml/2006/main" noGrp="1"/>
          </p:cNvSpPr>
          <p:nvPr/>
        </p:nvSpPr>
        <p:spPr>
          <a:xfrm xmlns:a="http://schemas.openxmlformats.org/drawingml/2006/main">
            <a:off x="613410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46" name="">
            <a:extLst xmlns:a="http://schemas.openxmlformats.org/drawingml/2006/main">
              <a:ext uri="{FF2B5EF4-FFF2-40B4-BE49-F238E27FC236}">
                <a16:creationId xmlns:a16="http://schemas.microsoft.com/office/drawing/2014/main" id="{571B67BA-3636-4531-ACBA-7AC96BBF2616}"/>
              </a:ext>
            </a:extLst>
          </p:cNvPr>
          <p:cNvSpPr>
            <a:spLocks xmlns:a="http://schemas.openxmlformats.org/drawingml/2006/main" noGrp="1"/>
          </p:cNvSpPr>
          <p:nvPr/>
        </p:nvSpPr>
        <p:spPr>
          <a:xfrm xmlns:a="http://schemas.openxmlformats.org/drawingml/2006/main">
            <a:off x="626745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2301884-E7C1-4509-9C35-5E55847B72D6}"/>
              </a:ext>
            </a:extLst>
          </p:cNvPr>
          <p:cNvSpPr>
            <a:spLocks xmlns:a="http://schemas.openxmlformats.org/drawingml/2006/main" noGrp="1"/>
          </p:cNvSpPr>
          <p:nvPr/>
        </p:nvSpPr>
        <p:spPr>
          <a:xfrm xmlns:a="http://schemas.openxmlformats.org/drawingml/2006/main">
            <a:off x="626745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7</a:t>
            </a:r>
          </a:p>
        </p:txBody>
      </p:sp>
      <p:sp>
        <p:nvSpPr>
          <p:cNvPr id="48" name="">
            <a:extLst xmlns:a="http://schemas.openxmlformats.org/drawingml/2006/main">
              <a:ext uri="{FF2B5EF4-FFF2-40B4-BE49-F238E27FC236}">
                <a16:creationId xmlns:a16="http://schemas.microsoft.com/office/drawing/2014/main" id="{F8C5E3D0-4F93-417A-BEE9-D00BB66F8EC1}"/>
              </a:ext>
            </a:extLst>
          </p:cNvPr>
          <p:cNvSpPr>
            <a:spLocks xmlns:a="http://schemas.openxmlformats.org/drawingml/2006/main" noGrp="1"/>
          </p:cNvSpPr>
          <p:nvPr/>
        </p:nvSpPr>
        <p:spPr>
          <a:xfrm xmlns:a="http://schemas.openxmlformats.org/drawingml/2006/main">
            <a:off x="664845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Scaling</a:t>
            </a:r>
          </a:p>
        </p:txBody>
      </p:sp>
      <p:sp>
        <p:nvSpPr>
          <p:cNvPr id="49" name="">
            <a:extLst xmlns:a="http://schemas.openxmlformats.org/drawingml/2006/main">
              <a:ext uri="{FF2B5EF4-FFF2-40B4-BE49-F238E27FC236}">
                <a16:creationId xmlns:a16="http://schemas.microsoft.com/office/drawing/2014/main" id="{BD1100A6-2607-4100-BCF1-845133191420}"/>
              </a:ext>
            </a:extLst>
          </p:cNvPr>
          <p:cNvSpPr>
            <a:spLocks xmlns:a="http://schemas.openxmlformats.org/drawingml/2006/main" noGrp="1"/>
          </p:cNvSpPr>
          <p:nvPr/>
        </p:nvSpPr>
        <p:spPr>
          <a:xfrm xmlns:a="http://schemas.openxmlformats.org/drawingml/2006/main">
            <a:off x="628650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fit trên train</a:t>
            </a:r>
          </a:p>
        </p:txBody>
      </p:sp>
      <p:sp>
        <p:nvSpPr>
          <p:cNvPr id="50" name="">
            <a:extLst xmlns:a="http://schemas.openxmlformats.org/drawingml/2006/main">
              <a:ext uri="{FF2B5EF4-FFF2-40B4-BE49-F238E27FC236}">
                <a16:creationId xmlns:a16="http://schemas.microsoft.com/office/drawing/2014/main" id="{B58377CF-EAA9-41E6-B6F0-3A8B3AB29B9F}"/>
              </a:ext>
            </a:extLst>
          </p:cNvPr>
          <p:cNvSpPr>
            <a:spLocks xmlns:a="http://schemas.openxmlformats.org/drawingml/2006/main" noGrp="1"/>
          </p:cNvSpPr>
          <p:nvPr/>
        </p:nvSpPr>
        <p:spPr>
          <a:xfrm xmlns:a="http://schemas.openxmlformats.org/drawingml/2006/main">
            <a:off x="885825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51" name="">
            <a:extLst xmlns:a="http://schemas.openxmlformats.org/drawingml/2006/main">
              <a:ext uri="{FF2B5EF4-FFF2-40B4-BE49-F238E27FC236}">
                <a16:creationId xmlns:a16="http://schemas.microsoft.com/office/drawing/2014/main" id="{F4D93330-2CFB-46BE-B02C-5A6E736A29CE}"/>
              </a:ext>
            </a:extLst>
          </p:cNvPr>
          <p:cNvSpPr>
            <a:spLocks xmlns:a="http://schemas.openxmlformats.org/drawingml/2006/main" noGrp="1"/>
          </p:cNvSpPr>
          <p:nvPr/>
        </p:nvSpPr>
        <p:spPr>
          <a:xfrm xmlns:a="http://schemas.openxmlformats.org/drawingml/2006/main">
            <a:off x="899160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0700E0B5-9933-46A2-ABFB-8972EDAB4F3B}"/>
              </a:ext>
            </a:extLst>
          </p:cNvPr>
          <p:cNvSpPr>
            <a:spLocks xmlns:a="http://schemas.openxmlformats.org/drawingml/2006/main" noGrp="1"/>
          </p:cNvSpPr>
          <p:nvPr/>
        </p:nvSpPr>
        <p:spPr>
          <a:xfrm xmlns:a="http://schemas.openxmlformats.org/drawingml/2006/main">
            <a:off x="899160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8</a:t>
            </a:r>
          </a:p>
        </p:txBody>
      </p:sp>
      <p:sp>
        <p:nvSpPr>
          <p:cNvPr id="53" name="">
            <a:extLst xmlns:a="http://schemas.openxmlformats.org/drawingml/2006/main">
              <a:ext uri="{FF2B5EF4-FFF2-40B4-BE49-F238E27FC236}">
                <a16:creationId xmlns:a16="http://schemas.microsoft.com/office/drawing/2014/main" id="{31CA98EC-D592-42C7-A50A-E2B4E0AFC3E6}"/>
              </a:ext>
            </a:extLst>
          </p:cNvPr>
          <p:cNvSpPr>
            <a:spLocks xmlns:a="http://schemas.openxmlformats.org/drawingml/2006/main" noGrp="1"/>
          </p:cNvSpPr>
          <p:nvPr/>
        </p:nvSpPr>
        <p:spPr>
          <a:xfrm xmlns:a="http://schemas.openxmlformats.org/drawingml/2006/main">
            <a:off x="937260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Windowing</a:t>
            </a:r>
          </a:p>
        </p:txBody>
      </p:sp>
      <p:sp>
        <p:nvSpPr>
          <p:cNvPr id="54" name="">
            <a:extLst xmlns:a="http://schemas.openxmlformats.org/drawingml/2006/main">
              <a:ext uri="{FF2B5EF4-FFF2-40B4-BE49-F238E27FC236}">
                <a16:creationId xmlns:a16="http://schemas.microsoft.com/office/drawing/2014/main" id="{A8A25383-DB38-4D5F-B7E2-17AA49FE1F7B}"/>
              </a:ext>
            </a:extLst>
          </p:cNvPr>
          <p:cNvSpPr>
            <a:spLocks xmlns:a="http://schemas.openxmlformats.org/drawingml/2006/main" noGrp="1"/>
          </p:cNvSpPr>
          <p:nvPr/>
        </p:nvSpPr>
        <p:spPr>
          <a:xfrm xmlns:a="http://schemas.openxmlformats.org/drawingml/2006/main">
            <a:off x="901065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30 → 1 bước</a:t>
            </a:r>
          </a:p>
        </p:txBody>
      </p:sp>
      <p:sp>
        <p:nvSpPr>
          <p:cNvPr id="55" name="">
            <a:extLst xmlns:a="http://schemas.openxmlformats.org/drawingml/2006/main">
              <a:ext uri="{FF2B5EF4-FFF2-40B4-BE49-F238E27FC236}">
                <a16:creationId xmlns:a16="http://schemas.microsoft.com/office/drawing/2014/main" id="{C5E90128-D0A1-452D-BA23-06C79C4C6913}"/>
              </a:ext>
            </a:extLst>
          </p:cNvPr>
          <p:cNvSpPr>
            <a:spLocks xmlns:a="http://schemas.openxmlformats.org/drawingml/2006/main" noGrp="1"/>
          </p:cNvSpPr>
          <p:nvPr/>
        </p:nvSpPr>
        <p:spPr>
          <a:xfrm xmlns:a="http://schemas.openxmlformats.org/drawingml/2006/main">
            <a:off x="685800" y="5143500"/>
            <a:ext cx="10820400" cy="876300"/>
          </a:xfrm>
          <a:prstGeom xmlns:a="http://schemas.openxmlformats.org/drawingml/2006/main" prst="roundRect">
            <a:avLst>
              <a:gd name="adj" fmla="val 13043"/>
            </a:avLst>
          </a:prstGeom>
          <a:solidFill xmlns:a="http://schemas.openxmlformats.org/drawingml/2006/main">
            <a:srgbClr val="F5E2DE"/>
          </a:solidFill>
          <a:ln xmlns:a="http://schemas.openxmlformats.org/drawingml/2006/main" w="9525">
            <a:solidFill>
              <a:srgbClr val="B65345"/>
            </a:solidFill>
            <a:prstDash val="solid"/>
          </a:ln>
        </p:spPr>
      </p:sp>
      <p:sp>
        <p:nvSpPr>
          <p:cNvPr id="56" name="">
            <a:extLst xmlns:a="http://schemas.openxmlformats.org/drawingml/2006/main">
              <a:ext uri="{FF2B5EF4-FFF2-40B4-BE49-F238E27FC236}">
                <a16:creationId xmlns:a16="http://schemas.microsoft.com/office/drawing/2014/main" id="{62CBB4DC-ADAE-4A99-A2E7-04B60A925D13}"/>
              </a:ext>
            </a:extLst>
          </p:cNvPr>
          <p:cNvSpPr>
            <a:spLocks xmlns:a="http://schemas.openxmlformats.org/drawingml/2006/main" noGrp="1"/>
          </p:cNvSpPr>
          <p:nvPr/>
        </p:nvSpPr>
        <p:spPr>
          <a:xfrm xmlns:a="http://schemas.openxmlformats.org/drawingml/2006/main">
            <a:off x="971550" y="5314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B65345"/>
                </a:solidFill>
                <a:latin typeface="Arial"/>
                <a:ea typeface="Arial"/>
                <a:cs typeface="Arial"/>
              </a:defRPr>
            </a:pPr>
            <a:r>
              <a:rPr sz="1275" b="1" i="0">
                <a:solidFill>
                  <a:srgbClr val="B65345"/>
                </a:solidFill>
                <a:latin typeface="Arial"/>
                <a:ea typeface="Arial"/>
                <a:cs typeface="Arial"/>
              </a:rPr>
              <a:t>Min-Max scaling</a:t>
            </a:r>
          </a:p>
        </p:txBody>
      </p:sp>
      <p:sp>
        <p:nvSpPr>
          <p:cNvPr id="57" name="">
            <a:extLst xmlns:a="http://schemas.openxmlformats.org/drawingml/2006/main">
              <a:ext uri="{FF2B5EF4-FFF2-40B4-BE49-F238E27FC236}">
                <a16:creationId xmlns:a16="http://schemas.microsoft.com/office/drawing/2014/main" id="{7D5E1AB7-FF71-439B-981F-3B25B33B1078}"/>
              </a:ext>
            </a:extLst>
          </p:cNvPr>
          <p:cNvSpPr>
            <a:spLocks xmlns:a="http://schemas.openxmlformats.org/drawingml/2006/main" noGrp="1"/>
          </p:cNvSpPr>
          <p:nvPr/>
        </p:nvSpPr>
        <p:spPr>
          <a:xfrm xmlns:a="http://schemas.openxmlformats.org/drawingml/2006/main">
            <a:off x="2857500" y="52959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latin typeface="Arial"/>
                <a:ea typeface="Arial"/>
                <a:cs typeface="Arial"/>
              </a:defRPr>
            </a:pPr>
            <a:r>
              <a:rPr sz="1650" b="1" i="0">
                <a:solidFill>
                  <a:srgbClr val="102A43"/>
                </a:solidFill>
                <a:latin typeface="Arial"/>
                <a:ea typeface="Arial"/>
                <a:cs typeface="Arial"/>
              </a:rPr>
              <a:t>x_scaled = (x − min_train) / (max_train − min_train)</a:t>
            </a:r>
          </a:p>
        </p:txBody>
      </p:sp>
      <p:sp>
        <p:nvSpPr>
          <p:cNvPr id="58" name="">
            <a:extLst xmlns:a="http://schemas.openxmlformats.org/drawingml/2006/main">
              <a:ext uri="{FF2B5EF4-FFF2-40B4-BE49-F238E27FC236}">
                <a16:creationId xmlns:a16="http://schemas.microsoft.com/office/drawing/2014/main" id="{1A4DAB0E-A820-432F-8B15-C348BFB88FF3}"/>
              </a:ext>
            </a:extLst>
          </p:cNvPr>
          <p:cNvSpPr>
            <a:spLocks xmlns:a="http://schemas.openxmlformats.org/drawingml/2006/main" noGrp="1"/>
          </p:cNvSpPr>
          <p:nvPr/>
        </p:nvSpPr>
        <p:spPr>
          <a:xfrm xmlns:a="http://schemas.openxmlformats.org/drawingml/2006/main">
            <a:off x="2857500" y="5648325"/>
            <a:ext cx="752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B65345"/>
                </a:solidFill>
                <a:latin typeface="Arial"/>
                <a:ea typeface="Arial"/>
                <a:cs typeface="Arial"/>
              </a:defRPr>
            </a:pPr>
            <a:r>
              <a:rPr sz="1200" b="0" i="0">
                <a:solidFill>
                  <a:srgbClr val="B65345"/>
                </a:solidFill>
                <a:latin typeface="Arial"/>
                <a:ea typeface="Arial"/>
                <a:cs typeface="Arial"/>
              </a:rPr>
              <a:t>Scaler chỉ học từ train; fit trên toàn bộ dữ liệu sẽ gây data leakage.</a:t>
            </a:r>
          </a:p>
        </p:txBody>
      </p:sp>
    </p:spTree>
    <p:extLst>
      <p:ext uri="{BB962C8B-B14F-4D97-AF65-F5344CB8AC3E}">
        <p14:creationId xmlns:p14="http://schemas.microsoft.com/office/powerpoint/2010/main" val="1895872388"/>
      </p:ext>
    </p:extLst>
  </p:cSld>
</p:sld>
</file>

<file path=ppt/slides/slide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4DF949-8CA3-43D0-B801-ED00CCC1DA1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519AF1-FABA-4B2B-9DD4-C19B65E98F3D}"/>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6529EB4-8633-4D45-A53E-E7682787DCF1}"/>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Code minh họa: tokenizer và embedding</a:t>
            </a:r>
          </a:p>
        </p:txBody>
      </p:sp>
      <p:sp>
        <p:nvSpPr>
          <p:cNvPr id="4" name="">
            <a:extLst xmlns:a="http://schemas.openxmlformats.org/drawingml/2006/main">
              <a:ext uri="{FF2B5EF4-FFF2-40B4-BE49-F238E27FC236}">
                <a16:creationId xmlns:a16="http://schemas.microsoft.com/office/drawing/2014/main" id="{880CFB34-C364-4492-8AF3-E763213B7697}"/>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Snippet ngắn trên slide; code đầy đủ nằm trong notebook.</a:t>
            </a:r>
          </a:p>
        </p:txBody>
      </p:sp>
      <p:sp>
        <p:nvSpPr>
          <p:cNvPr id="5" name="">
            <a:extLst xmlns:a="http://schemas.openxmlformats.org/drawingml/2006/main">
              <a:ext uri="{FF2B5EF4-FFF2-40B4-BE49-F238E27FC236}">
                <a16:creationId xmlns:a16="http://schemas.microsoft.com/office/drawing/2014/main" id="{F29903D5-C0CF-44E8-84AC-125DFB08194E}"/>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9D6C06C5-0AA1-43F2-9E02-09F11BDD41DE}"/>
              </a:ext>
            </a:extLst>
          </p:cNvPr>
          <p:cNvSpPr>
            <a:spLocks xmlns:a="http://schemas.openxmlformats.org/drawingml/2006/main" noGrp="1"/>
          </p:cNvSpPr>
          <p:nvPr/>
        </p:nvSpPr>
        <p:spPr>
          <a:xfrm xmlns:a="http://schemas.openxmlformats.org/drawingml/2006/main">
            <a:off x="685800" y="1666875"/>
            <a:ext cx="6191250" cy="4000500"/>
          </a:xfrm>
          <a:prstGeom xmlns:a="http://schemas.openxmlformats.org/drawingml/2006/main" prst="roundRect">
            <a:avLst>
              <a:gd name="adj" fmla="val 2857"/>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2FF06A91-63C9-4974-A65A-7332A12D0C6F}"/>
              </a:ext>
            </a:extLst>
          </p:cNvPr>
          <p:cNvSpPr>
            <a:spLocks xmlns:a="http://schemas.openxmlformats.org/drawingml/2006/main" noGrp="1"/>
          </p:cNvSpPr>
          <p:nvPr/>
        </p:nvSpPr>
        <p:spPr>
          <a:xfrm xmlns:a="http://schemas.openxmlformats.org/drawingml/2006/main">
            <a:off x="857250" y="1819275"/>
            <a:ext cx="5848350" cy="373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tokens = text.lower().split()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vocab = {'&lt;PAD&gt;': 0, '&lt;UNK&gt;': 1}</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encoded =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vocab.get(token, vocab['&lt;UNK&gt;'])</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for token in tokens</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padded = encoded[:max_len] + [0] *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max_len - len(encoded)</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embedding = nn.Embedding(</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len(vocab), embedding_dim=8,</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padding_idx=0</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DA37E39A-43C2-4E0F-8638-7DEF3FA0A5B6}"/>
              </a:ext>
            </a:extLst>
          </p:cNvPr>
          <p:cNvSpPr>
            <a:spLocks xmlns:a="http://schemas.openxmlformats.org/drawingml/2006/main" noGrp="1"/>
          </p:cNvSpPr>
          <p:nvPr/>
        </p:nvSpPr>
        <p:spPr>
          <a:xfrm xmlns:a="http://schemas.openxmlformats.org/drawingml/2006/main">
            <a:off x="7334250" y="1666875"/>
            <a:ext cx="4171950" cy="400050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F1C07C74-9CB3-4668-9715-BD272D8AE1CC}"/>
              </a:ext>
            </a:extLst>
          </p:cNvPr>
          <p:cNvSpPr>
            <a:spLocks xmlns:a="http://schemas.openxmlformats.org/drawingml/2006/main" noGrp="1"/>
          </p:cNvSpPr>
          <p:nvPr/>
        </p:nvSpPr>
        <p:spPr>
          <a:xfrm xmlns:a="http://schemas.openxmlformats.org/drawingml/2006/main">
            <a:off x="7715250" y="20002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latin typeface="Arial"/>
                <a:ea typeface="Arial"/>
                <a:cs typeface="Arial"/>
              </a:defRPr>
            </a:pPr>
            <a:r>
              <a:rPr sz="1875" b="1" i="0">
                <a:solidFill>
                  <a:srgbClr val="102A43"/>
                </a:solidFill>
                <a:latin typeface="Arial"/>
                <a:ea typeface="Arial"/>
                <a:cs typeface="Arial"/>
              </a:rPr>
              <a:t>Kết quả shape</a:t>
            </a:r>
          </a:p>
        </p:txBody>
      </p:sp>
      <p:sp>
        <p:nvSpPr>
          <p:cNvPr id="10" name="">
            <a:extLst xmlns:a="http://schemas.openxmlformats.org/drawingml/2006/main">
              <a:ext uri="{FF2B5EF4-FFF2-40B4-BE49-F238E27FC236}">
                <a16:creationId xmlns:a16="http://schemas.microsoft.com/office/drawing/2014/main" id="{A5A8F277-FCBA-4EA0-B8D6-D82B31A8312B}"/>
              </a:ext>
            </a:extLst>
          </p:cNvPr>
          <p:cNvSpPr>
            <a:spLocks xmlns:a="http://schemas.openxmlformats.org/drawingml/2006/main" noGrp="1"/>
          </p:cNvSpPr>
          <p:nvPr/>
        </p:nvSpPr>
        <p:spPr>
          <a:xfrm xmlns:a="http://schemas.openxmlformats.org/drawingml/2006/main">
            <a:off x="7715250" y="2762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D6A8F"/>
                </a:solidFill>
                <a:latin typeface="Arial"/>
                <a:ea typeface="Arial"/>
                <a:cs typeface="Arial"/>
              </a:defRPr>
            </a:pPr>
            <a:r>
              <a:rPr sz="1425" b="1" i="0">
                <a:solidFill>
                  <a:srgbClr val="2D6A8F"/>
                </a:solidFill>
                <a:latin typeface="Arial"/>
                <a:ea typeface="Arial"/>
                <a:cs typeface="Arial"/>
              </a:rPr>
              <a:t>token_ids</a:t>
            </a:r>
          </a:p>
        </p:txBody>
      </p:sp>
      <p:sp>
        <p:nvSpPr>
          <p:cNvPr id="11" name="">
            <a:extLst xmlns:a="http://schemas.openxmlformats.org/drawingml/2006/main">
              <a:ext uri="{FF2B5EF4-FFF2-40B4-BE49-F238E27FC236}">
                <a16:creationId xmlns:a16="http://schemas.microsoft.com/office/drawing/2014/main" id="{63C7B538-8FB5-4C90-88DF-9852FF1BD22A}"/>
              </a:ext>
            </a:extLst>
          </p:cNvPr>
          <p:cNvSpPr>
            <a:spLocks xmlns:a="http://schemas.openxmlformats.org/drawingml/2006/main" noGrp="1"/>
          </p:cNvSpPr>
          <p:nvPr/>
        </p:nvSpPr>
        <p:spPr>
          <a:xfrm xmlns:a="http://schemas.openxmlformats.org/drawingml/2006/main">
            <a:off x="9525000" y="27336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2100" b="1" i="0">
                <a:solidFill>
                  <a:srgbClr val="102A43"/>
                </a:solidFill>
                <a:latin typeface="Arial"/>
                <a:ea typeface="Arial"/>
                <a:cs typeface="Arial"/>
              </a:defRPr>
            </a:pPr>
            <a:r>
              <a:rPr sz="2100" b="1" i="0">
                <a:solidFill>
                  <a:srgbClr val="102A43"/>
                </a:solidFill>
                <a:latin typeface="Arial"/>
                <a:ea typeface="Arial"/>
                <a:cs typeface="Arial"/>
              </a:rPr>
              <a:t>(4, 6)</a:t>
            </a:r>
          </a:p>
        </p:txBody>
      </p:sp>
      <p:sp>
        <p:nvSpPr>
          <p:cNvPr id="12" name="">
            <a:extLst xmlns:a="http://schemas.openxmlformats.org/drawingml/2006/main">
              <a:ext uri="{FF2B5EF4-FFF2-40B4-BE49-F238E27FC236}">
                <a16:creationId xmlns:a16="http://schemas.microsoft.com/office/drawing/2014/main" id="{8BEA6F14-8E63-4BA6-B911-8D0FB5F383B5}"/>
              </a:ext>
            </a:extLst>
          </p:cNvPr>
          <p:cNvSpPr>
            <a:spLocks xmlns:a="http://schemas.openxmlformats.org/drawingml/2006/main" noGrp="1"/>
          </p:cNvSpPr>
          <p:nvPr/>
        </p:nvSpPr>
        <p:spPr>
          <a:xfrm xmlns:a="http://schemas.openxmlformats.org/drawingml/2006/main">
            <a:off x="7715250" y="3238500"/>
            <a:ext cx="31432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42DE73-45EA-4725-874A-91C7D58BC025}"/>
              </a:ext>
            </a:extLst>
          </p:cNvPr>
          <p:cNvSpPr>
            <a:spLocks xmlns:a="http://schemas.openxmlformats.org/drawingml/2006/main" noGrp="1"/>
          </p:cNvSpPr>
          <p:nvPr/>
        </p:nvSpPr>
        <p:spPr>
          <a:xfrm xmlns:a="http://schemas.openxmlformats.org/drawingml/2006/main">
            <a:off x="7715250" y="35718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C58B2A"/>
                </a:solidFill>
                <a:latin typeface="Arial"/>
                <a:ea typeface="Arial"/>
                <a:cs typeface="Arial"/>
              </a:defRPr>
            </a:pPr>
            <a:r>
              <a:rPr sz="1425" b="1" i="0">
                <a:solidFill>
                  <a:srgbClr val="C58B2A"/>
                </a:solidFill>
                <a:latin typeface="Arial"/>
                <a:ea typeface="Arial"/>
                <a:cs typeface="Arial"/>
              </a:rPr>
              <a:t>embedding</a:t>
            </a:r>
          </a:p>
        </p:txBody>
      </p:sp>
      <p:sp>
        <p:nvSpPr>
          <p:cNvPr id="14" name="">
            <a:extLst xmlns:a="http://schemas.openxmlformats.org/drawingml/2006/main">
              <a:ext uri="{FF2B5EF4-FFF2-40B4-BE49-F238E27FC236}">
                <a16:creationId xmlns:a16="http://schemas.microsoft.com/office/drawing/2014/main" id="{07C92994-5A9F-4AB2-A1DD-91AE66B12AF5}"/>
              </a:ext>
            </a:extLst>
          </p:cNvPr>
          <p:cNvSpPr>
            <a:spLocks xmlns:a="http://schemas.openxmlformats.org/drawingml/2006/main" noGrp="1"/>
          </p:cNvSpPr>
          <p:nvPr/>
        </p:nvSpPr>
        <p:spPr>
          <a:xfrm xmlns:a="http://schemas.openxmlformats.org/drawingml/2006/main">
            <a:off x="9334500" y="35433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2100" b="1" i="0">
                <a:solidFill>
                  <a:srgbClr val="102A43"/>
                </a:solidFill>
                <a:latin typeface="Arial"/>
                <a:ea typeface="Arial"/>
                <a:cs typeface="Arial"/>
              </a:defRPr>
            </a:pPr>
            <a:r>
              <a:rPr sz="2100" b="1" i="0">
                <a:solidFill>
                  <a:srgbClr val="102A43"/>
                </a:solidFill>
                <a:latin typeface="Arial"/>
                <a:ea typeface="Arial"/>
                <a:cs typeface="Arial"/>
              </a:rPr>
              <a:t>(4, 6, 8)</a:t>
            </a:r>
          </a:p>
        </p:txBody>
      </p:sp>
      <p:sp>
        <p:nvSpPr>
          <p:cNvPr id="15" name="">
            <a:extLst xmlns:a="http://schemas.openxmlformats.org/drawingml/2006/main">
              <a:ext uri="{FF2B5EF4-FFF2-40B4-BE49-F238E27FC236}">
                <a16:creationId xmlns:a16="http://schemas.microsoft.com/office/drawing/2014/main" id="{A0D9979E-7475-475E-89C1-D63A812E65D8}"/>
              </a:ext>
            </a:extLst>
          </p:cNvPr>
          <p:cNvSpPr>
            <a:spLocks xmlns:a="http://schemas.openxmlformats.org/drawingml/2006/main" noGrp="1"/>
          </p:cNvSpPr>
          <p:nvPr/>
        </p:nvSpPr>
        <p:spPr>
          <a:xfrm xmlns:a="http://schemas.openxmlformats.org/drawingml/2006/main">
            <a:off x="7715250" y="4476750"/>
            <a:ext cx="3143250" cy="781050"/>
          </a:xfrm>
          <a:prstGeom xmlns:a="http://schemas.openxmlformats.org/drawingml/2006/main" prst="roundRect">
            <a:avLst>
              <a:gd name="adj" fmla="val 14634"/>
            </a:avLst>
          </a:prstGeom>
          <a:solidFill xmlns:a="http://schemas.openxmlformats.org/drawingml/2006/main">
            <a:srgbClr val="F2E5C4"/>
          </a:solidFill>
          <a:ln xmlns:a="http://schemas.openxmlformats.org/drawingml/2006/main" w="9525">
            <a:solidFill>
              <a:srgbClr val="C58B2A"/>
            </a:solidFill>
            <a:prstDash val="solid"/>
          </a:ln>
        </p:spPr>
      </p:sp>
      <p:sp>
        <p:nvSpPr>
          <p:cNvPr id="16" name="">
            <a:extLst xmlns:a="http://schemas.openxmlformats.org/drawingml/2006/main">
              <a:ext uri="{FF2B5EF4-FFF2-40B4-BE49-F238E27FC236}">
                <a16:creationId xmlns:a16="http://schemas.microsoft.com/office/drawing/2014/main" id="{034EFD16-56E0-457A-BAFE-9184A6EDECF7}"/>
              </a:ext>
            </a:extLst>
          </p:cNvPr>
          <p:cNvSpPr>
            <a:spLocks xmlns:a="http://schemas.openxmlformats.org/drawingml/2006/main" noGrp="1"/>
          </p:cNvSpPr>
          <p:nvPr/>
        </p:nvSpPr>
        <p:spPr>
          <a:xfrm xmlns:a="http://schemas.openxmlformats.org/drawingml/2006/main">
            <a:off x="7905750" y="46863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02A43"/>
                </a:solidFill>
                <a:latin typeface="Arial"/>
                <a:ea typeface="Arial"/>
                <a:cs typeface="Arial"/>
              </a:defRPr>
            </a:pPr>
            <a:r>
              <a:rPr sz="1200" b="1" i="0">
                <a:solidFill>
                  <a:srgbClr val="102A43"/>
                </a:solidFill>
                <a:latin typeface="Arial"/>
                <a:ea typeface="Arial"/>
                <a:cs typeface="Arial"/>
              </a:rPr>
              <a:t>Trong NLP, input là ID rời rạc nên cần embedding.</a:t>
            </a:r>
          </a:p>
        </p:txBody>
      </p:sp>
    </p:spTree>
    <p:extLst>
      <p:ext uri="{BB962C8B-B14F-4D97-AF65-F5344CB8AC3E}">
        <p14:creationId xmlns:p14="http://schemas.microsoft.com/office/powerpoint/2010/main" val="331166090"/>
      </p:ext>
    </p:extLst>
  </p:cSld>
</p:sld>
</file>

<file path=ppt/slides/slide6.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84BAD4-001F-4308-98DC-744D41213E1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A6A168-38F6-4551-A191-A932EBA9C230}"/>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D4B15CD-F928-4B63-AA4C-F238235C41B4}"/>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Code minh họa: chuỗi giá vàng</a:t>
            </a:r>
          </a:p>
        </p:txBody>
      </p:sp>
      <p:sp>
        <p:nvSpPr>
          <p:cNvPr id="4" name="">
            <a:extLst xmlns:a="http://schemas.openxmlformats.org/drawingml/2006/main">
              <a:ext uri="{FF2B5EF4-FFF2-40B4-BE49-F238E27FC236}">
                <a16:creationId xmlns:a16="http://schemas.microsoft.com/office/drawing/2014/main" id="{E33BFFEE-1FA5-4237-B106-3290430443B9}"/>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Giá vàng không qua tokenizer; giá được làm sạch, biến đổi và cắt cửa sổ.</a:t>
            </a:r>
          </a:p>
        </p:txBody>
      </p:sp>
      <p:sp>
        <p:nvSpPr>
          <p:cNvPr id="5" name="">
            <a:extLst xmlns:a="http://schemas.openxmlformats.org/drawingml/2006/main">
              <a:ext uri="{FF2B5EF4-FFF2-40B4-BE49-F238E27FC236}">
                <a16:creationId xmlns:a16="http://schemas.microsoft.com/office/drawing/2014/main" id="{47A9992B-35F1-4028-B337-5AF488F86300}"/>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91C8AF9E-889A-4DB5-B133-31AA2E890B72}"/>
              </a:ext>
            </a:extLst>
          </p:cNvPr>
          <p:cNvSpPr>
            <a:spLocks xmlns:a="http://schemas.openxmlformats.org/drawingml/2006/main" noGrp="1"/>
          </p:cNvSpPr>
          <p:nvPr/>
        </p:nvSpPr>
        <p:spPr>
          <a:xfrm xmlns:a="http://schemas.openxmlformats.org/drawingml/2006/main">
            <a:off x="685800" y="1638300"/>
            <a:ext cx="6572250" cy="4095750"/>
          </a:xfrm>
          <a:prstGeom xmlns:a="http://schemas.openxmlformats.org/drawingml/2006/main" prst="roundRect">
            <a:avLst>
              <a:gd name="adj" fmla="val 2791"/>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CC99859B-8CC7-4B63-B434-500502EE5902}"/>
              </a:ext>
            </a:extLst>
          </p:cNvPr>
          <p:cNvSpPr>
            <a:spLocks xmlns:a="http://schemas.openxmlformats.org/drawingml/2006/main" noGrp="1"/>
          </p:cNvSpPr>
          <p:nvPr/>
        </p:nvSpPr>
        <p:spPr>
          <a:xfrm xmlns:a="http://schemas.openxmlformats.org/drawingml/2006/main">
            <a:off x="857250" y="1790700"/>
            <a:ext cx="6229350" cy="382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df['date'] = pd.to_datetime(df['date'])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df['price'] = pd.to_numeric(df['price'])</a:t>
            </a:r>
          </a:p>
          <a:p xmlns:a="http://schemas.openxmlformats.org/drawingml/2006/main">
            <a:r>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 =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df.dropna(subset=['date', 'price'])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.drop_duplicates('date')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.sort_values('date')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a:t>
            </a:r>
          </a:p>
          <a:p xmlns:a="http://schemas.openxmlformats.org/drawingml/2006/main">
            <a:r>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raw_prices = df['price'].to_numpy().reshape(-1, 1)</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values = np.log1p(raw_prices)</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scaler.fit(values[:train_end])</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scaled_values = scaler.transform(values)</a:t>
            </a:r>
          </a:p>
        </p:txBody>
      </p:sp>
      <p:sp>
        <p:nvSpPr>
          <p:cNvPr id="8" name="">
            <a:extLst xmlns:a="http://schemas.openxmlformats.org/drawingml/2006/main">
              <a:ext uri="{FF2B5EF4-FFF2-40B4-BE49-F238E27FC236}">
                <a16:creationId xmlns:a16="http://schemas.microsoft.com/office/drawing/2014/main" id="{5C87A47D-3C16-4FE2-958A-E3DCBC25B8FB}"/>
              </a:ext>
            </a:extLst>
          </p:cNvPr>
          <p:cNvSpPr>
            <a:spLocks xmlns:a="http://schemas.openxmlformats.org/drawingml/2006/main" noGrp="1"/>
          </p:cNvSpPr>
          <p:nvPr/>
        </p:nvSpPr>
        <p:spPr>
          <a:xfrm xmlns:a="http://schemas.openxmlformats.org/drawingml/2006/main">
            <a:off x="7715250" y="1638300"/>
            <a:ext cx="3790950" cy="4095750"/>
          </a:xfrm>
          <a:prstGeom xmlns:a="http://schemas.openxmlformats.org/drawingml/2006/main" prst="roundRect">
            <a:avLst>
              <a:gd name="adj" fmla="val 4020"/>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2A1F3C89-D5C1-4DAA-94CA-51F357CCB584}"/>
              </a:ext>
            </a:extLst>
          </p:cNvPr>
          <p:cNvSpPr>
            <a:spLocks xmlns:a="http://schemas.openxmlformats.org/drawingml/2006/main" noGrp="1"/>
          </p:cNvSpPr>
          <p:nvPr/>
        </p:nvSpPr>
        <p:spPr>
          <a:xfrm xmlns:a="http://schemas.openxmlformats.org/drawingml/2006/main">
            <a:off x="8020050" y="2000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02A43"/>
                </a:solidFill>
                <a:latin typeface="Arial"/>
                <a:ea typeface="Arial"/>
                <a:cs typeface="Arial"/>
              </a:defRPr>
            </a:pPr>
            <a:r>
              <a:rPr sz="1800" b="1" i="0">
                <a:solidFill>
                  <a:srgbClr val="102A43"/>
                </a:solidFill>
                <a:latin typeface="Arial"/>
                <a:ea typeface="Arial"/>
                <a:cs typeface="Arial"/>
              </a:rPr>
              <a:t>Tensor đưa vào RNN</a:t>
            </a:r>
          </a:p>
        </p:txBody>
      </p:sp>
      <p:sp>
        <p:nvSpPr>
          <p:cNvPr id="10" name="">
            <a:extLst xmlns:a="http://schemas.openxmlformats.org/drawingml/2006/main">
              <a:ext uri="{FF2B5EF4-FFF2-40B4-BE49-F238E27FC236}">
                <a16:creationId xmlns:a16="http://schemas.microsoft.com/office/drawing/2014/main" id="{14AD541F-3A79-4917-8039-9C198453D8BD}"/>
              </a:ext>
            </a:extLst>
          </p:cNvPr>
          <p:cNvSpPr>
            <a:spLocks xmlns:a="http://schemas.openxmlformats.org/drawingml/2006/main" noGrp="1"/>
          </p:cNvSpPr>
          <p:nvPr/>
        </p:nvSpPr>
        <p:spPr>
          <a:xfrm xmlns:a="http://schemas.openxmlformats.org/drawingml/2006/main">
            <a:off x="8020050" y="2714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2D6A8F"/>
                </a:solidFill>
                <a:latin typeface="Arial"/>
                <a:ea typeface="Arial"/>
                <a:cs typeface="Arial"/>
              </a:defRPr>
            </a:pPr>
            <a:r>
              <a:rPr sz="1650" b="1" i="0">
                <a:solidFill>
                  <a:srgbClr val="2D6A8F"/>
                </a:solidFill>
                <a:latin typeface="Arial"/>
                <a:ea typeface="Arial"/>
                <a:cs typeface="Arial"/>
              </a:rPr>
              <a:t>X_train</a:t>
            </a:r>
          </a:p>
        </p:txBody>
      </p:sp>
      <p:sp>
        <p:nvSpPr>
          <p:cNvPr id="11" name="">
            <a:extLst xmlns:a="http://schemas.openxmlformats.org/drawingml/2006/main">
              <a:ext uri="{FF2B5EF4-FFF2-40B4-BE49-F238E27FC236}">
                <a16:creationId xmlns:a16="http://schemas.microsoft.com/office/drawing/2014/main" id="{47EB892F-F9E6-4037-AE1A-0B1706169F91}"/>
              </a:ext>
            </a:extLst>
          </p:cNvPr>
          <p:cNvSpPr>
            <a:spLocks xmlns:a="http://schemas.openxmlformats.org/drawingml/2006/main" noGrp="1"/>
          </p:cNvSpPr>
          <p:nvPr/>
        </p:nvSpPr>
        <p:spPr>
          <a:xfrm xmlns:a="http://schemas.openxmlformats.org/drawingml/2006/main">
            <a:off x="8020050" y="3105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(9294, 30, 1)</a:t>
            </a:r>
          </a:p>
        </p:txBody>
      </p:sp>
      <p:sp>
        <p:nvSpPr>
          <p:cNvPr id="12" name="">
            <a:extLst xmlns:a="http://schemas.openxmlformats.org/drawingml/2006/main">
              <a:ext uri="{FF2B5EF4-FFF2-40B4-BE49-F238E27FC236}">
                <a16:creationId xmlns:a16="http://schemas.microsoft.com/office/drawing/2014/main" id="{AAEDE7AE-CFE5-4F83-8D27-1036032D9A04}"/>
              </a:ext>
            </a:extLst>
          </p:cNvPr>
          <p:cNvSpPr>
            <a:spLocks xmlns:a="http://schemas.openxmlformats.org/drawingml/2006/main" noGrp="1"/>
          </p:cNvSpPr>
          <p:nvPr/>
        </p:nvSpPr>
        <p:spPr>
          <a:xfrm xmlns:a="http://schemas.openxmlformats.org/drawingml/2006/main">
            <a:off x="8020050" y="35718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5C6B73"/>
                </a:solidFill>
                <a:latin typeface="Arial"/>
                <a:ea typeface="Arial"/>
                <a:cs typeface="Arial"/>
              </a:defRPr>
            </a:pPr>
            <a:r>
              <a:rPr sz="1125" b="0" i="0">
                <a:solidFill>
                  <a:srgbClr val="5C6B73"/>
                </a:solidFill>
                <a:latin typeface="Arial"/>
                <a:ea typeface="Arial"/>
                <a:cs typeface="Arial"/>
              </a:rPr>
              <a:t>samples · timesteps · features</a:t>
            </a:r>
          </a:p>
        </p:txBody>
      </p:sp>
      <p:sp>
        <p:nvSpPr>
          <p:cNvPr id="13" name="">
            <a:extLst xmlns:a="http://schemas.openxmlformats.org/drawingml/2006/main">
              <a:ext uri="{FF2B5EF4-FFF2-40B4-BE49-F238E27FC236}">
                <a16:creationId xmlns:a16="http://schemas.microsoft.com/office/drawing/2014/main" id="{C46C3BB6-3F06-4DB9-AC1C-E91C83707A41}"/>
              </a:ext>
            </a:extLst>
          </p:cNvPr>
          <p:cNvSpPr>
            <a:spLocks xmlns:a="http://schemas.openxmlformats.org/drawingml/2006/main" noGrp="1"/>
          </p:cNvSpPr>
          <p:nvPr/>
        </p:nvSpPr>
        <p:spPr>
          <a:xfrm xmlns:a="http://schemas.openxmlformats.org/drawingml/2006/main">
            <a:off x="8020050" y="4048125"/>
            <a:ext cx="3009900"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81A74DC-70DA-4F11-B253-4F56430588DB}"/>
              </a:ext>
            </a:extLst>
          </p:cNvPr>
          <p:cNvSpPr>
            <a:spLocks xmlns:a="http://schemas.openxmlformats.org/drawingml/2006/main" noGrp="1"/>
          </p:cNvSpPr>
          <p:nvPr/>
        </p:nvSpPr>
        <p:spPr>
          <a:xfrm xmlns:a="http://schemas.openxmlformats.org/drawingml/2006/main">
            <a:off x="8020050" y="43338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C58B2A"/>
                </a:solidFill>
                <a:latin typeface="Arial"/>
                <a:ea typeface="Arial"/>
                <a:cs typeface="Arial"/>
              </a:defRPr>
            </a:pPr>
            <a:r>
              <a:rPr sz="1650" b="1" i="0">
                <a:solidFill>
                  <a:srgbClr val="C58B2A"/>
                </a:solidFill>
                <a:latin typeface="Arial"/>
                <a:ea typeface="Arial"/>
                <a:cs typeface="Arial"/>
              </a:rPr>
              <a:t>y_train</a:t>
            </a:r>
          </a:p>
        </p:txBody>
      </p:sp>
      <p:sp>
        <p:nvSpPr>
          <p:cNvPr id="15" name="">
            <a:extLst xmlns:a="http://schemas.openxmlformats.org/drawingml/2006/main">
              <a:ext uri="{FF2B5EF4-FFF2-40B4-BE49-F238E27FC236}">
                <a16:creationId xmlns:a16="http://schemas.microsoft.com/office/drawing/2014/main" id="{FEC7D183-AD77-4AB6-B8FF-1D67BA75B1B1}"/>
              </a:ext>
            </a:extLst>
          </p:cNvPr>
          <p:cNvSpPr>
            <a:spLocks xmlns:a="http://schemas.openxmlformats.org/drawingml/2006/main" noGrp="1"/>
          </p:cNvSpPr>
          <p:nvPr/>
        </p:nvSpPr>
        <p:spPr>
          <a:xfrm xmlns:a="http://schemas.openxmlformats.org/drawingml/2006/main">
            <a:off x="8020050" y="4714875"/>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102A43"/>
                </a:solidFill>
                <a:latin typeface="Arial"/>
                <a:ea typeface="Arial"/>
                <a:cs typeface="Arial"/>
              </a:defRPr>
            </a:pPr>
            <a:r>
              <a:rPr sz="2250" b="1" i="0">
                <a:solidFill>
                  <a:srgbClr val="102A43"/>
                </a:solidFill>
                <a:latin typeface="Arial"/>
                <a:ea typeface="Arial"/>
                <a:cs typeface="Arial"/>
              </a:rPr>
              <a:t>(9294, 1)</a:t>
            </a:r>
          </a:p>
        </p:txBody>
      </p:sp>
      <p:sp>
        <p:nvSpPr>
          <p:cNvPr id="16" name="">
            <a:extLst xmlns:a="http://schemas.openxmlformats.org/drawingml/2006/main">
              <a:ext uri="{FF2B5EF4-FFF2-40B4-BE49-F238E27FC236}">
                <a16:creationId xmlns:a16="http://schemas.microsoft.com/office/drawing/2014/main" id="{D73DF152-BEF8-4BF1-813F-68AE3BB0C8EA}"/>
              </a:ext>
            </a:extLst>
          </p:cNvPr>
          <p:cNvSpPr>
            <a:spLocks xmlns:a="http://schemas.openxmlformats.org/drawingml/2006/main" noGrp="1"/>
          </p:cNvSpPr>
          <p:nvPr/>
        </p:nvSpPr>
        <p:spPr>
          <a:xfrm xmlns:a="http://schemas.openxmlformats.org/drawingml/2006/main">
            <a:off x="8020050" y="5286375"/>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5C6B73"/>
                </a:solidFill>
                <a:latin typeface="Arial"/>
                <a:ea typeface="Arial"/>
                <a:cs typeface="Arial"/>
              </a:defRPr>
            </a:pPr>
            <a:r>
              <a:rPr sz="1125" b="0" i="0">
                <a:solidFill>
                  <a:srgbClr val="5C6B73"/>
                </a:solidFill>
                <a:latin typeface="Arial"/>
                <a:ea typeface="Arial"/>
                <a:cs typeface="Arial"/>
              </a:rPr>
              <a:t>30 quan sát quá khứ → giá bước kế tiếp</a:t>
            </a:r>
          </a:p>
        </p:txBody>
      </p:sp>
    </p:spTree>
    <p:extLst>
      <p:ext uri="{BB962C8B-B14F-4D97-AF65-F5344CB8AC3E}">
        <p14:creationId xmlns:p14="http://schemas.microsoft.com/office/powerpoint/2010/main" val="1578435960"/>
      </p:ext>
    </p:extLst>
  </p:cSld>
</p:sld>
</file>

<file path=ppt/slides/slide7.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2DFDD24-0369-4437-BDF4-C5BDD7EF0E2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300118-4839-4CC5-A76A-3BAFABA2BD51}"/>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2EC6B5D-EB9D-46BB-B606-9FF0D97FFAF8}"/>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Simple RNN: input, training và loss</a:t>
            </a:r>
          </a:p>
        </p:txBody>
      </p:sp>
      <p:sp>
        <p:nvSpPr>
          <p:cNvPr id="4" name="">
            <a:extLst xmlns:a="http://schemas.openxmlformats.org/drawingml/2006/main">
              <a:ext uri="{FF2B5EF4-FFF2-40B4-BE49-F238E27FC236}">
                <a16:creationId xmlns:a16="http://schemas.microsoft.com/office/drawing/2014/main" id="{871E7CDD-5987-4D5C-8778-93FC02E6D1EF}"/>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Chỉ giữ phần RNN cần để hiểu tensor đi vào đâu và kết quả được tạo ra thế nào.</a:t>
            </a:r>
          </a:p>
        </p:txBody>
      </p:sp>
      <p:sp>
        <p:nvSpPr>
          <p:cNvPr id="5" name="">
            <a:extLst xmlns:a="http://schemas.openxmlformats.org/drawingml/2006/main">
              <a:ext uri="{FF2B5EF4-FFF2-40B4-BE49-F238E27FC236}">
                <a16:creationId xmlns:a16="http://schemas.microsoft.com/office/drawing/2014/main" id="{30AE68A0-90B3-4F34-889F-FB55E1908336}"/>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E1FB1D0A-85C5-4AF9-BA2A-C0A1B85C6F42}"/>
              </a:ext>
            </a:extLst>
          </p:cNvPr>
          <p:cNvSpPr>
            <a:spLocks xmlns:a="http://schemas.openxmlformats.org/drawingml/2006/main" noGrp="1"/>
          </p:cNvSpPr>
          <p:nvPr/>
        </p:nvSpPr>
        <p:spPr>
          <a:xfrm xmlns:a="http://schemas.openxmlformats.org/drawingml/2006/main">
            <a:off x="685800" y="1600200"/>
            <a:ext cx="5476875" cy="2857500"/>
          </a:xfrm>
          <a:prstGeom xmlns:a="http://schemas.openxmlformats.org/drawingml/2006/main" prst="roundRect">
            <a:avLst>
              <a:gd name="adj" fmla="val 4000"/>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0698A505-B8B2-426A-BF1D-C41E2D04784E}"/>
              </a:ext>
            </a:extLst>
          </p:cNvPr>
          <p:cNvSpPr>
            <a:spLocks xmlns:a="http://schemas.openxmlformats.org/drawingml/2006/main" noGrp="1"/>
          </p:cNvSpPr>
          <p:nvPr/>
        </p:nvSpPr>
        <p:spPr>
          <a:xfrm xmlns:a="http://schemas.openxmlformats.org/drawingml/2006/main">
            <a:off x="857250" y="1752600"/>
            <a:ext cx="5133975"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class SimpleRNNRegressor(nn.Module):</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def __init__(self):</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super().__init__()</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self.rnn = nn.RNN(</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input_size=1,</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hidden_size=32,</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batch_first=True</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self.output_layer = nn.Linear(32, 1)</a:t>
            </a:r>
          </a:p>
          <a:p xmlns:a="http://schemas.openxmlformats.org/drawingml/2006/main">
            <a:r>
              <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def forward(self, x):</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output, _ = self.rnn(x)</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return self.output_layer(output[:, -1, :])</a:t>
            </a:r>
          </a:p>
        </p:txBody>
      </p:sp>
      <p:sp>
        <p:nvSpPr>
          <p:cNvPr id="8" name="">
            <a:extLst xmlns:a="http://schemas.openxmlformats.org/drawingml/2006/main">
              <a:ext uri="{FF2B5EF4-FFF2-40B4-BE49-F238E27FC236}">
                <a16:creationId xmlns:a16="http://schemas.microsoft.com/office/drawing/2014/main" id="{12662586-E495-4A26-B0B6-CEED4E37C075}"/>
              </a:ext>
            </a:extLst>
          </p:cNvPr>
          <p:cNvSpPr>
            <a:spLocks xmlns:a="http://schemas.openxmlformats.org/drawingml/2006/main" noGrp="1"/>
          </p:cNvSpPr>
          <p:nvPr/>
        </p:nvSpPr>
        <p:spPr>
          <a:xfrm xmlns:a="http://schemas.openxmlformats.org/drawingml/2006/main">
            <a:off x="6762750" y="1638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latin typeface="Arial"/>
                <a:ea typeface="Arial"/>
                <a:cs typeface="Arial"/>
              </a:defRPr>
            </a:pPr>
            <a:r>
              <a:rPr sz="1650" b="1" i="0">
                <a:solidFill>
                  <a:srgbClr val="102A43"/>
                </a:solidFill>
                <a:latin typeface="Arial"/>
                <a:ea typeface="Arial"/>
                <a:cs typeface="Arial"/>
              </a:rPr>
              <a:t>Luồng dữ liệu</a:t>
            </a:r>
          </a:p>
        </p:txBody>
      </p:sp>
      <p:sp>
        <p:nvSpPr>
          <p:cNvPr id="9" name="">
            <a:extLst xmlns:a="http://schemas.openxmlformats.org/drawingml/2006/main">
              <a:ext uri="{FF2B5EF4-FFF2-40B4-BE49-F238E27FC236}">
                <a16:creationId xmlns:a16="http://schemas.microsoft.com/office/drawing/2014/main" id="{A4041F6F-01C5-40F9-AFE2-DEC50B50EBA6}"/>
              </a:ext>
            </a:extLst>
          </p:cNvPr>
          <p:cNvSpPr>
            <a:spLocks xmlns:a="http://schemas.openxmlformats.org/drawingml/2006/main" noGrp="1"/>
          </p:cNvSpPr>
          <p:nvPr/>
        </p:nvSpPr>
        <p:spPr>
          <a:xfrm xmlns:a="http://schemas.openxmlformats.org/drawingml/2006/main">
            <a:off x="6762750" y="2238375"/>
            <a:ext cx="1028700" cy="781050"/>
          </a:xfrm>
          <a:prstGeom xmlns:a="http://schemas.openxmlformats.org/drawingml/2006/main" prst="roundRect">
            <a:avLst>
              <a:gd name="adj" fmla="val 14634"/>
            </a:avLst>
          </a:prstGeom>
          <a:solidFill xmlns:a="http://schemas.openxmlformats.org/drawingml/2006/main">
            <a:srgbClr val="DCEAF2"/>
          </a:solidFill>
          <a:ln xmlns:a="http://schemas.openxmlformats.org/drawingml/2006/main" w="9525">
            <a:solidFill>
              <a:srgbClr val="2D6A8F"/>
            </a:solidFill>
            <a:prstDash val="solid"/>
          </a:ln>
        </p:spPr>
      </p:sp>
      <p:sp>
        <p:nvSpPr>
          <p:cNvPr id="10" name="">
            <a:extLst xmlns:a="http://schemas.openxmlformats.org/drawingml/2006/main">
              <a:ext uri="{FF2B5EF4-FFF2-40B4-BE49-F238E27FC236}">
                <a16:creationId xmlns:a16="http://schemas.microsoft.com/office/drawing/2014/main" id="{945D0587-0309-4AFD-8B20-57E4F3818B9B}"/>
              </a:ext>
            </a:extLst>
          </p:cNvPr>
          <p:cNvSpPr>
            <a:spLocks xmlns:a="http://schemas.openxmlformats.org/drawingml/2006/main" noGrp="1"/>
          </p:cNvSpPr>
          <p:nvPr/>
        </p:nvSpPr>
        <p:spPr>
          <a:xfrm xmlns:a="http://schemas.openxmlformats.org/drawingml/2006/main">
            <a:off x="6838950" y="24479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2D6A8F"/>
                </a:solidFill>
                <a:latin typeface="Arial"/>
                <a:ea typeface="Arial"/>
                <a:cs typeface="Arial"/>
              </a:defRPr>
            </a:pPr>
            <a:r>
              <a:rPr sz="1200" b="1" i="0">
                <a:solidFill>
                  <a:srgbClr val="2D6A8F"/>
                </a:solidFill>
                <a:latin typeface="Arial"/>
                <a:ea typeface="Arial"/>
                <a:cs typeface="Arial"/>
              </a:rPr>
              <a:t>(B, 30, 1)</a:t>
            </a:r>
          </a:p>
        </p:txBody>
      </p:sp>
      <p:sp>
        <p:nvSpPr>
          <p:cNvPr id="11" name="">
            <a:extLst xmlns:a="http://schemas.openxmlformats.org/drawingml/2006/main">
              <a:ext uri="{FF2B5EF4-FFF2-40B4-BE49-F238E27FC236}">
                <a16:creationId xmlns:a16="http://schemas.microsoft.com/office/drawing/2014/main" id="{CD5D6874-9CE2-40CA-A9E2-54EC4AB75306}"/>
              </a:ext>
            </a:extLst>
          </p:cNvPr>
          <p:cNvSpPr>
            <a:spLocks xmlns:a="http://schemas.openxmlformats.org/drawingml/2006/main" noGrp="1"/>
          </p:cNvSpPr>
          <p:nvPr/>
        </p:nvSpPr>
        <p:spPr>
          <a:xfrm xmlns:a="http://schemas.openxmlformats.org/drawingml/2006/main">
            <a:off x="780097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CB9C1AE-0F55-4749-947F-4C7ACC9F2A6F}"/>
              </a:ext>
            </a:extLst>
          </p:cNvPr>
          <p:cNvSpPr>
            <a:spLocks xmlns:a="http://schemas.openxmlformats.org/drawingml/2006/main" noGrp="1"/>
          </p:cNvSpPr>
          <p:nvPr/>
        </p:nvSpPr>
        <p:spPr>
          <a:xfrm xmlns:a="http://schemas.openxmlformats.org/drawingml/2006/main">
            <a:off x="7962900" y="2238375"/>
            <a:ext cx="1028700" cy="781050"/>
          </a:xfrm>
          <a:prstGeom xmlns:a="http://schemas.openxmlformats.org/drawingml/2006/main" prst="roundRect">
            <a:avLst>
              <a:gd name="adj" fmla="val 14634"/>
            </a:avLst>
          </a:prstGeom>
          <a:solidFill xmlns:a="http://schemas.openxmlformats.org/drawingml/2006/main">
            <a:srgbClr val="F2E5C4"/>
          </a:solidFill>
          <a:ln xmlns:a="http://schemas.openxmlformats.org/drawingml/2006/main" w="9525">
            <a:solidFill>
              <a:srgbClr val="C58B2A"/>
            </a:solidFill>
            <a:prstDash val="solid"/>
          </a:ln>
        </p:spPr>
      </p:sp>
      <p:sp>
        <p:nvSpPr>
          <p:cNvPr id="13" name="">
            <a:extLst xmlns:a="http://schemas.openxmlformats.org/drawingml/2006/main">
              <a:ext uri="{FF2B5EF4-FFF2-40B4-BE49-F238E27FC236}">
                <a16:creationId xmlns:a16="http://schemas.microsoft.com/office/drawing/2014/main" id="{A4BD481F-134F-48C4-8F45-7147865A2A50}"/>
              </a:ext>
            </a:extLst>
          </p:cNvPr>
          <p:cNvSpPr>
            <a:spLocks xmlns:a="http://schemas.openxmlformats.org/drawingml/2006/main" noGrp="1"/>
          </p:cNvSpPr>
          <p:nvPr/>
        </p:nvSpPr>
        <p:spPr>
          <a:xfrm xmlns:a="http://schemas.openxmlformats.org/drawingml/2006/main">
            <a:off x="8039100" y="24479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C58B2A"/>
                </a:solidFill>
                <a:latin typeface="Arial"/>
                <a:ea typeface="Arial"/>
                <a:cs typeface="Arial"/>
              </a:defRPr>
            </a:pPr>
            <a:r>
              <a:rPr sz="1200" b="1" i="0">
                <a:solidFill>
                  <a:srgbClr val="C58B2A"/>
                </a:solidFill>
                <a:latin typeface="Arial"/>
                <a:ea typeface="Arial"/>
                <a:cs typeface="Arial"/>
              </a:rPr>
              <a:t>RNN</a:t>
            </a:r>
          </a:p>
          <a:p xmlns:a="http://schemas.openxmlformats.org/drawingml/2006/main">
            <a:pPr algn="ctr">
              <a:defRPr sz="1200" b="1" i="0">
                <a:solidFill>
                  <a:srgbClr val="C58B2A"/>
                </a:solidFill>
                <a:latin typeface="Arial"/>
                <a:ea typeface="Arial"/>
                <a:cs typeface="Arial"/>
              </a:defRPr>
            </a:pPr>
            <a:r>
              <a:rPr sz="1200" b="1" i="0">
                <a:solidFill>
                  <a:srgbClr val="C58B2A"/>
                </a:solidFill>
                <a:latin typeface="Arial"/>
                <a:ea typeface="Arial"/>
                <a:cs typeface="Arial"/>
              </a:rPr>
              <a:t>hidden=32</a:t>
            </a:r>
          </a:p>
        </p:txBody>
      </p:sp>
      <p:sp>
        <p:nvSpPr>
          <p:cNvPr id="14" name="">
            <a:extLst xmlns:a="http://schemas.openxmlformats.org/drawingml/2006/main">
              <a:ext uri="{FF2B5EF4-FFF2-40B4-BE49-F238E27FC236}">
                <a16:creationId xmlns:a16="http://schemas.microsoft.com/office/drawing/2014/main" id="{AF8C7293-A33A-4FAC-AC45-AA56ABAA4FC4}"/>
              </a:ext>
            </a:extLst>
          </p:cNvPr>
          <p:cNvSpPr>
            <a:spLocks xmlns:a="http://schemas.openxmlformats.org/drawingml/2006/main" noGrp="1"/>
          </p:cNvSpPr>
          <p:nvPr/>
        </p:nvSpPr>
        <p:spPr>
          <a:xfrm xmlns:a="http://schemas.openxmlformats.org/drawingml/2006/main">
            <a:off x="900112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6E90C6-A72B-4BF9-83D0-2999D23637C2}"/>
              </a:ext>
            </a:extLst>
          </p:cNvPr>
          <p:cNvSpPr>
            <a:spLocks xmlns:a="http://schemas.openxmlformats.org/drawingml/2006/main" noGrp="1"/>
          </p:cNvSpPr>
          <p:nvPr/>
        </p:nvSpPr>
        <p:spPr>
          <a:xfrm xmlns:a="http://schemas.openxmlformats.org/drawingml/2006/main">
            <a:off x="9163050" y="2238375"/>
            <a:ext cx="1028700" cy="781050"/>
          </a:xfrm>
          <a:prstGeom xmlns:a="http://schemas.openxmlformats.org/drawingml/2006/main" prst="roundRect">
            <a:avLst>
              <a:gd name="adj" fmla="val 14634"/>
            </a:avLst>
          </a:prstGeom>
          <a:solidFill xmlns:a="http://schemas.openxmlformats.org/drawingml/2006/main">
            <a:srgbClr val="E4F0E8"/>
          </a:solidFill>
          <a:ln xmlns:a="http://schemas.openxmlformats.org/drawingml/2006/main" w="9525">
            <a:solidFill>
              <a:srgbClr val="3F7D5A"/>
            </a:solidFill>
            <a:prstDash val="solid"/>
          </a:ln>
        </p:spPr>
      </p:sp>
      <p:sp>
        <p:nvSpPr>
          <p:cNvPr id="16" name="">
            <a:extLst xmlns:a="http://schemas.openxmlformats.org/drawingml/2006/main">
              <a:ext uri="{FF2B5EF4-FFF2-40B4-BE49-F238E27FC236}">
                <a16:creationId xmlns:a16="http://schemas.microsoft.com/office/drawing/2014/main" id="{12710A0E-FD4E-405B-9FFA-35E2868D67F1}"/>
              </a:ext>
            </a:extLst>
          </p:cNvPr>
          <p:cNvSpPr>
            <a:spLocks xmlns:a="http://schemas.openxmlformats.org/drawingml/2006/main" noGrp="1"/>
          </p:cNvSpPr>
          <p:nvPr/>
        </p:nvSpPr>
        <p:spPr>
          <a:xfrm xmlns:a="http://schemas.openxmlformats.org/drawingml/2006/main">
            <a:off x="9239250" y="24479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3F7D5A"/>
                </a:solidFill>
                <a:latin typeface="Arial"/>
                <a:ea typeface="Arial"/>
                <a:cs typeface="Arial"/>
              </a:defRPr>
            </a:pPr>
            <a:r>
              <a:rPr sz="1200" b="1" i="0">
                <a:solidFill>
                  <a:srgbClr val="3F7D5A"/>
                </a:solidFill>
                <a:latin typeface="Arial"/>
                <a:ea typeface="Arial"/>
                <a:cs typeface="Arial"/>
              </a:rPr>
              <a:t>last hidden</a:t>
            </a:r>
          </a:p>
        </p:txBody>
      </p:sp>
      <p:sp>
        <p:nvSpPr>
          <p:cNvPr id="17" name="">
            <a:extLst xmlns:a="http://schemas.openxmlformats.org/drawingml/2006/main">
              <a:ext uri="{FF2B5EF4-FFF2-40B4-BE49-F238E27FC236}">
                <a16:creationId xmlns:a16="http://schemas.microsoft.com/office/drawing/2014/main" id="{A9C060A5-6E99-400F-B82C-D27CA60327C3}"/>
              </a:ext>
            </a:extLst>
          </p:cNvPr>
          <p:cNvSpPr>
            <a:spLocks xmlns:a="http://schemas.openxmlformats.org/drawingml/2006/main" noGrp="1"/>
          </p:cNvSpPr>
          <p:nvPr/>
        </p:nvSpPr>
        <p:spPr>
          <a:xfrm xmlns:a="http://schemas.openxmlformats.org/drawingml/2006/main">
            <a:off x="1020127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88B1545-B9D4-4DCD-9B76-EF3DAB854642}"/>
              </a:ext>
            </a:extLst>
          </p:cNvPr>
          <p:cNvSpPr>
            <a:spLocks xmlns:a="http://schemas.openxmlformats.org/drawingml/2006/main" noGrp="1"/>
          </p:cNvSpPr>
          <p:nvPr/>
        </p:nvSpPr>
        <p:spPr>
          <a:xfrm xmlns:a="http://schemas.openxmlformats.org/drawingml/2006/main">
            <a:off x="10363200" y="2238375"/>
            <a:ext cx="1028700" cy="781050"/>
          </a:xfrm>
          <a:prstGeom xmlns:a="http://schemas.openxmlformats.org/drawingml/2006/main" prst="roundRect">
            <a:avLst>
              <a:gd name="adj" fmla="val 14634"/>
            </a:avLst>
          </a:prstGeom>
          <a:solidFill xmlns:a="http://schemas.openxmlformats.org/drawingml/2006/main">
            <a:srgbClr val="F5E2DE"/>
          </a:solidFill>
          <a:ln xmlns:a="http://schemas.openxmlformats.org/drawingml/2006/main" w="9525">
            <a:solidFill>
              <a:srgbClr val="B65345"/>
            </a:solidFill>
            <a:prstDash val="solid"/>
          </a:ln>
        </p:spPr>
      </p:sp>
      <p:sp>
        <p:nvSpPr>
          <p:cNvPr id="19" name="">
            <a:extLst xmlns:a="http://schemas.openxmlformats.org/drawingml/2006/main">
              <a:ext uri="{FF2B5EF4-FFF2-40B4-BE49-F238E27FC236}">
                <a16:creationId xmlns:a16="http://schemas.microsoft.com/office/drawing/2014/main" id="{BA8F36EA-278C-4385-B370-BB025F220F9D}"/>
              </a:ext>
            </a:extLst>
          </p:cNvPr>
          <p:cNvSpPr>
            <a:spLocks xmlns:a="http://schemas.openxmlformats.org/drawingml/2006/main" noGrp="1"/>
          </p:cNvSpPr>
          <p:nvPr/>
        </p:nvSpPr>
        <p:spPr>
          <a:xfrm xmlns:a="http://schemas.openxmlformats.org/drawingml/2006/main">
            <a:off x="10439400" y="24479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B65345"/>
                </a:solidFill>
                <a:latin typeface="Arial"/>
                <a:ea typeface="Arial"/>
                <a:cs typeface="Arial"/>
              </a:defRPr>
            </a:pPr>
            <a:r>
              <a:rPr sz="1200" b="1" i="0">
                <a:solidFill>
                  <a:srgbClr val="B65345"/>
                </a:solidFill>
                <a:latin typeface="Arial"/>
                <a:ea typeface="Arial"/>
                <a:cs typeface="Arial"/>
              </a:rPr>
              <a:t>Linear</a:t>
            </a:r>
          </a:p>
          <a:p xmlns:a="http://schemas.openxmlformats.org/drawingml/2006/main">
            <a:pPr algn="ctr">
              <a:defRPr sz="1200" b="1" i="0">
                <a:solidFill>
                  <a:srgbClr val="B65345"/>
                </a:solidFill>
                <a:latin typeface="Arial"/>
                <a:ea typeface="Arial"/>
                <a:cs typeface="Arial"/>
              </a:defRPr>
            </a:pPr>
            <a:r>
              <a:rPr sz="1200" b="1" i="0">
                <a:solidFill>
                  <a:srgbClr val="B65345"/>
                </a:solidFill>
                <a:latin typeface="Arial"/>
                <a:ea typeface="Arial"/>
                <a:cs typeface="Arial"/>
              </a:rPr>
              <a:t>32 → 1</a:t>
            </a:r>
          </a:p>
        </p:txBody>
      </p:sp>
      <p:sp>
        <p:nvSpPr>
          <p:cNvPr id="20" name="">
            <a:extLst xmlns:a="http://schemas.openxmlformats.org/drawingml/2006/main">
              <a:ext uri="{FF2B5EF4-FFF2-40B4-BE49-F238E27FC236}">
                <a16:creationId xmlns:a16="http://schemas.microsoft.com/office/drawing/2014/main" id="{3A888F9A-97A8-437F-B872-A45B6A273128}"/>
              </a:ext>
            </a:extLst>
          </p:cNvPr>
          <p:cNvSpPr>
            <a:spLocks xmlns:a="http://schemas.openxmlformats.org/drawingml/2006/main" noGrp="1"/>
          </p:cNvSpPr>
          <p:nvPr/>
        </p:nvSpPr>
        <p:spPr>
          <a:xfrm xmlns:a="http://schemas.openxmlformats.org/drawingml/2006/main">
            <a:off x="6762750" y="3381375"/>
            <a:ext cx="4476750" cy="742950"/>
          </a:xfrm>
          <a:prstGeom xmlns:a="http://schemas.openxmlformats.org/drawingml/2006/main" prst="roundRect">
            <a:avLst>
              <a:gd name="adj" fmla="val 15385"/>
            </a:avLst>
          </a:prstGeom>
          <a:solidFill xmlns:a="http://schemas.openxmlformats.org/drawingml/2006/main">
            <a:srgbClr val="102A43"/>
          </a:solidFill>
          <a:ln xmlns:a="http://schemas.openxmlformats.org/drawingml/2006/main" w="9525">
            <a:solidFill>
              <a:srgbClr val="102A43"/>
            </a:solidFill>
            <a:prstDash val="solid"/>
          </a:ln>
        </p:spPr>
      </p:sp>
      <p:sp>
        <p:nvSpPr>
          <p:cNvPr id="21" name="">
            <a:extLst xmlns:a="http://schemas.openxmlformats.org/drawingml/2006/main">
              <a:ext uri="{FF2B5EF4-FFF2-40B4-BE49-F238E27FC236}">
                <a16:creationId xmlns:a16="http://schemas.microsoft.com/office/drawing/2014/main" id="{FCD2E42E-086D-42FD-9228-1EF594B9AA39}"/>
              </a:ext>
            </a:extLst>
          </p:cNvPr>
          <p:cNvSpPr>
            <a:spLocks xmlns:a="http://schemas.openxmlformats.org/drawingml/2006/main" noGrp="1"/>
          </p:cNvSpPr>
          <p:nvPr/>
        </p:nvSpPr>
        <p:spPr>
          <a:xfrm xmlns:a="http://schemas.openxmlformats.org/drawingml/2006/main">
            <a:off x="7000875" y="3638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prediction → loss → backward() → optimizer.step()</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a98a18a7642410c"/>
          <a:stretch xmlns:a="http://schemas.openxmlformats.org/drawingml/2006/main"/>
        </p:blipFill>
        <p:spPr>
          <a:xfrm xmlns:a="http://schemas.openxmlformats.org/drawingml/2006/main">
            <a:off x="7459540" y="4476750"/>
            <a:ext cx="3083169" cy="1524000"/>
          </a:xfrm>
          <a:prstGeom xmlns:a="http://schemas.openxmlformats.org/drawingml/2006/main" prst="roundRect">
            <a:avLst>
              <a:gd name="adj" fmla="val 7500"/>
            </a:avLst>
          </a:prstGeom>
        </p:spPr>
      </p:pic>
    </p:spTree>
    <p:extLst>
      <p:ext uri="{BB962C8B-B14F-4D97-AF65-F5344CB8AC3E}">
        <p14:creationId xmlns:p14="http://schemas.microsoft.com/office/powerpoint/2010/main" val="182531726"/>
      </p:ext>
    </p:extLst>
  </p:cSld>
</p:sld>
</file>

<file path=ppt/slides/slide8.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18E306E-C2FB-4DC2-922E-7AC160CC2E5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5D16AF-F7A2-4C33-9DD1-8B79DC5857B2}"/>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360D046-ADD7-485E-9F9A-3D563EAF4B7A}"/>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Kết quả và phân tích</a:t>
            </a:r>
          </a:p>
        </p:txBody>
      </p:sp>
      <p:sp>
        <p:nvSpPr>
          <p:cNvPr id="4" name="">
            <a:extLst xmlns:a="http://schemas.openxmlformats.org/drawingml/2006/main">
              <a:ext uri="{FF2B5EF4-FFF2-40B4-BE49-F238E27FC236}">
                <a16:creationId xmlns:a16="http://schemas.microsoft.com/office/drawing/2014/main" id="{0FEF397E-9264-48AE-98D1-A080422EF3F1}"/>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RNN chưa vượt baseline: nguyên nhân nằm ở phân phối dữ liệu, không phải lỗi chạy code.</a:t>
            </a:r>
          </a:p>
        </p:txBody>
      </p:sp>
      <p:sp>
        <p:nvSpPr>
          <p:cNvPr id="5" name="">
            <a:extLst xmlns:a="http://schemas.openxmlformats.org/drawingml/2006/main">
              <a:ext uri="{FF2B5EF4-FFF2-40B4-BE49-F238E27FC236}">
                <a16:creationId xmlns:a16="http://schemas.microsoft.com/office/drawing/2014/main" id="{166BA928-81D0-4AEE-9F7C-FC64FA4DADD5}"/>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graphicFrame>
        <p:nvGraphicFramePr>
          <p:cNvPr id="20" name=""/>
          <p:cNvGraphicFramePr/>
          <p:nvPr/>
        </p:nvGraphicFramePr>
        <p:xfrm>
          <a:off xmlns:a="http://schemas.openxmlformats.org/drawingml/2006/main" x="685800" y="1524000"/>
          <a:ext xmlns:a="http://schemas.openxmlformats.org/drawingml/2006/main" cx="5619750" cy="1666875"/>
        </p:xfrm>
        <a:graphic xmlns:a="http://schemas.openxmlformats.org/drawingml/2006/main">
          <a:graphicData uri="http://schemas.openxmlformats.org/drawingml/2006/table">
            <a:tbl>
              <a:tblPr firstRow="1" bandRow="1"/>
              <a:tblGrid>
                <a:gridCol w="1123950"/>
                <a:gridCol w="1123950"/>
                <a:gridCol w="1123950"/>
                <a:gridCol w="1123950"/>
                <a:gridCol w="1123950"/>
              </a:tblGrid>
              <a:tr h="555625">
                <a:tc>
                  <a:txBody>
                    <a:bodyPr/>
                    <a:lstStyle/>
                    <a:p>
                      <a:pPr algn="l"/>
                      <a:r>
                        <a:rPr sz="1050" b="1">
                          <a:solidFill>
                            <a:srgbClr val="FFFFFF"/>
                          </a:solidFill>
                          <a:latin typeface="Arial"/>
                          <a:ea typeface="Arial"/>
                          <a:cs typeface="Arial"/>
                        </a:rPr>
                        <a:t>Mô hình</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MAE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RMSE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MAPE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Direction</a:t>
                      </a:r>
                    </a:p>
                  </a:txBody>
                  <a:tcPr marL="91440" marR="91440" marT="45720" marB="45720">
                    <a:solidFill>
                      <a:srgbClr val="102A43"/>
                    </a:solidFill>
                  </a:tcPr>
                </a:tc>
              </a:tr>
              <a:tr h="555625">
                <a:tc>
                  <a:txBody>
                    <a:bodyPr/>
                    <a:lstStyle/>
                    <a:p>
                      <a:pPr algn="l"/>
                      <a:r>
                        <a:rPr sz="1125" b="1">
                          <a:solidFill>
                            <a:srgbClr val="17324D"/>
                          </a:solidFill>
                          <a:latin typeface="Arial"/>
                          <a:ea typeface="Arial"/>
                          <a:cs typeface="Arial"/>
                        </a:rPr>
                        <a:t>Persistence</a:t>
                      </a:r>
                    </a:p>
                  </a:txBody>
                  <a:tcPr marL="91440" marR="91440" marT="45720" marB="45720"/>
                </a:tc>
                <a:tc>
                  <a:txBody>
                    <a:bodyPr/>
                    <a:lstStyle/>
                    <a:p>
                      <a:pPr algn="ctr"/>
                      <a:r>
                        <a:rPr sz="1125" b="0">
                          <a:solidFill>
                            <a:srgbClr val="17324D"/>
                          </a:solidFill>
                          <a:latin typeface="Arial"/>
                          <a:ea typeface="Arial"/>
                          <a:cs typeface="Arial"/>
                        </a:rPr>
                        <a:t>9.2163</a:t>
                      </a:r>
                    </a:p>
                  </a:txBody>
                  <a:tcPr marL="91440" marR="91440" marT="45720" marB="45720"/>
                </a:tc>
                <a:tc>
                  <a:txBody>
                    <a:bodyPr/>
                    <a:lstStyle/>
                    <a:p>
                      <a:pPr algn="ctr"/>
                      <a:r>
                        <a:rPr sz="1125" b="0">
                          <a:solidFill>
                            <a:srgbClr val="17324D"/>
                          </a:solidFill>
                          <a:latin typeface="Arial"/>
                          <a:ea typeface="Arial"/>
                          <a:cs typeface="Arial"/>
                        </a:rPr>
                        <a:t>13.4675</a:t>
                      </a:r>
                    </a:p>
                  </a:txBody>
                  <a:tcPr marL="91440" marR="91440" marT="45720" marB="45720"/>
                </a:tc>
                <a:tc>
                  <a:txBody>
                    <a:bodyPr/>
                    <a:lstStyle/>
                    <a:p>
                      <a:pPr algn="ctr"/>
                      <a:r>
                        <a:rPr sz="1125" b="0">
                          <a:solidFill>
                            <a:srgbClr val="17324D"/>
                          </a:solidFill>
                          <a:latin typeface="Arial"/>
                          <a:ea typeface="Arial"/>
                          <a:cs typeface="Arial"/>
                        </a:rPr>
                        <a:t>0.6714%</a:t>
                      </a:r>
                    </a:p>
                  </a:txBody>
                  <a:tcPr marL="91440" marR="91440" marT="45720" marB="45720"/>
                </a:tc>
                <a:tc>
                  <a:txBody>
                    <a:bodyPr/>
                    <a:lstStyle/>
                    <a:p>
                      <a:pPr algn="ctr"/>
                      <a:r>
                        <a:rPr sz="1125" b="0">
                          <a:solidFill>
                            <a:srgbClr val="17324D"/>
                          </a:solidFill>
                          <a:latin typeface="Arial"/>
                          <a:ea typeface="Arial"/>
                          <a:cs typeface="Arial"/>
                        </a:rPr>
                        <a:t>77.3273%</a:t>
                      </a:r>
                    </a:p>
                  </a:txBody>
                  <a:tcPr marL="91440" marR="91440" marT="45720" marB="45720"/>
                </a:tc>
              </a:tr>
              <a:tr h="555625">
                <a:tc>
                  <a:txBody>
                    <a:bodyPr/>
                    <a:lstStyle/>
                    <a:p>
                      <a:pPr algn="l"/>
                      <a:r>
                        <a:rPr sz="1125" b="1">
                          <a:solidFill>
                            <a:srgbClr val="17324D"/>
                          </a:solidFill>
                          <a:latin typeface="Arial"/>
                          <a:ea typeface="Arial"/>
                          <a:cs typeface="Arial"/>
                        </a:rPr>
                        <a:t>Simple RNN</a:t>
                      </a:r>
                    </a:p>
                  </a:txBody>
                  <a:tcPr marL="91440" marR="91440" marT="45720" marB="45720"/>
                </a:tc>
                <a:tc>
                  <a:txBody>
                    <a:bodyPr/>
                    <a:lstStyle/>
                    <a:p>
                      <a:pPr algn="ctr"/>
                      <a:r>
                        <a:rPr sz="1125" b="0">
                          <a:solidFill>
                            <a:srgbClr val="17324D"/>
                          </a:solidFill>
                          <a:latin typeface="Arial"/>
                          <a:ea typeface="Arial"/>
                          <a:cs typeface="Arial"/>
                        </a:rPr>
                        <a:t>236.1134</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252.1612</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16.9713%</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49.1992%</a:t>
                      </a:r>
                    </a:p>
                  </a:txBody>
                  <a:tcPr marL="91440" marR="91440" marT="45720" marB="45720">
                    <a:solidFill>
                      <a:srgbClr val="F5E2DE"/>
                    </a:solidFill>
                  </a:tcPr>
                </a:tc>
              </a:tr>
            </a:tbl>
          </a:graphicData>
        </a:graphic>
      </p:graphicFrame>
      <p:sp>
        <p:nvSpPr>
          <p:cNvPr id="7" name="">
            <a:extLst xmlns:a="http://schemas.openxmlformats.org/drawingml/2006/main">
              <a:ext uri="{FF2B5EF4-FFF2-40B4-BE49-F238E27FC236}">
                <a16:creationId xmlns:a16="http://schemas.microsoft.com/office/drawing/2014/main" id="{FC808A32-8A77-4D01-BB5C-6784039CE157}"/>
              </a:ext>
            </a:extLst>
          </p:cNvPr>
          <p:cNvSpPr>
            <a:spLocks xmlns:a="http://schemas.openxmlformats.org/drawingml/2006/main" noGrp="1"/>
          </p:cNvSpPr>
          <p:nvPr/>
        </p:nvSpPr>
        <p:spPr>
          <a:xfrm xmlns:a="http://schemas.openxmlformats.org/drawingml/2006/main">
            <a:off x="685800" y="12858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Bảng metrics trên tập test</a:t>
            </a:r>
          </a:p>
        </p:txBody>
      </p:sp>
      <p:sp>
        <p:nvSpPr>
          <p:cNvPr id="8" name="">
            <a:extLst xmlns:a="http://schemas.openxmlformats.org/drawingml/2006/main">
              <a:ext uri="{FF2B5EF4-FFF2-40B4-BE49-F238E27FC236}">
                <a16:creationId xmlns:a16="http://schemas.microsoft.com/office/drawing/2014/main" id="{644DF323-68B2-4820-A84D-03E9A833FC88}"/>
              </a:ext>
            </a:extLst>
          </p:cNvPr>
          <p:cNvSpPr>
            <a:spLocks xmlns:a="http://schemas.openxmlformats.org/drawingml/2006/main" noGrp="1"/>
          </p:cNvSpPr>
          <p:nvPr/>
        </p:nvSpPr>
        <p:spPr>
          <a:xfrm xmlns:a="http://schemas.openxmlformats.org/drawingml/2006/main">
            <a:off x="6705600" y="1381125"/>
            <a:ext cx="4800600" cy="1952625"/>
          </a:xfrm>
          <a:prstGeom xmlns:a="http://schemas.openxmlformats.org/drawingml/2006/main" prst="roundRect">
            <a:avLst>
              <a:gd name="adj" fmla="val 5854"/>
            </a:avLst>
          </a:prstGeom>
          <a:solidFill xmlns:a="http://schemas.openxmlformats.org/drawingml/2006/main">
            <a:srgbClr val="F5E2DE"/>
          </a:solidFill>
          <a:ln xmlns:a="http://schemas.openxmlformats.org/drawingml/2006/main" w="9525">
            <a:solidFill>
              <a:srgbClr val="B65345"/>
            </a:solidFill>
            <a:prstDash val="solid"/>
          </a:ln>
        </p:spPr>
      </p:sp>
      <p:sp>
        <p:nvSpPr>
          <p:cNvPr id="9" name="">
            <a:extLst xmlns:a="http://schemas.openxmlformats.org/drawingml/2006/main">
              <a:ext uri="{FF2B5EF4-FFF2-40B4-BE49-F238E27FC236}">
                <a16:creationId xmlns:a16="http://schemas.microsoft.com/office/drawing/2014/main" id="{0F28B4E1-5635-4CA0-A904-B12B504CE16E}"/>
              </a:ext>
            </a:extLst>
          </p:cNvPr>
          <p:cNvSpPr>
            <a:spLocks xmlns:a="http://schemas.openxmlformats.org/drawingml/2006/main" noGrp="1"/>
          </p:cNvSpPr>
          <p:nvPr/>
        </p:nvSpPr>
        <p:spPr>
          <a:xfrm xmlns:a="http://schemas.openxmlformats.org/drawingml/2006/main">
            <a:off x="7000875" y="1666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B65345"/>
                </a:solidFill>
                <a:latin typeface="Arial"/>
                <a:ea typeface="Arial"/>
                <a:cs typeface="Arial"/>
              </a:defRPr>
            </a:pPr>
            <a:r>
              <a:rPr sz="1800" b="1" i="0">
                <a:solidFill>
                  <a:srgbClr val="B65345"/>
                </a:solidFill>
                <a:latin typeface="Arial"/>
                <a:ea typeface="Arial"/>
                <a:cs typeface="Arial"/>
              </a:rPr>
              <a:t>Distribution shift</a:t>
            </a:r>
          </a:p>
        </p:txBody>
      </p:sp>
      <p:sp>
        <p:nvSpPr>
          <p:cNvPr id="10" name="">
            <a:extLst xmlns:a="http://schemas.openxmlformats.org/drawingml/2006/main">
              <a:ext uri="{FF2B5EF4-FFF2-40B4-BE49-F238E27FC236}">
                <a16:creationId xmlns:a16="http://schemas.microsoft.com/office/drawing/2014/main" id="{CBB86FAE-9FA8-4755-9976-98523DD0F3E2}"/>
              </a:ext>
            </a:extLst>
          </p:cNvPr>
          <p:cNvSpPr>
            <a:spLocks xmlns:a="http://schemas.openxmlformats.org/drawingml/2006/main" noGrp="1"/>
          </p:cNvSpPr>
          <p:nvPr/>
        </p:nvSpPr>
        <p:spPr>
          <a:xfrm xmlns:a="http://schemas.openxmlformats.org/drawingml/2006/main">
            <a:off x="7000875" y="2095500"/>
            <a:ext cx="3905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Train max: 850.00</a:t>
            </a:r>
          </a:p>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Test min: 1,049.40</a:t>
            </a:r>
          </a:p>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100% giá test &gt; train max</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003522f29c742de"/>
          <a:stretch xmlns:a="http://schemas.openxmlformats.org/drawingml/2006/main"/>
        </p:blipFill>
        <p:spPr>
          <a:xfrm xmlns:a="http://schemas.openxmlformats.org/drawingml/2006/main">
            <a:off x="685800" y="3599702"/>
            <a:ext cx="5619750" cy="1849347"/>
          </a:xfrm>
          <a:prstGeom xmlns:a="http://schemas.openxmlformats.org/drawingml/2006/main" prst="roundRect">
            <a:avLst>
              <a:gd name="adj" fmla="val 5455"/>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0a6188c932e40ef"/>
          <a:stretch xmlns:a="http://schemas.openxmlformats.org/drawingml/2006/main"/>
        </p:blipFill>
        <p:spPr>
          <a:xfrm xmlns:a="http://schemas.openxmlformats.org/drawingml/2006/main">
            <a:off x="6705600" y="3798140"/>
            <a:ext cx="4800600" cy="1452470"/>
          </a:xfrm>
          <a:prstGeom xmlns:a="http://schemas.openxmlformats.org/drawingml/2006/main" prst="roundRect">
            <a:avLst>
              <a:gd name="adj" fmla="val 5455"/>
            </a:avLst>
          </a:prstGeom>
        </p:spPr>
      </p:pic>
      <p:sp>
        <p:nvSpPr>
          <p:cNvPr id="13" name="">
            <a:extLst xmlns:a="http://schemas.openxmlformats.org/drawingml/2006/main">
              <a:ext uri="{FF2B5EF4-FFF2-40B4-BE49-F238E27FC236}">
                <a16:creationId xmlns:a16="http://schemas.microsoft.com/office/drawing/2014/main" id="{50362913-0BBF-4E29-9ABE-7A7D040E2767}"/>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oundRect">
            <a:avLst>
              <a:gd name="adj" fmla="val 26667"/>
            </a:avLst>
          </a:prstGeom>
          <a:solidFill xmlns:a="http://schemas.openxmlformats.org/drawingml/2006/main">
            <a:srgbClr val="F2E5C4"/>
          </a:solidFill>
          <a:ln xmlns:a="http://schemas.openxmlformats.org/drawingml/2006/main" w="9525">
            <a:solidFill>
              <a:srgbClr val="C58B2A"/>
            </a:solidFill>
            <a:prstDash val="solid"/>
          </a:ln>
        </p:spPr>
      </p:sp>
      <p:sp>
        <p:nvSpPr>
          <p:cNvPr id="14" name="">
            <a:extLst xmlns:a="http://schemas.openxmlformats.org/drawingml/2006/main">
              <a:ext uri="{FF2B5EF4-FFF2-40B4-BE49-F238E27FC236}">
                <a16:creationId xmlns:a16="http://schemas.microsoft.com/office/drawing/2014/main" id="{9D3B74E5-9F88-4897-A62A-74D2A5BCDBC6}"/>
              </a:ext>
            </a:extLst>
          </p:cNvPr>
          <p:cNvSpPr>
            <a:spLocks xmlns:a="http://schemas.openxmlformats.org/drawingml/2006/main" noGrp="1"/>
          </p:cNvSpPr>
          <p:nvPr/>
        </p:nvSpPr>
        <p:spPr>
          <a:xfrm xmlns:a="http://schemas.openxmlformats.org/drawingml/2006/main">
            <a:off x="904875" y="59721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02A43"/>
                </a:solidFill>
                <a:latin typeface="Arial"/>
                <a:ea typeface="Arial"/>
                <a:cs typeface="Arial"/>
              </a:defRPr>
            </a:pPr>
            <a:r>
              <a:rPr sz="1200" b="1" i="0">
                <a:solidFill>
                  <a:srgbClr val="102A43"/>
                </a:solidFill>
                <a:latin typeface="Arial"/>
                <a:ea typeface="Arial"/>
                <a:cs typeface="Arial"/>
              </a:rPr>
              <a:t>Kết luận: preprocessing phải đi cùng phân tích phân phối; hướng cải thiện là log-return, cửa sổ gần đây hoặc GRU/LSTM.</a:t>
            </a:r>
          </a:p>
        </p:txBody>
      </p:sp>
    </p:spTree>
    <p:extLst>
      <p:ext uri="{BB962C8B-B14F-4D97-AF65-F5344CB8AC3E}">
        <p14:creationId xmlns:p14="http://schemas.microsoft.com/office/powerpoint/2010/main" val="15552537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2026-09-30T11:23:22.8950000Z</dcterms:created>
  <dcterms:modified xsi:type="dcterms:W3CDTF">2026-09-30T11:23:22.8950000Z</dcterms:modified>
</coreProperties>
</file>