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71578313464657" /><Relationship Type="http://schemas.openxmlformats.org/officeDocument/2006/relationships/extended-properties" Target="/docProps/app.xml" Id="R235dd3aa57a64873" /><Relationship Type="http://schemas.openxmlformats.org/officeDocument/2006/relationships/officeDocument" Target="/ppt/presentation.xml" Id="R7e67e333194a44c3" /></Relationships>
</file>

<file path=ppt/presentation.xml><?xml version="1.0" encoding="utf-8"?>
<p:presentation xmlns:p="http://schemas.openxmlformats.org/presentationml/2006/main">
  <p:sldMasterIdLst>
    <p:sldMasterId xmlns:r="http://schemas.openxmlformats.org/officeDocument/2006/relationships" id="2147483648" r:id="R6c0bc196e67b4a64"/>
  </p:sldMasterIdLst>
  <p:notesMasterIdLst>
    <p:notesMasterId xmlns:r="http://schemas.openxmlformats.org/officeDocument/2006/relationships" r:id="Rc07e11de3918452d"/>
  </p:notesMasterIdLst>
  <p:sldIdLst>
    <p:sldId xmlns:r="http://schemas.openxmlformats.org/officeDocument/2006/relationships" id="256" r:id="R7988495b4f8d48f9"/>
    <p:sldId xmlns:r="http://schemas.openxmlformats.org/officeDocument/2006/relationships" id="257" r:id="Rdb9b9ea15b3a49e8"/>
    <p:sldId xmlns:r="http://schemas.openxmlformats.org/officeDocument/2006/relationships" id="258" r:id="R7bf834226acf46c8"/>
    <p:sldId xmlns:r="http://schemas.openxmlformats.org/officeDocument/2006/relationships" id="259" r:id="Re2c0cb2a2e414ad8"/>
    <p:sldId xmlns:r="http://schemas.openxmlformats.org/officeDocument/2006/relationships" id="260" r:id="R923a5fa016c84090"/>
    <p:sldId xmlns:r="http://schemas.openxmlformats.org/officeDocument/2006/relationships" id="261" r:id="R342a88f74d1342b8"/>
    <p:sldId xmlns:r="http://schemas.openxmlformats.org/officeDocument/2006/relationships" id="262" r:id="R6734195171974d1a"/>
    <p:sldId xmlns:r="http://schemas.openxmlformats.org/officeDocument/2006/relationships" id="263" r:id="R3adb67ba259c46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b953f5d3674081" /><Relationship Type="http://schemas.openxmlformats.org/officeDocument/2006/relationships/slideMaster" Target="/ppt/slideMasters/slideMaster1.xml" Id="R6c0bc196e67b4a64" /><Relationship Type="http://schemas.openxmlformats.org/officeDocument/2006/relationships/notesMaster" Target="/ppt/notesMasters/notesMaster1.xml" Id="Rc07e11de3918452d" /><Relationship Type="http://schemas.openxmlformats.org/officeDocument/2006/relationships/presProps" Target="/ppt/presProps.xml" Id="Rd12c3b84bd344d66" /><Relationship Type="http://schemas.openxmlformats.org/officeDocument/2006/relationships/tableStyles" Target="/ppt/tableStyles.xml" Id="R8ba3d12eb6ab4132" /><Relationship Type="http://schemas.openxmlformats.org/officeDocument/2006/relationships/slide" Target="/ppt/slides/slide1.xml" Id="R7988495b4f8d48f9" /><Relationship Type="http://schemas.openxmlformats.org/officeDocument/2006/relationships/slide" Target="/ppt/slides/slide2.xml" Id="Rdb9b9ea15b3a49e8" /><Relationship Type="http://schemas.openxmlformats.org/officeDocument/2006/relationships/slide" Target="/ppt/slides/slide3.xml" Id="R7bf834226acf46c8" /><Relationship Type="http://schemas.openxmlformats.org/officeDocument/2006/relationships/slide" Target="/ppt/slides/slide4.xml" Id="Re2c0cb2a2e414ad8" /><Relationship Type="http://schemas.openxmlformats.org/officeDocument/2006/relationships/slide" Target="/ppt/slides/slide5.xml" Id="R923a5fa016c84090" /><Relationship Type="http://schemas.openxmlformats.org/officeDocument/2006/relationships/slide" Target="/ppt/slides/slide6.xml" Id="R342a88f74d1342b8" /><Relationship Type="http://schemas.openxmlformats.org/officeDocument/2006/relationships/slide" Target="/ppt/slides/slide7.xml" Id="R6734195171974d1a" /><Relationship Type="http://schemas.openxmlformats.org/officeDocument/2006/relationships/slide" Target="/ppt/slides/slide8.xml" Id="R3adb67ba259c46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ce9fdbd004c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e64278647842f8" /><Relationship Type="http://schemas.openxmlformats.org/officeDocument/2006/relationships/notesMaster" Target="/ppt/notesMasters/notesMaster1.xml" Id="Rdd1eb86a69f648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c39e8c32b24eed" /><Relationship Type="http://schemas.openxmlformats.org/officeDocument/2006/relationships/notesMaster" Target="/ppt/notesMasters/notesMaster1.xml" Id="Rff7ff4e475994d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885716d4bd4fc7" /><Relationship Type="http://schemas.openxmlformats.org/officeDocument/2006/relationships/notesMaster" Target="/ppt/notesMasters/notesMaster1.xml" Id="R2a5dafdf9c51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fe259c0a444798" /><Relationship Type="http://schemas.openxmlformats.org/officeDocument/2006/relationships/notesMaster" Target="/ppt/notesMasters/notesMaster1.xml" Id="Rbe1a2a45385d4b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20daa1047e4f0d" /><Relationship Type="http://schemas.openxmlformats.org/officeDocument/2006/relationships/notesMaster" Target="/ppt/notesMasters/notesMaster1.xml" Id="R004b95d3a0ca49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9bbc4802d54c0d" /><Relationship Type="http://schemas.openxmlformats.org/officeDocument/2006/relationships/notesMaster" Target="/ppt/notesMasters/notesMaster1.xml" Id="R4d2472c275a144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dc42e34e08460b" /><Relationship Type="http://schemas.openxmlformats.org/officeDocument/2006/relationships/notesMaster" Target="/ppt/notesMasters/notesMaster1.xml" Id="R40712a6f9e394f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03173890dc4282" /><Relationship Type="http://schemas.openxmlformats.org/officeDocument/2006/relationships/notesMaster" Target="/ppt/notesMasters/notesMaster1.xml" Id="R1067c55be3ca49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Không phải mọi dữ liệu chuỗi đều được xử lý giống nhau. Phần này phân biệt pipeline NLP với pipeline giá vàng. Nguồn: notebook rnn_sequence_preprocessing_gold_price.ipynb; dataset https://www.kaggle.com/datasets/lbronchal/gold-and-silver-prices-dataset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ranh giới khái niệm. Chuỗi văn bản bắt đầu từ string và cần ánh xạ token sang số. Dataset giá vàng đã có giá trị số, nên không được áp dụng embedding theo cách của NLP.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padding bằng số 0 và liên hệ với mask. Embedding không biến giá vàng thành vector; nó dành cho các ID nguyên của token. Nguồn tham khảo: https://pytorch.org/docs/stable/generated/torch.nn.Embedding.html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chậm ở bước chia tập và scaling. Đây là phần dễ bị hỏi nhất: vì sao không fit scaler trên toàn bộ dataset? Vì max/min của tương lai sẽ làm mô hình biết trước phân phối test. Dataset source: https://www.kaggle.com/datasets/lbronchal/gold-and-silver-prices-dataset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code duy nhất dành riêng cho NLP. Không giải thích từng dòng quá lâu; chỉ chỉ ra luồng string → ID → padding → vector. Full code đã chạy trong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shape bằng một mẫu cụ thể: X là 30 giá liên tiếp, y là giá tiếp theo. Nhấn mạnh split theo thời gian trước khi scaler fit. Full implementation nằm trong cell windowing của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đi sâu vào W, U, V hoặc vanishing gradient vì đó là phần kiến trúc/training chung. Ở đây chỉ cần nối shape input với lớp RNN, output layer và quy trình loss.backward(). Nguồn API: https://pytorch.org/docs/stable/generated/torch.nn.RNN.html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bảng trước, sau đó chỉ vào biểu đồ actual-prediction và residual. Kết quả được lấy trực tiếp từ notebook đã chạy. Không nói RNN tốt hơn baseline. Đây là ví dụ cho thấy distribution shift làm Simple RNN khó ngoại suy mức giá mới. Notebook: rnn_sequence_preprocessing_gold_price.ipynb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84901ae80947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4c0e2ef72a42eb" /><Relationship Type="http://schemas.openxmlformats.org/officeDocument/2006/relationships/slideLayout" Target="/ppt/slideLayouts/slideLayout1.xml" Id="R2ae92aee0b3245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e92aee0b3245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4f55ee11724835" /><Relationship Type="http://schemas.openxmlformats.org/officeDocument/2006/relationships/notesSlide" Target="/ppt/notesSlides/notesSlide1.xml" Id="R56422b97e4d14e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4f2aa7e79c4826" /><Relationship Type="http://schemas.openxmlformats.org/officeDocument/2006/relationships/notesSlide" Target="/ppt/notesSlides/notesSlide2.xml" Id="Rfa2b9499f37c42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f64fc01d8d443a" /><Relationship Type="http://schemas.openxmlformats.org/officeDocument/2006/relationships/notesSlide" Target="/ppt/notesSlides/notesSlide3.xml" Id="R8c279172e03f48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e83a0307334e01" /><Relationship Type="http://schemas.openxmlformats.org/officeDocument/2006/relationships/notesSlide" Target="/ppt/notesSlides/notesSlide4.xml" Id="Raf55f54e6d774f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ce4b028c534558" /><Relationship Type="http://schemas.openxmlformats.org/officeDocument/2006/relationships/notesSlide" Target="/ppt/notesSlides/notesSlide5.xml" Id="R5c8aefe563f940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ee92b643ac4437" /><Relationship Type="http://schemas.openxmlformats.org/officeDocument/2006/relationships/notesSlide" Target="/ppt/notesSlides/notesSlide6.xml" Id="R61955b00698849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fe078f1fc74433" /><Relationship Type="http://schemas.openxmlformats.org/officeDocument/2006/relationships/image" Target="/ppt/media/image.png" Id="R91e48e2335f04e0a" /><Relationship Type="http://schemas.openxmlformats.org/officeDocument/2006/relationships/notesSlide" Target="/ppt/notesSlides/notesSlide7.xml" Id="R549c9332f10142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bdfcb7a5364127" /><Relationship Type="http://schemas.openxmlformats.org/officeDocument/2006/relationships/image" Target="/ppt/media/image2.png" Id="R26ff96c0dd5541f1" /><Relationship Type="http://schemas.openxmlformats.org/officeDocument/2006/relationships/image" Target="/ppt/media/image3.png" Id="Rd7818904fd854562" /><Relationship Type="http://schemas.openxmlformats.org/officeDocument/2006/relationships/notesSlide" Target="/ppt/notesSlides/notesSlide8.xml" Id="R6fa27fdd1a694116" /></Relationships>
</file>

<file path=ppt/slides/slide1.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D200334-594C-40DA-94C4-42891FC61E0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8249B6-F208-4611-8E43-76D3E8963AD2}"/>
              </a:ext>
            </a:extLst>
          </p:cNvPr>
          <p:cNvSpPr>
            <a:spLocks xmlns:a="http://schemas.openxmlformats.org/drawingml/2006/main" noGrp="1"/>
          </p:cNvSpPr>
          <p:nvPr/>
        </p:nvSpPr>
        <p:spPr>
          <a:xfrm xmlns:a="http://schemas.openxmlformats.org/drawingml/2006/main">
            <a:off x="838200" y="7239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C58B2A"/>
                </a:solidFill>
                <a:latin typeface="Arial"/>
                <a:ea typeface="Arial"/>
                <a:cs typeface="Arial"/>
              </a:defRPr>
            </a:pPr>
            <a:r>
              <a:rPr sz="1350" b="1" i="0">
                <a:solidFill>
                  <a:srgbClr val="C58B2A"/>
                </a:solidFill>
                <a:latin typeface="Arial"/>
                <a:ea typeface="Arial"/>
                <a:cs typeface="Arial"/>
              </a:rPr>
              <a:t>PHẦN 2</a:t>
            </a:r>
          </a:p>
        </p:txBody>
      </p:sp>
      <p:sp>
        <p:nvSpPr>
          <p:cNvPr id="3" name="">
            <a:extLst xmlns:a="http://schemas.openxmlformats.org/drawingml/2006/main">
              <a:ext uri="{FF2B5EF4-FFF2-40B4-BE49-F238E27FC236}">
                <a16:creationId xmlns:a16="http://schemas.microsoft.com/office/drawing/2014/main" id="{5BD23977-6C00-4772-892F-C8F4B7F66DD4}"/>
              </a:ext>
            </a:extLst>
          </p:cNvPr>
          <p:cNvSpPr>
            <a:spLocks xmlns:a="http://schemas.openxmlformats.org/drawingml/2006/main" noGrp="1"/>
          </p:cNvSpPr>
          <p:nvPr/>
        </p:nvSpPr>
        <p:spPr>
          <a:xfrm xmlns:a="http://schemas.openxmlformats.org/drawingml/2006/main">
            <a:off x="838200" y="1190625"/>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i="0">
                <a:solidFill>
                  <a:srgbClr val="102A43"/>
                </a:solidFill>
                <a:latin typeface="Arial"/>
                <a:ea typeface="Arial"/>
                <a:cs typeface="Arial"/>
              </a:defRPr>
            </a:pPr>
            <a:r>
              <a:rPr sz="3600" b="1" i="0">
                <a:solidFill>
                  <a:srgbClr val="102A43"/>
                </a:solidFill>
                <a:latin typeface="Arial"/>
                <a:ea typeface="Arial"/>
                <a:cs typeface="Arial"/>
              </a:rPr>
              <a:t>Tiền xử lý dữ liệu chuỗi</a:t>
            </a:r>
          </a:p>
          <a:p xmlns:a="http://schemas.openxmlformats.org/drawingml/2006/main">
            <a:pPr algn="l">
              <a:defRPr sz="3600" b="1" i="0">
                <a:solidFill>
                  <a:srgbClr val="102A43"/>
                </a:solidFill>
                <a:latin typeface="Arial"/>
                <a:ea typeface="Arial"/>
                <a:cs typeface="Arial"/>
              </a:defRPr>
            </a:pPr>
            <a:r>
              <a:rPr sz="3600" b="1" i="0">
                <a:solidFill>
                  <a:srgbClr val="102A43"/>
                </a:solidFill>
                <a:latin typeface="Arial"/>
                <a:ea typeface="Arial"/>
                <a:cs typeface="Arial"/>
              </a:rPr>
              <a:t>cho RNN</a:t>
            </a:r>
          </a:p>
        </p:txBody>
      </p:sp>
      <p:sp>
        <p:nvSpPr>
          <p:cNvPr id="4" name="">
            <a:extLst xmlns:a="http://schemas.openxmlformats.org/drawingml/2006/main">
              <a:ext uri="{FF2B5EF4-FFF2-40B4-BE49-F238E27FC236}">
                <a16:creationId xmlns:a16="http://schemas.microsoft.com/office/drawing/2014/main" id="{24A8FAA8-AB87-4D49-9C6F-6769820AAA22}"/>
              </a:ext>
            </a:extLst>
          </p:cNvPr>
          <p:cNvSpPr>
            <a:spLocks xmlns:a="http://schemas.openxmlformats.org/drawingml/2006/main" noGrp="1"/>
          </p:cNvSpPr>
          <p:nvPr/>
        </p:nvSpPr>
        <p:spPr>
          <a:xfrm xmlns:a="http://schemas.openxmlformats.org/drawingml/2006/main">
            <a:off x="876300" y="28575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5C6B73"/>
                </a:solidFill>
                <a:latin typeface="Arial"/>
                <a:ea typeface="Arial"/>
                <a:cs typeface="Arial"/>
              </a:defRPr>
            </a:pPr>
            <a:r>
              <a:rPr sz="1725" b="0" i="0">
                <a:solidFill>
                  <a:srgbClr val="5C6B73"/>
                </a:solidFill>
                <a:latin typeface="Arial"/>
                <a:ea typeface="Arial"/>
                <a:cs typeface="Arial"/>
              </a:rPr>
              <a:t>Từ token văn bản đến tensor giá vàng</a:t>
            </a:r>
          </a:p>
        </p:txBody>
      </p:sp>
      <p:sp>
        <p:nvSpPr>
          <p:cNvPr id="5" name="">
            <a:extLst xmlns:a="http://schemas.openxmlformats.org/drawingml/2006/main">
              <a:ext uri="{FF2B5EF4-FFF2-40B4-BE49-F238E27FC236}">
                <a16:creationId xmlns:a16="http://schemas.microsoft.com/office/drawing/2014/main" id="{307FB623-98E8-4436-8AE3-88E97AF8EB2F}"/>
              </a:ext>
            </a:extLst>
          </p:cNvPr>
          <p:cNvSpPr>
            <a:spLocks xmlns:a="http://schemas.openxmlformats.org/drawingml/2006/main" noGrp="1"/>
          </p:cNvSpPr>
          <p:nvPr/>
        </p:nvSpPr>
        <p:spPr>
          <a:xfrm xmlns:a="http://schemas.openxmlformats.org/drawingml/2006/main">
            <a:off x="838200" y="3905250"/>
            <a:ext cx="4857750" cy="1028700"/>
          </a:xfrm>
          <a:prstGeom xmlns:a="http://schemas.openxmlformats.org/drawingml/2006/main" prst="roundRect">
            <a:avLst>
              <a:gd name="adj" fmla="val 14815"/>
            </a:avLst>
          </a:prstGeom>
          <a:solidFill xmlns:a="http://schemas.openxmlformats.org/drawingml/2006/main">
            <a:srgbClr val="F2E5C4"/>
          </a:solidFill>
          <a:ln xmlns:a="http://schemas.openxmlformats.org/drawingml/2006/main" w="9525">
            <a:solidFill>
              <a:srgbClr val="C58B2A"/>
            </a:solidFill>
            <a:prstDash val="solid"/>
          </a:ln>
        </p:spPr>
      </p:sp>
      <p:sp>
        <p:nvSpPr>
          <p:cNvPr id="6" name="">
            <a:extLst xmlns:a="http://schemas.openxmlformats.org/drawingml/2006/main">
              <a:ext uri="{FF2B5EF4-FFF2-40B4-BE49-F238E27FC236}">
                <a16:creationId xmlns:a16="http://schemas.microsoft.com/office/drawing/2014/main" id="{7D4A9093-1A5A-4629-81CC-DE0770D63976}"/>
              </a:ext>
            </a:extLst>
          </p:cNvPr>
          <p:cNvSpPr>
            <a:spLocks xmlns:a="http://schemas.openxmlformats.org/drawingml/2006/main" noGrp="1"/>
          </p:cNvSpPr>
          <p:nvPr/>
        </p:nvSpPr>
        <p:spPr>
          <a:xfrm xmlns:a="http://schemas.openxmlformats.org/drawingml/2006/main">
            <a:off x="1066800" y="4095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Thông điệp chính</a:t>
            </a:r>
          </a:p>
        </p:txBody>
      </p:sp>
      <p:sp>
        <p:nvSpPr>
          <p:cNvPr id="7" name="">
            <a:extLst xmlns:a="http://schemas.openxmlformats.org/drawingml/2006/main">
              <a:ext uri="{FF2B5EF4-FFF2-40B4-BE49-F238E27FC236}">
                <a16:creationId xmlns:a16="http://schemas.microsoft.com/office/drawing/2014/main" id="{DD1A8CED-6830-4A1A-B4B4-D8901A9F83D4}"/>
              </a:ext>
            </a:extLst>
          </p:cNvPr>
          <p:cNvSpPr>
            <a:spLocks xmlns:a="http://schemas.openxmlformats.org/drawingml/2006/main" noGrp="1"/>
          </p:cNvSpPr>
          <p:nvPr/>
        </p:nvSpPr>
        <p:spPr>
          <a:xfrm xmlns:a="http://schemas.openxmlformats.org/drawingml/2006/main">
            <a:off x="1066800" y="4371975"/>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Văn bản cần tokenizer và embedding.</a:t>
            </a:r>
          </a:p>
          <a:p xmlns:a="http://schemas.openxmlformats.org/drawingml/2006/main">
            <a:pPr algn="l">
              <a:defRPr sz="1425" b="1" i="0">
                <a:solidFill>
                  <a:srgbClr val="102A43"/>
                </a:solidFill>
                <a:latin typeface="Arial"/>
                <a:ea typeface="Arial"/>
                <a:cs typeface="Arial"/>
              </a:defRPr>
            </a:pPr>
            <a:r>
              <a:rPr sz="1425" b="1" i="0">
                <a:solidFill>
                  <a:srgbClr val="102A43"/>
                </a:solidFill>
                <a:latin typeface="Arial"/>
                <a:ea typeface="Arial"/>
                <a:cs typeface="Arial"/>
              </a:rPr>
              <a:t>Giá vàng đã là dữ liệu số liên tục.</a:t>
            </a:r>
          </a:p>
        </p:txBody>
      </p:sp>
      <p:sp>
        <p:nvSpPr>
          <p:cNvPr id="8" name="">
            <a:extLst xmlns:a="http://schemas.openxmlformats.org/drawingml/2006/main">
              <a:ext uri="{FF2B5EF4-FFF2-40B4-BE49-F238E27FC236}">
                <a16:creationId xmlns:a16="http://schemas.microsoft.com/office/drawing/2014/main" id="{7617D97E-6B57-4378-A014-429381073AFD}"/>
              </a:ext>
            </a:extLst>
          </p:cNvPr>
          <p:cNvSpPr>
            <a:spLocks xmlns:a="http://schemas.openxmlformats.org/drawingml/2006/main" noGrp="1"/>
          </p:cNvSpPr>
          <p:nvPr/>
        </p:nvSpPr>
        <p:spPr>
          <a:xfrm xmlns:a="http://schemas.openxmlformats.org/drawingml/2006/main">
            <a:off x="838200" y="62865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0">
                <a:solidFill>
                  <a:srgbClr val="5C6B73"/>
                </a:solidFill>
                <a:latin typeface="Arial"/>
                <a:ea typeface="Arial"/>
                <a:cs typeface="Arial"/>
              </a:defRPr>
            </a:pPr>
            <a:r>
              <a:rPr sz="975" b="0" i="0">
                <a:solidFill>
                  <a:srgbClr val="5C6B73"/>
                </a:solidFill>
                <a:latin typeface="Arial"/>
                <a:ea typeface="Arial"/>
                <a:cs typeface="Arial"/>
              </a:rPr>
              <a:t>Notebook chạy được: rnn_sequence_preprocessing_gold_price.ipynb</a:t>
            </a:r>
          </a:p>
        </p:txBody>
      </p:sp>
      <p:sp>
        <p:nvSpPr>
          <p:cNvPr id="9" name="">
            <a:extLst xmlns:a="http://schemas.openxmlformats.org/drawingml/2006/main">
              <a:ext uri="{FF2B5EF4-FFF2-40B4-BE49-F238E27FC236}">
                <a16:creationId xmlns:a16="http://schemas.microsoft.com/office/drawing/2014/main" id="{926C8F66-4A0B-4A3C-BA3B-E26265066DC6}"/>
              </a:ext>
            </a:extLst>
          </p:cNvPr>
          <p:cNvSpPr>
            <a:spLocks xmlns:a="http://schemas.openxmlformats.org/drawingml/2006/main" noGrp="1"/>
          </p:cNvSpPr>
          <p:nvPr/>
        </p:nvSpPr>
        <p:spPr>
          <a:xfrm xmlns:a="http://schemas.openxmlformats.org/drawingml/2006/main">
            <a:off x="7334250" y="952500"/>
            <a:ext cx="3714750" cy="4476750"/>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9525">
            <a:solidFill>
              <a:srgbClr val="D9DEE5"/>
            </a:solidFill>
            <a:prstDash val="solid"/>
          </a:ln>
        </p:spPr>
      </p:sp>
      <p:sp>
        <p:nvSpPr>
          <p:cNvPr id="10" name="">
            <a:extLst xmlns:a="http://schemas.openxmlformats.org/drawingml/2006/main">
              <a:ext uri="{FF2B5EF4-FFF2-40B4-BE49-F238E27FC236}">
                <a16:creationId xmlns:a16="http://schemas.microsoft.com/office/drawing/2014/main" id="{94393900-2698-4987-A0DA-C59CD1315FC3}"/>
              </a:ext>
            </a:extLst>
          </p:cNvPr>
          <p:cNvSpPr>
            <a:spLocks xmlns:a="http://schemas.openxmlformats.org/drawingml/2006/main" noGrp="1"/>
          </p:cNvSpPr>
          <p:nvPr/>
        </p:nvSpPr>
        <p:spPr>
          <a:xfrm xmlns:a="http://schemas.openxmlformats.org/drawingml/2006/main">
            <a:off x="7620000" y="1285875"/>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102A43"/>
                </a:solidFill>
                <a:latin typeface="Arial"/>
                <a:ea typeface="Arial"/>
                <a:cs typeface="Arial"/>
              </a:defRPr>
            </a:pPr>
            <a:r>
              <a:rPr sz="1800" b="1" i="0">
                <a:solidFill>
                  <a:srgbClr val="102A43"/>
                </a:solidFill>
                <a:latin typeface="Arial"/>
                <a:ea typeface="Arial"/>
                <a:cs typeface="Arial"/>
              </a:rPr>
              <a:t>Dữ liệu thô trở thành tensor như thế nào?</a:t>
            </a:r>
          </a:p>
        </p:txBody>
      </p:sp>
      <p:sp>
        <p:nvSpPr>
          <p:cNvPr id="11" name="">
            <a:extLst xmlns:a="http://schemas.openxmlformats.org/drawingml/2006/main">
              <a:ext uri="{FF2B5EF4-FFF2-40B4-BE49-F238E27FC236}">
                <a16:creationId xmlns:a16="http://schemas.microsoft.com/office/drawing/2014/main" id="{6BA6AC47-0CC3-4E79-932D-C03882BC0E40}"/>
              </a:ext>
            </a:extLst>
          </p:cNvPr>
          <p:cNvSpPr>
            <a:spLocks xmlns:a="http://schemas.openxmlformats.org/drawingml/2006/main" noGrp="1"/>
          </p:cNvSpPr>
          <p:nvPr/>
        </p:nvSpPr>
        <p:spPr>
          <a:xfrm xmlns:a="http://schemas.openxmlformats.org/drawingml/2006/main">
            <a:off x="766762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2" name="">
            <a:extLst xmlns:a="http://schemas.openxmlformats.org/drawingml/2006/main">
              <a:ext uri="{FF2B5EF4-FFF2-40B4-BE49-F238E27FC236}">
                <a16:creationId xmlns:a16="http://schemas.microsoft.com/office/drawing/2014/main" id="{63C9A298-4BDB-4FF4-B424-B2893C3B90A4}"/>
              </a:ext>
            </a:extLst>
          </p:cNvPr>
          <p:cNvSpPr>
            <a:spLocks xmlns:a="http://schemas.openxmlformats.org/drawingml/2006/main" noGrp="1"/>
          </p:cNvSpPr>
          <p:nvPr/>
        </p:nvSpPr>
        <p:spPr>
          <a:xfrm xmlns:a="http://schemas.openxmlformats.org/drawingml/2006/main">
            <a:off x="769620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priceₜ₋₂</a:t>
            </a:r>
          </a:p>
        </p:txBody>
      </p:sp>
      <p:sp>
        <p:nvSpPr>
          <p:cNvPr id="13" name="">
            <a:extLst xmlns:a="http://schemas.openxmlformats.org/drawingml/2006/main">
              <a:ext uri="{FF2B5EF4-FFF2-40B4-BE49-F238E27FC236}">
                <a16:creationId xmlns:a16="http://schemas.microsoft.com/office/drawing/2014/main" id="{DE1AE133-4459-4D55-8F21-92BCE7DC3806}"/>
              </a:ext>
            </a:extLst>
          </p:cNvPr>
          <p:cNvSpPr>
            <a:spLocks xmlns:a="http://schemas.openxmlformats.org/drawingml/2006/main" noGrp="1"/>
          </p:cNvSpPr>
          <p:nvPr/>
        </p:nvSpPr>
        <p:spPr>
          <a:xfrm xmlns:a="http://schemas.openxmlformats.org/drawingml/2006/main">
            <a:off x="832485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CEB432-1945-450C-AE3B-F8942B7172B0}"/>
              </a:ext>
            </a:extLst>
          </p:cNvPr>
          <p:cNvSpPr>
            <a:spLocks xmlns:a="http://schemas.openxmlformats.org/drawingml/2006/main" noGrp="1"/>
          </p:cNvSpPr>
          <p:nvPr/>
        </p:nvSpPr>
        <p:spPr>
          <a:xfrm xmlns:a="http://schemas.openxmlformats.org/drawingml/2006/main">
            <a:off x="841057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5" name="">
            <a:extLst xmlns:a="http://schemas.openxmlformats.org/drawingml/2006/main">
              <a:ext uri="{FF2B5EF4-FFF2-40B4-BE49-F238E27FC236}">
                <a16:creationId xmlns:a16="http://schemas.microsoft.com/office/drawing/2014/main" id="{3231CD7F-D5A8-4A60-B34C-969CCBC5C5B6}"/>
              </a:ext>
            </a:extLst>
          </p:cNvPr>
          <p:cNvSpPr>
            <a:spLocks xmlns:a="http://schemas.openxmlformats.org/drawingml/2006/main" noGrp="1"/>
          </p:cNvSpPr>
          <p:nvPr/>
        </p:nvSpPr>
        <p:spPr>
          <a:xfrm xmlns:a="http://schemas.openxmlformats.org/drawingml/2006/main">
            <a:off x="843915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priceₜ₋₁</a:t>
            </a:r>
          </a:p>
        </p:txBody>
      </p:sp>
      <p:sp>
        <p:nvSpPr>
          <p:cNvPr id="16" name="">
            <a:extLst xmlns:a="http://schemas.openxmlformats.org/drawingml/2006/main">
              <a:ext uri="{FF2B5EF4-FFF2-40B4-BE49-F238E27FC236}">
                <a16:creationId xmlns:a16="http://schemas.microsoft.com/office/drawing/2014/main" id="{807EF483-0294-45D2-8725-7487354AF69A}"/>
              </a:ext>
            </a:extLst>
          </p:cNvPr>
          <p:cNvSpPr>
            <a:spLocks xmlns:a="http://schemas.openxmlformats.org/drawingml/2006/main" noGrp="1"/>
          </p:cNvSpPr>
          <p:nvPr/>
        </p:nvSpPr>
        <p:spPr>
          <a:xfrm xmlns:a="http://schemas.openxmlformats.org/drawingml/2006/main">
            <a:off x="906780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8C4431-1047-4017-B4DA-414573C19CE8}"/>
              </a:ext>
            </a:extLst>
          </p:cNvPr>
          <p:cNvSpPr>
            <a:spLocks xmlns:a="http://schemas.openxmlformats.org/drawingml/2006/main" noGrp="1"/>
          </p:cNvSpPr>
          <p:nvPr/>
        </p:nvSpPr>
        <p:spPr>
          <a:xfrm xmlns:a="http://schemas.openxmlformats.org/drawingml/2006/main">
            <a:off x="9153525" y="2667000"/>
            <a:ext cx="647700" cy="647700"/>
          </a:xfrm>
          <a:prstGeom xmlns:a="http://schemas.openxmlformats.org/drawingml/2006/main" prst="roundRect">
            <a:avLst>
              <a:gd name="adj" fmla="val 17647"/>
            </a:avLst>
          </a:prstGeom>
          <a:solidFill xmlns:a="http://schemas.openxmlformats.org/drawingml/2006/main">
            <a:srgbClr val="DCEAF2"/>
          </a:solidFill>
          <a:ln xmlns:a="http://schemas.openxmlformats.org/drawingml/2006/main" w="9525">
            <a:solidFill>
              <a:srgbClr val="2D6A8F"/>
            </a:solidFill>
            <a:prstDash val="solid"/>
          </a:ln>
        </p:spPr>
      </p:sp>
      <p:sp>
        <p:nvSpPr>
          <p:cNvPr id="18" name="">
            <a:extLst xmlns:a="http://schemas.openxmlformats.org/drawingml/2006/main">
              <a:ext uri="{FF2B5EF4-FFF2-40B4-BE49-F238E27FC236}">
                <a16:creationId xmlns:a16="http://schemas.microsoft.com/office/drawing/2014/main" id="{00B62B08-E163-4F3A-91FF-083D8CC06027}"/>
              </a:ext>
            </a:extLst>
          </p:cNvPr>
          <p:cNvSpPr>
            <a:spLocks xmlns:a="http://schemas.openxmlformats.org/drawingml/2006/main" noGrp="1"/>
          </p:cNvSpPr>
          <p:nvPr/>
        </p:nvSpPr>
        <p:spPr>
          <a:xfrm xmlns:a="http://schemas.openxmlformats.org/drawingml/2006/main">
            <a:off x="918210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D6A8F"/>
                </a:solidFill>
                <a:latin typeface="Arial"/>
                <a:ea typeface="Arial"/>
                <a:cs typeface="Arial"/>
              </a:defRPr>
            </a:pPr>
            <a:r>
              <a:rPr sz="975" b="1" i="0">
                <a:solidFill>
                  <a:srgbClr val="2D6A8F"/>
                </a:solidFill>
                <a:latin typeface="Arial"/>
                <a:ea typeface="Arial"/>
                <a:cs typeface="Arial"/>
              </a:rPr>
              <a:t>priceₜ</a:t>
            </a:r>
          </a:p>
        </p:txBody>
      </p:sp>
      <p:sp>
        <p:nvSpPr>
          <p:cNvPr id="19" name="">
            <a:extLst xmlns:a="http://schemas.openxmlformats.org/drawingml/2006/main">
              <a:ext uri="{FF2B5EF4-FFF2-40B4-BE49-F238E27FC236}">
                <a16:creationId xmlns:a16="http://schemas.microsoft.com/office/drawing/2014/main" id="{5A7AD9C2-9664-4E10-9CD7-0EEAB9D24AA1}"/>
              </a:ext>
            </a:extLst>
          </p:cNvPr>
          <p:cNvSpPr>
            <a:spLocks xmlns:a="http://schemas.openxmlformats.org/drawingml/2006/main" noGrp="1"/>
          </p:cNvSpPr>
          <p:nvPr/>
        </p:nvSpPr>
        <p:spPr>
          <a:xfrm xmlns:a="http://schemas.openxmlformats.org/drawingml/2006/main">
            <a:off x="9810750" y="2971800"/>
            <a:ext cx="857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1BA4B7A-7BA5-44FE-90B4-A06D54A9A1B4}"/>
              </a:ext>
            </a:extLst>
          </p:cNvPr>
          <p:cNvSpPr>
            <a:spLocks xmlns:a="http://schemas.openxmlformats.org/drawingml/2006/main" noGrp="1"/>
          </p:cNvSpPr>
          <p:nvPr/>
        </p:nvSpPr>
        <p:spPr>
          <a:xfrm xmlns:a="http://schemas.openxmlformats.org/drawingml/2006/main">
            <a:off x="9896475" y="2667000"/>
            <a:ext cx="647700" cy="647700"/>
          </a:xfrm>
          <a:prstGeom xmlns:a="http://schemas.openxmlformats.org/drawingml/2006/main" prst="roundRect">
            <a:avLst>
              <a:gd name="adj" fmla="val 17647"/>
            </a:avLst>
          </a:prstGeom>
          <a:solidFill xmlns:a="http://schemas.openxmlformats.org/drawingml/2006/main">
            <a:srgbClr val="F5E2DE"/>
          </a:solidFill>
          <a:ln xmlns:a="http://schemas.openxmlformats.org/drawingml/2006/main" w="9525">
            <a:solidFill>
              <a:srgbClr val="B65345"/>
            </a:solidFill>
            <a:prstDash val="solid"/>
          </a:ln>
        </p:spPr>
      </p:sp>
      <p:sp>
        <p:nvSpPr>
          <p:cNvPr id="21" name="">
            <a:extLst xmlns:a="http://schemas.openxmlformats.org/drawingml/2006/main">
              <a:ext uri="{FF2B5EF4-FFF2-40B4-BE49-F238E27FC236}">
                <a16:creationId xmlns:a16="http://schemas.microsoft.com/office/drawing/2014/main" id="{B57EE77F-285B-46BE-ABCD-B8CE71E03975}"/>
              </a:ext>
            </a:extLst>
          </p:cNvPr>
          <p:cNvSpPr>
            <a:spLocks xmlns:a="http://schemas.openxmlformats.org/drawingml/2006/main" noGrp="1"/>
          </p:cNvSpPr>
          <p:nvPr/>
        </p:nvSpPr>
        <p:spPr>
          <a:xfrm xmlns:a="http://schemas.openxmlformats.org/drawingml/2006/main">
            <a:off x="9925050" y="2905125"/>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B65345"/>
                </a:solidFill>
                <a:latin typeface="Arial"/>
                <a:ea typeface="Arial"/>
                <a:cs typeface="Arial"/>
              </a:defRPr>
            </a:pPr>
            <a:r>
              <a:rPr sz="975" b="1" i="0">
                <a:solidFill>
                  <a:srgbClr val="B65345"/>
                </a:solidFill>
                <a:latin typeface="Arial"/>
                <a:ea typeface="Arial"/>
                <a:cs typeface="Arial"/>
              </a:rPr>
              <a:t>yₜ₊₁</a:t>
            </a:r>
          </a:p>
        </p:txBody>
      </p:sp>
      <p:sp>
        <p:nvSpPr>
          <p:cNvPr id="22" name="">
            <a:extLst xmlns:a="http://schemas.openxmlformats.org/drawingml/2006/main">
              <a:ext uri="{FF2B5EF4-FFF2-40B4-BE49-F238E27FC236}">
                <a16:creationId xmlns:a16="http://schemas.microsoft.com/office/drawing/2014/main" id="{29459173-66D2-47F1-A7DD-A632E0C8B068}"/>
              </a:ext>
            </a:extLst>
          </p:cNvPr>
          <p:cNvSpPr>
            <a:spLocks xmlns:a="http://schemas.openxmlformats.org/drawingml/2006/main" noGrp="1"/>
          </p:cNvSpPr>
          <p:nvPr/>
        </p:nvSpPr>
        <p:spPr>
          <a:xfrm xmlns:a="http://schemas.openxmlformats.org/drawingml/2006/main">
            <a:off x="7953375" y="36004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C6B73"/>
                </a:solidFill>
                <a:latin typeface="Arial"/>
                <a:ea typeface="Arial"/>
                <a:cs typeface="Arial"/>
              </a:defRPr>
            </a:pPr>
            <a:r>
              <a:rPr sz="1200" b="0" i="0">
                <a:solidFill>
                  <a:srgbClr val="5C6B73"/>
                </a:solidFill>
                <a:latin typeface="Arial"/>
                <a:ea typeface="Arial"/>
                <a:cs typeface="Arial"/>
              </a:rPr>
              <a:t>chuỗi đầu vào</a:t>
            </a:r>
          </a:p>
        </p:txBody>
      </p:sp>
      <p:sp>
        <p:nvSpPr>
          <p:cNvPr id="23" name="">
            <a:extLst xmlns:a="http://schemas.openxmlformats.org/drawingml/2006/main">
              <a:ext uri="{FF2B5EF4-FFF2-40B4-BE49-F238E27FC236}">
                <a16:creationId xmlns:a16="http://schemas.microsoft.com/office/drawing/2014/main" id="{765F494C-2FFF-47DD-8D0A-03DD0C65F43D}"/>
              </a:ext>
            </a:extLst>
          </p:cNvPr>
          <p:cNvSpPr>
            <a:spLocks xmlns:a="http://schemas.openxmlformats.org/drawingml/2006/main" noGrp="1"/>
          </p:cNvSpPr>
          <p:nvPr/>
        </p:nvSpPr>
        <p:spPr>
          <a:xfrm xmlns:a="http://schemas.openxmlformats.org/drawingml/2006/main">
            <a:off x="8801100" y="404812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02A43"/>
                </a:solidFill>
                <a:latin typeface="Arial"/>
                <a:ea typeface="Arial"/>
                <a:cs typeface="Arial"/>
              </a:defRPr>
            </a:pPr>
            <a:r>
              <a:rPr sz="2250" b="1" i="0">
                <a:solidFill>
                  <a:srgbClr val="102A43"/>
                </a:solidFill>
                <a:latin typeface="Arial"/>
                <a:ea typeface="Arial"/>
                <a:cs typeface="Arial"/>
              </a:rPr>
              <a:t>RNN</a:t>
            </a:r>
          </a:p>
        </p:txBody>
      </p:sp>
      <p:sp>
        <p:nvSpPr>
          <p:cNvPr id="24" name="">
            <a:extLst xmlns:a="http://schemas.openxmlformats.org/drawingml/2006/main">
              <a:ext uri="{FF2B5EF4-FFF2-40B4-BE49-F238E27FC236}">
                <a16:creationId xmlns:a16="http://schemas.microsoft.com/office/drawing/2014/main" id="{898483B2-EBB6-4968-8132-4941DD57DE73}"/>
              </a:ext>
            </a:extLst>
          </p:cNvPr>
          <p:cNvSpPr>
            <a:spLocks xmlns:a="http://schemas.openxmlformats.org/drawingml/2006/main" noGrp="1"/>
          </p:cNvSpPr>
          <p:nvPr/>
        </p:nvSpPr>
        <p:spPr>
          <a:xfrm xmlns:a="http://schemas.openxmlformats.org/drawingml/2006/main">
            <a:off x="8020050" y="45720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5C6B73"/>
                </a:solidFill>
                <a:latin typeface="Arial"/>
                <a:ea typeface="Arial"/>
                <a:cs typeface="Arial"/>
              </a:defRPr>
            </a:pPr>
            <a:r>
              <a:rPr sz="1275" b="0" i="0">
                <a:solidFill>
                  <a:srgbClr val="5C6B73"/>
                </a:solidFill>
                <a:latin typeface="Arial"/>
                <a:ea typeface="Arial"/>
                <a:cs typeface="Arial"/>
              </a:rPr>
              <a:t>dự đoán bước kế tiếp</a:t>
            </a:r>
          </a:p>
        </p:txBody>
      </p:sp>
    </p:spTree>
    <p:extLst>
      <p:ext uri="{BB962C8B-B14F-4D97-AF65-F5344CB8AC3E}">
        <p14:creationId xmlns:p14="http://schemas.microsoft.com/office/powerpoint/2010/main" val="1401183940"/>
      </p:ext>
    </p:extLst>
  </p:cSld>
</p:sld>
</file>

<file path=ppt/slides/slide2.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C47FA50-57EE-4EF2-A10E-61421D13B6A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20F94F-9C04-4FB8-9BAC-294E731D162B}"/>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DB7C745-E435-4FDF-A60E-0E0F58E7B828}"/>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Hai loại dữ liệu chuỗi, hai pipeline</a:t>
            </a:r>
          </a:p>
        </p:txBody>
      </p:sp>
      <p:sp>
        <p:nvSpPr>
          <p:cNvPr id="4" name="">
            <a:extLst xmlns:a="http://schemas.openxmlformats.org/drawingml/2006/main">
              <a:ext uri="{FF2B5EF4-FFF2-40B4-BE49-F238E27FC236}">
                <a16:creationId xmlns:a16="http://schemas.microsoft.com/office/drawing/2014/main" id="{5B02D79A-E314-4A7E-AB63-33DC9C01E00A}"/>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Tokenizer phù hợp với token rời rạc; giá vàng cần scaling và windowing.</a:t>
            </a:r>
          </a:p>
        </p:txBody>
      </p:sp>
      <p:sp>
        <p:nvSpPr>
          <p:cNvPr id="5" name="">
            <a:extLst xmlns:a="http://schemas.openxmlformats.org/drawingml/2006/main">
              <a:ext uri="{FF2B5EF4-FFF2-40B4-BE49-F238E27FC236}">
                <a16:creationId xmlns:a16="http://schemas.microsoft.com/office/drawing/2014/main" id="{4E67B581-7703-493D-960E-EBA37820BEB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FFA0B39E-87B3-488E-A9FA-D4FF1E2ECA64}"/>
              </a:ext>
            </a:extLst>
          </p:cNvPr>
          <p:cNvSpPr>
            <a:spLocks xmlns:a="http://schemas.openxmlformats.org/drawingml/2006/main" noGrp="1"/>
          </p:cNvSpPr>
          <p:nvPr/>
        </p:nvSpPr>
        <p:spPr>
          <a:xfrm xmlns:a="http://schemas.openxmlformats.org/drawingml/2006/main">
            <a:off x="685800" y="1571625"/>
            <a:ext cx="4972050" cy="409575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73839D1E-17AB-4DF5-B89D-D2BC21371A5B}"/>
              </a:ext>
            </a:extLst>
          </p:cNvPr>
          <p:cNvSpPr>
            <a:spLocks xmlns:a="http://schemas.openxmlformats.org/drawingml/2006/main" noGrp="1"/>
          </p:cNvSpPr>
          <p:nvPr/>
        </p:nvSpPr>
        <p:spPr>
          <a:xfrm xmlns:a="http://schemas.openxmlformats.org/drawingml/2006/main">
            <a:off x="6534150" y="1571625"/>
            <a:ext cx="4972050" cy="409575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9525">
            <a:solidFill>
              <a:srgbClr val="D9DEE5"/>
            </a:solidFill>
            <a:prstDash val="solid"/>
          </a:ln>
        </p:spPr>
      </p:sp>
      <p:sp>
        <p:nvSpPr>
          <p:cNvPr id="8" name="">
            <a:extLst xmlns:a="http://schemas.openxmlformats.org/drawingml/2006/main">
              <a:ext uri="{FF2B5EF4-FFF2-40B4-BE49-F238E27FC236}">
                <a16:creationId xmlns:a16="http://schemas.microsoft.com/office/drawing/2014/main" id="{F4360F96-8C00-4EC6-B333-9919920760D5}"/>
              </a:ext>
            </a:extLst>
          </p:cNvPr>
          <p:cNvSpPr>
            <a:spLocks xmlns:a="http://schemas.openxmlformats.org/drawingml/2006/main" noGrp="1"/>
          </p:cNvSpPr>
          <p:nvPr/>
        </p:nvSpPr>
        <p:spPr>
          <a:xfrm xmlns:a="http://schemas.openxmlformats.org/drawingml/2006/main">
            <a:off x="971550" y="1828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2D6A8F"/>
                </a:solidFill>
                <a:latin typeface="Arial"/>
                <a:ea typeface="Arial"/>
                <a:cs typeface="Arial"/>
              </a:defRPr>
            </a:pPr>
            <a:r>
              <a:rPr sz="1950" b="1" i="0">
                <a:solidFill>
                  <a:srgbClr val="2D6A8F"/>
                </a:solidFill>
                <a:latin typeface="Arial"/>
                <a:ea typeface="Arial"/>
                <a:cs typeface="Arial"/>
              </a:rPr>
              <a:t>Chuỗi văn bản</a:t>
            </a:r>
          </a:p>
        </p:txBody>
      </p:sp>
      <p:sp>
        <p:nvSpPr>
          <p:cNvPr id="9" name="">
            <a:extLst xmlns:a="http://schemas.openxmlformats.org/drawingml/2006/main">
              <a:ext uri="{FF2B5EF4-FFF2-40B4-BE49-F238E27FC236}">
                <a16:creationId xmlns:a16="http://schemas.microsoft.com/office/drawing/2014/main" id="{BD329B32-13D9-4352-9B8D-78408091CA19}"/>
              </a:ext>
            </a:extLst>
          </p:cNvPr>
          <p:cNvSpPr>
            <a:spLocks xmlns:a="http://schemas.openxmlformats.org/drawingml/2006/main" noGrp="1"/>
          </p:cNvSpPr>
          <p:nvPr/>
        </p:nvSpPr>
        <p:spPr>
          <a:xfrm xmlns:a="http://schemas.openxmlformats.org/drawingml/2006/main">
            <a:off x="6819900" y="18288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C58B2A"/>
                </a:solidFill>
                <a:latin typeface="Arial"/>
                <a:ea typeface="Arial"/>
                <a:cs typeface="Arial"/>
              </a:defRPr>
            </a:pPr>
            <a:r>
              <a:rPr sz="1950" b="1" i="0">
                <a:solidFill>
                  <a:srgbClr val="C58B2A"/>
                </a:solidFill>
                <a:latin typeface="Arial"/>
                <a:ea typeface="Arial"/>
                <a:cs typeface="Arial"/>
              </a:rPr>
              <a:t>Chuỗi giá vàng</a:t>
            </a:r>
          </a:p>
        </p:txBody>
      </p:sp>
      <p:sp>
        <p:nvSpPr>
          <p:cNvPr id="10" name="">
            <a:extLst xmlns:a="http://schemas.openxmlformats.org/drawingml/2006/main">
              <a:ext uri="{FF2B5EF4-FFF2-40B4-BE49-F238E27FC236}">
                <a16:creationId xmlns:a16="http://schemas.microsoft.com/office/drawing/2014/main" id="{BF86B70D-3997-46E2-9FB2-2626DF66DEC8}"/>
              </a:ext>
            </a:extLst>
          </p:cNvPr>
          <p:cNvSpPr>
            <a:spLocks xmlns:a="http://schemas.openxmlformats.org/drawingml/2006/main" noGrp="1"/>
          </p:cNvSpPr>
          <p:nvPr/>
        </p:nvSpPr>
        <p:spPr>
          <a:xfrm xmlns:a="http://schemas.openxmlformats.org/drawingml/2006/main">
            <a:off x="990600" y="252412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267B27C-025A-4F2B-88AD-EF221728AA09}"/>
              </a:ext>
            </a:extLst>
          </p:cNvPr>
          <p:cNvSpPr>
            <a:spLocks xmlns:a="http://schemas.openxmlformats.org/drawingml/2006/main" noGrp="1"/>
          </p:cNvSpPr>
          <p:nvPr/>
        </p:nvSpPr>
        <p:spPr>
          <a:xfrm xmlns:a="http://schemas.openxmlformats.org/drawingml/2006/main">
            <a:off x="120015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Tokenizer</a:t>
            </a:r>
          </a:p>
        </p:txBody>
      </p:sp>
      <p:sp>
        <p:nvSpPr>
          <p:cNvPr id="12" name="">
            <a:extLst xmlns:a="http://schemas.openxmlformats.org/drawingml/2006/main">
              <a:ext uri="{FF2B5EF4-FFF2-40B4-BE49-F238E27FC236}">
                <a16:creationId xmlns:a16="http://schemas.microsoft.com/office/drawing/2014/main" id="{2CABD202-37A0-480A-B863-A57EB3BB24E5}"/>
              </a:ext>
            </a:extLst>
          </p:cNvPr>
          <p:cNvSpPr>
            <a:spLocks xmlns:a="http://schemas.openxmlformats.org/drawingml/2006/main" noGrp="1"/>
          </p:cNvSpPr>
          <p:nvPr/>
        </p:nvSpPr>
        <p:spPr>
          <a:xfrm xmlns:a="http://schemas.openxmlformats.org/drawingml/2006/main">
            <a:off x="2609850" y="2476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tách câu thành token</a:t>
            </a:r>
          </a:p>
        </p:txBody>
      </p:sp>
      <p:sp>
        <p:nvSpPr>
          <p:cNvPr id="13" name="">
            <a:extLst xmlns:a="http://schemas.openxmlformats.org/drawingml/2006/main">
              <a:ext uri="{FF2B5EF4-FFF2-40B4-BE49-F238E27FC236}">
                <a16:creationId xmlns:a16="http://schemas.microsoft.com/office/drawing/2014/main" id="{3FAE7418-334C-42A9-BD6C-0909A87D97CA}"/>
              </a:ext>
            </a:extLst>
          </p:cNvPr>
          <p:cNvSpPr>
            <a:spLocks xmlns:a="http://schemas.openxmlformats.org/drawingml/2006/main" noGrp="1"/>
          </p:cNvSpPr>
          <p:nvPr/>
        </p:nvSpPr>
        <p:spPr>
          <a:xfrm xmlns:a="http://schemas.openxmlformats.org/drawingml/2006/main">
            <a:off x="990600" y="3067050"/>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6BFF0F-A0E1-4DCC-B4BD-5C6FDC088913}"/>
              </a:ext>
            </a:extLst>
          </p:cNvPr>
          <p:cNvSpPr>
            <a:spLocks xmlns:a="http://schemas.openxmlformats.org/drawingml/2006/main" noGrp="1"/>
          </p:cNvSpPr>
          <p:nvPr/>
        </p:nvSpPr>
        <p:spPr>
          <a:xfrm xmlns:a="http://schemas.openxmlformats.org/drawingml/2006/main">
            <a:off x="1200150" y="30194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Vocabulary</a:t>
            </a:r>
          </a:p>
        </p:txBody>
      </p:sp>
      <p:sp>
        <p:nvSpPr>
          <p:cNvPr id="15" name="">
            <a:extLst xmlns:a="http://schemas.openxmlformats.org/drawingml/2006/main">
              <a:ext uri="{FF2B5EF4-FFF2-40B4-BE49-F238E27FC236}">
                <a16:creationId xmlns:a16="http://schemas.microsoft.com/office/drawing/2014/main" id="{48A6309A-F352-4F05-8398-4065721127D2}"/>
              </a:ext>
            </a:extLst>
          </p:cNvPr>
          <p:cNvSpPr>
            <a:spLocks xmlns:a="http://schemas.openxmlformats.org/drawingml/2006/main" noGrp="1"/>
          </p:cNvSpPr>
          <p:nvPr/>
        </p:nvSpPr>
        <p:spPr>
          <a:xfrm xmlns:a="http://schemas.openxmlformats.org/drawingml/2006/main">
            <a:off x="2609850" y="30194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token → ID</a:t>
            </a:r>
          </a:p>
        </p:txBody>
      </p:sp>
      <p:sp>
        <p:nvSpPr>
          <p:cNvPr id="16" name="">
            <a:extLst xmlns:a="http://schemas.openxmlformats.org/drawingml/2006/main">
              <a:ext uri="{FF2B5EF4-FFF2-40B4-BE49-F238E27FC236}">
                <a16:creationId xmlns:a16="http://schemas.microsoft.com/office/drawing/2014/main" id="{FBCEE630-FEE3-411F-A68C-86E3A9F0AA33}"/>
              </a:ext>
            </a:extLst>
          </p:cNvPr>
          <p:cNvSpPr>
            <a:spLocks xmlns:a="http://schemas.openxmlformats.org/drawingml/2006/main" noGrp="1"/>
          </p:cNvSpPr>
          <p:nvPr/>
        </p:nvSpPr>
        <p:spPr>
          <a:xfrm xmlns:a="http://schemas.openxmlformats.org/drawingml/2006/main">
            <a:off x="990600" y="360997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3E8D4B-A16A-4ECF-93FA-1E93AFC46D72}"/>
              </a:ext>
            </a:extLst>
          </p:cNvPr>
          <p:cNvSpPr>
            <a:spLocks xmlns:a="http://schemas.openxmlformats.org/drawingml/2006/main" noGrp="1"/>
          </p:cNvSpPr>
          <p:nvPr/>
        </p:nvSpPr>
        <p:spPr>
          <a:xfrm xmlns:a="http://schemas.openxmlformats.org/drawingml/2006/main">
            <a:off x="1200150" y="35623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Integer encoding</a:t>
            </a:r>
          </a:p>
        </p:txBody>
      </p:sp>
      <p:sp>
        <p:nvSpPr>
          <p:cNvPr id="18" name="">
            <a:extLst xmlns:a="http://schemas.openxmlformats.org/drawingml/2006/main">
              <a:ext uri="{FF2B5EF4-FFF2-40B4-BE49-F238E27FC236}">
                <a16:creationId xmlns:a16="http://schemas.microsoft.com/office/drawing/2014/main" id="{2F41C760-5DA1-4B82-A34B-8118097847F4}"/>
              </a:ext>
            </a:extLst>
          </p:cNvPr>
          <p:cNvSpPr>
            <a:spLocks xmlns:a="http://schemas.openxmlformats.org/drawingml/2006/main" noGrp="1"/>
          </p:cNvSpPr>
          <p:nvPr/>
        </p:nvSpPr>
        <p:spPr>
          <a:xfrm xmlns:a="http://schemas.openxmlformats.org/drawingml/2006/main">
            <a:off x="260985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ID nguyên cho mô hình</a:t>
            </a:r>
          </a:p>
        </p:txBody>
      </p:sp>
      <p:sp>
        <p:nvSpPr>
          <p:cNvPr id="19" name="">
            <a:extLst xmlns:a="http://schemas.openxmlformats.org/drawingml/2006/main">
              <a:ext uri="{FF2B5EF4-FFF2-40B4-BE49-F238E27FC236}">
                <a16:creationId xmlns:a16="http://schemas.microsoft.com/office/drawing/2014/main" id="{8DB45FB1-F339-4092-ABFC-A330A0F7E7E0}"/>
              </a:ext>
            </a:extLst>
          </p:cNvPr>
          <p:cNvSpPr>
            <a:spLocks xmlns:a="http://schemas.openxmlformats.org/drawingml/2006/main" noGrp="1"/>
          </p:cNvSpPr>
          <p:nvPr/>
        </p:nvSpPr>
        <p:spPr>
          <a:xfrm xmlns:a="http://schemas.openxmlformats.org/drawingml/2006/main">
            <a:off x="990600" y="4152900"/>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3D0F3E-B03B-4504-AC13-522795059083}"/>
              </a:ext>
            </a:extLst>
          </p:cNvPr>
          <p:cNvSpPr>
            <a:spLocks xmlns:a="http://schemas.openxmlformats.org/drawingml/2006/main" noGrp="1"/>
          </p:cNvSpPr>
          <p:nvPr/>
        </p:nvSpPr>
        <p:spPr>
          <a:xfrm xmlns:a="http://schemas.openxmlformats.org/drawingml/2006/main">
            <a:off x="120015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Padding</a:t>
            </a:r>
          </a:p>
        </p:txBody>
      </p:sp>
      <p:sp>
        <p:nvSpPr>
          <p:cNvPr id="21" name="">
            <a:extLst xmlns:a="http://schemas.openxmlformats.org/drawingml/2006/main">
              <a:ext uri="{FF2B5EF4-FFF2-40B4-BE49-F238E27FC236}">
                <a16:creationId xmlns:a16="http://schemas.microsoft.com/office/drawing/2014/main" id="{B66FED23-6408-419E-BF26-45E5C7C270F0}"/>
              </a:ext>
            </a:extLst>
          </p:cNvPr>
          <p:cNvSpPr>
            <a:spLocks xmlns:a="http://schemas.openxmlformats.org/drawingml/2006/main" noGrp="1"/>
          </p:cNvSpPr>
          <p:nvPr/>
        </p:nvSpPr>
        <p:spPr>
          <a:xfrm xmlns:a="http://schemas.openxmlformats.org/drawingml/2006/main">
            <a:off x="2609850" y="41052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cùng độ dài trong batch</a:t>
            </a:r>
          </a:p>
        </p:txBody>
      </p:sp>
      <p:sp>
        <p:nvSpPr>
          <p:cNvPr id="22" name="">
            <a:extLst xmlns:a="http://schemas.openxmlformats.org/drawingml/2006/main">
              <a:ext uri="{FF2B5EF4-FFF2-40B4-BE49-F238E27FC236}">
                <a16:creationId xmlns:a16="http://schemas.microsoft.com/office/drawing/2014/main" id="{7BE734CE-38B3-473C-8CA6-7F36D0094AD3}"/>
              </a:ext>
            </a:extLst>
          </p:cNvPr>
          <p:cNvSpPr>
            <a:spLocks xmlns:a="http://schemas.openxmlformats.org/drawingml/2006/main" noGrp="1"/>
          </p:cNvSpPr>
          <p:nvPr/>
        </p:nvSpPr>
        <p:spPr>
          <a:xfrm xmlns:a="http://schemas.openxmlformats.org/drawingml/2006/main">
            <a:off x="990600" y="4695825"/>
            <a:ext cx="95250" cy="95250"/>
          </a:xfrm>
          <a:prstGeom xmlns:a="http://schemas.openxmlformats.org/drawingml/2006/main" prst="ellipse">
            <a:avLst/>
          </a:prstGeom>
          <a:solidFill xmlns:a="http://schemas.openxmlformats.org/drawingml/2006/main">
            <a:srgbClr val="2D6A8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A6F26E4-898A-47F1-ABE6-D43BFBD616BF}"/>
              </a:ext>
            </a:extLst>
          </p:cNvPr>
          <p:cNvSpPr>
            <a:spLocks xmlns:a="http://schemas.openxmlformats.org/drawingml/2006/main" noGrp="1"/>
          </p:cNvSpPr>
          <p:nvPr/>
        </p:nvSpPr>
        <p:spPr>
          <a:xfrm xmlns:a="http://schemas.openxmlformats.org/drawingml/2006/main">
            <a:off x="1200150" y="46482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Embedding</a:t>
            </a:r>
          </a:p>
        </p:txBody>
      </p:sp>
      <p:sp>
        <p:nvSpPr>
          <p:cNvPr id="24" name="">
            <a:extLst xmlns:a="http://schemas.openxmlformats.org/drawingml/2006/main">
              <a:ext uri="{FF2B5EF4-FFF2-40B4-BE49-F238E27FC236}">
                <a16:creationId xmlns:a16="http://schemas.microsoft.com/office/drawing/2014/main" id="{2CC27849-B57C-4537-A38A-B1A063C57E6F}"/>
              </a:ext>
            </a:extLst>
          </p:cNvPr>
          <p:cNvSpPr>
            <a:spLocks xmlns:a="http://schemas.openxmlformats.org/drawingml/2006/main" noGrp="1"/>
          </p:cNvSpPr>
          <p:nvPr/>
        </p:nvSpPr>
        <p:spPr>
          <a:xfrm xmlns:a="http://schemas.openxmlformats.org/drawingml/2006/main">
            <a:off x="2609850" y="4648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ID → vector thực</a:t>
            </a:r>
          </a:p>
        </p:txBody>
      </p:sp>
      <p:sp>
        <p:nvSpPr>
          <p:cNvPr id="25" name="">
            <a:extLst xmlns:a="http://schemas.openxmlformats.org/drawingml/2006/main">
              <a:ext uri="{FF2B5EF4-FFF2-40B4-BE49-F238E27FC236}">
                <a16:creationId xmlns:a16="http://schemas.microsoft.com/office/drawing/2014/main" id="{59027116-4927-446F-B0DD-05E1D97E24AC}"/>
              </a:ext>
            </a:extLst>
          </p:cNvPr>
          <p:cNvSpPr>
            <a:spLocks xmlns:a="http://schemas.openxmlformats.org/drawingml/2006/main" noGrp="1"/>
          </p:cNvSpPr>
          <p:nvPr/>
        </p:nvSpPr>
        <p:spPr>
          <a:xfrm xmlns:a="http://schemas.openxmlformats.org/drawingml/2006/main">
            <a:off x="6838950" y="252412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B63F886-B986-4F03-8F04-A467E1EC699D}"/>
              </a:ext>
            </a:extLst>
          </p:cNvPr>
          <p:cNvSpPr>
            <a:spLocks xmlns:a="http://schemas.openxmlformats.org/drawingml/2006/main" noGrp="1"/>
          </p:cNvSpPr>
          <p:nvPr/>
        </p:nvSpPr>
        <p:spPr>
          <a:xfrm xmlns:a="http://schemas.openxmlformats.org/drawingml/2006/main">
            <a:off x="7048500" y="24765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Làm sạch date/price</a:t>
            </a:r>
          </a:p>
        </p:txBody>
      </p:sp>
      <p:sp>
        <p:nvSpPr>
          <p:cNvPr id="27" name="">
            <a:extLst xmlns:a="http://schemas.openxmlformats.org/drawingml/2006/main">
              <a:ext uri="{FF2B5EF4-FFF2-40B4-BE49-F238E27FC236}">
                <a16:creationId xmlns:a16="http://schemas.microsoft.com/office/drawing/2014/main" id="{C5644E74-9222-4721-9817-7BBC034B5FE6}"/>
              </a:ext>
            </a:extLst>
          </p:cNvPr>
          <p:cNvSpPr>
            <a:spLocks xmlns:a="http://schemas.openxmlformats.org/drawingml/2006/main" noGrp="1"/>
          </p:cNvSpPr>
          <p:nvPr/>
        </p:nvSpPr>
        <p:spPr>
          <a:xfrm xmlns:a="http://schemas.openxmlformats.org/drawingml/2006/main">
            <a:off x="8458200" y="24765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date là chỉ mục, price là số</a:t>
            </a:r>
          </a:p>
        </p:txBody>
      </p:sp>
      <p:sp>
        <p:nvSpPr>
          <p:cNvPr id="28" name="">
            <a:extLst xmlns:a="http://schemas.openxmlformats.org/drawingml/2006/main">
              <a:ext uri="{FF2B5EF4-FFF2-40B4-BE49-F238E27FC236}">
                <a16:creationId xmlns:a16="http://schemas.microsoft.com/office/drawing/2014/main" id="{8F3518FF-D0A4-4986-B794-97253D864400}"/>
              </a:ext>
            </a:extLst>
          </p:cNvPr>
          <p:cNvSpPr>
            <a:spLocks xmlns:a="http://schemas.openxmlformats.org/drawingml/2006/main" noGrp="1"/>
          </p:cNvSpPr>
          <p:nvPr/>
        </p:nvSpPr>
        <p:spPr>
          <a:xfrm xmlns:a="http://schemas.openxmlformats.org/drawingml/2006/main">
            <a:off x="6838950" y="3067050"/>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826964F-5C84-4E20-BF6C-E6E4D2515BE8}"/>
              </a:ext>
            </a:extLst>
          </p:cNvPr>
          <p:cNvSpPr>
            <a:spLocks xmlns:a="http://schemas.openxmlformats.org/drawingml/2006/main" noGrp="1"/>
          </p:cNvSpPr>
          <p:nvPr/>
        </p:nvSpPr>
        <p:spPr>
          <a:xfrm xmlns:a="http://schemas.openxmlformats.org/drawingml/2006/main">
            <a:off x="7048500" y="301942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Chia theo thời gian</a:t>
            </a:r>
          </a:p>
        </p:txBody>
      </p:sp>
      <p:sp>
        <p:nvSpPr>
          <p:cNvPr id="30" name="">
            <a:extLst xmlns:a="http://schemas.openxmlformats.org/drawingml/2006/main">
              <a:ext uri="{FF2B5EF4-FFF2-40B4-BE49-F238E27FC236}">
                <a16:creationId xmlns:a16="http://schemas.microsoft.com/office/drawing/2014/main" id="{7570CD9E-81ED-45EB-AA2E-339710F7F654}"/>
              </a:ext>
            </a:extLst>
          </p:cNvPr>
          <p:cNvSpPr>
            <a:spLocks xmlns:a="http://schemas.openxmlformats.org/drawingml/2006/main" noGrp="1"/>
          </p:cNvSpPr>
          <p:nvPr/>
        </p:nvSpPr>
        <p:spPr>
          <a:xfrm xmlns:a="http://schemas.openxmlformats.org/drawingml/2006/main">
            <a:off x="8458200" y="30194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giữ đúng thứ tự quá khứ → tương lai</a:t>
            </a:r>
          </a:p>
        </p:txBody>
      </p:sp>
      <p:sp>
        <p:nvSpPr>
          <p:cNvPr id="31" name="">
            <a:extLst xmlns:a="http://schemas.openxmlformats.org/drawingml/2006/main">
              <a:ext uri="{FF2B5EF4-FFF2-40B4-BE49-F238E27FC236}">
                <a16:creationId xmlns:a16="http://schemas.microsoft.com/office/drawing/2014/main" id="{9D83F7A2-C466-4051-AB67-EB3914AE5E63}"/>
              </a:ext>
            </a:extLst>
          </p:cNvPr>
          <p:cNvSpPr>
            <a:spLocks xmlns:a="http://schemas.openxmlformats.org/drawingml/2006/main" noGrp="1"/>
          </p:cNvSpPr>
          <p:nvPr/>
        </p:nvSpPr>
        <p:spPr>
          <a:xfrm xmlns:a="http://schemas.openxmlformats.org/drawingml/2006/main">
            <a:off x="6838950" y="360997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323262E-7ACC-4B72-9570-CC43FC597E81}"/>
              </a:ext>
            </a:extLst>
          </p:cNvPr>
          <p:cNvSpPr>
            <a:spLocks xmlns:a="http://schemas.openxmlformats.org/drawingml/2006/main" noGrp="1"/>
          </p:cNvSpPr>
          <p:nvPr/>
        </p:nvSpPr>
        <p:spPr>
          <a:xfrm xmlns:a="http://schemas.openxmlformats.org/drawingml/2006/main">
            <a:off x="7048500" y="356235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log1p + scaling</a:t>
            </a:r>
          </a:p>
        </p:txBody>
      </p:sp>
      <p:sp>
        <p:nvSpPr>
          <p:cNvPr id="33" name="">
            <a:extLst xmlns:a="http://schemas.openxmlformats.org/drawingml/2006/main">
              <a:ext uri="{FF2B5EF4-FFF2-40B4-BE49-F238E27FC236}">
                <a16:creationId xmlns:a16="http://schemas.microsoft.com/office/drawing/2014/main" id="{32D90FAD-30FB-44EE-A9EF-3078033D43C3}"/>
              </a:ext>
            </a:extLst>
          </p:cNvPr>
          <p:cNvSpPr>
            <a:spLocks xmlns:a="http://schemas.openxmlformats.org/drawingml/2006/main" noGrp="1"/>
          </p:cNvSpPr>
          <p:nvPr/>
        </p:nvSpPr>
        <p:spPr>
          <a:xfrm xmlns:a="http://schemas.openxmlformats.org/drawingml/2006/main">
            <a:off x="845820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đưa giá về miền dễ học</a:t>
            </a:r>
          </a:p>
        </p:txBody>
      </p:sp>
      <p:sp>
        <p:nvSpPr>
          <p:cNvPr id="34" name="">
            <a:extLst xmlns:a="http://schemas.openxmlformats.org/drawingml/2006/main">
              <a:ext uri="{FF2B5EF4-FFF2-40B4-BE49-F238E27FC236}">
                <a16:creationId xmlns:a16="http://schemas.microsoft.com/office/drawing/2014/main" id="{E939225C-406A-438A-814C-89D408053504}"/>
              </a:ext>
            </a:extLst>
          </p:cNvPr>
          <p:cNvSpPr>
            <a:spLocks xmlns:a="http://schemas.openxmlformats.org/drawingml/2006/main" noGrp="1"/>
          </p:cNvSpPr>
          <p:nvPr/>
        </p:nvSpPr>
        <p:spPr>
          <a:xfrm xmlns:a="http://schemas.openxmlformats.org/drawingml/2006/main">
            <a:off x="6838950" y="4152900"/>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0FB4FD4-77F9-4B4F-8E75-96CE148DDF83}"/>
              </a:ext>
            </a:extLst>
          </p:cNvPr>
          <p:cNvSpPr>
            <a:spLocks xmlns:a="http://schemas.openxmlformats.org/drawingml/2006/main" noGrp="1"/>
          </p:cNvSpPr>
          <p:nvPr/>
        </p:nvSpPr>
        <p:spPr>
          <a:xfrm xmlns:a="http://schemas.openxmlformats.org/drawingml/2006/main">
            <a:off x="7048500" y="4105275"/>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Cửa sổ 30 bước</a:t>
            </a:r>
          </a:p>
        </p:txBody>
      </p:sp>
      <p:sp>
        <p:nvSpPr>
          <p:cNvPr id="36" name="">
            <a:extLst xmlns:a="http://schemas.openxmlformats.org/drawingml/2006/main">
              <a:ext uri="{FF2B5EF4-FFF2-40B4-BE49-F238E27FC236}">
                <a16:creationId xmlns:a16="http://schemas.microsoft.com/office/drawing/2014/main" id="{08D392C3-5644-4EBF-9702-C0F14E645CDA}"/>
              </a:ext>
            </a:extLst>
          </p:cNvPr>
          <p:cNvSpPr>
            <a:spLocks xmlns:a="http://schemas.openxmlformats.org/drawingml/2006/main" noGrp="1"/>
          </p:cNvSpPr>
          <p:nvPr/>
        </p:nvSpPr>
        <p:spPr>
          <a:xfrm xmlns:a="http://schemas.openxmlformats.org/drawingml/2006/main">
            <a:off x="8458200" y="41052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30 quan sát → dự đoán quan sát kế</a:t>
            </a:r>
          </a:p>
        </p:txBody>
      </p:sp>
      <p:sp>
        <p:nvSpPr>
          <p:cNvPr id="37" name="">
            <a:extLst xmlns:a="http://schemas.openxmlformats.org/drawingml/2006/main">
              <a:ext uri="{FF2B5EF4-FFF2-40B4-BE49-F238E27FC236}">
                <a16:creationId xmlns:a16="http://schemas.microsoft.com/office/drawing/2014/main" id="{A2EFDD14-E970-4C9C-A1DF-649D59481E1F}"/>
              </a:ext>
            </a:extLst>
          </p:cNvPr>
          <p:cNvSpPr>
            <a:spLocks xmlns:a="http://schemas.openxmlformats.org/drawingml/2006/main" noGrp="1"/>
          </p:cNvSpPr>
          <p:nvPr/>
        </p:nvSpPr>
        <p:spPr>
          <a:xfrm xmlns:a="http://schemas.openxmlformats.org/drawingml/2006/main">
            <a:off x="6838950" y="4695825"/>
            <a:ext cx="95250" cy="9525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C905D0E-1EE2-4036-941B-1FDE98E8240A}"/>
              </a:ext>
            </a:extLst>
          </p:cNvPr>
          <p:cNvSpPr>
            <a:spLocks xmlns:a="http://schemas.openxmlformats.org/drawingml/2006/main" noGrp="1"/>
          </p:cNvSpPr>
          <p:nvPr/>
        </p:nvSpPr>
        <p:spPr>
          <a:xfrm xmlns:a="http://schemas.openxmlformats.org/drawingml/2006/main">
            <a:off x="7048500" y="46482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Tensor (N, L, F)</a:t>
            </a:r>
          </a:p>
        </p:txBody>
      </p:sp>
      <p:sp>
        <p:nvSpPr>
          <p:cNvPr id="39" name="">
            <a:extLst xmlns:a="http://schemas.openxmlformats.org/drawingml/2006/main">
              <a:ext uri="{FF2B5EF4-FFF2-40B4-BE49-F238E27FC236}">
                <a16:creationId xmlns:a16="http://schemas.microsoft.com/office/drawing/2014/main" id="{D731D00D-D68F-44D2-9ACE-80B0395D5C7C}"/>
              </a:ext>
            </a:extLst>
          </p:cNvPr>
          <p:cNvSpPr>
            <a:spLocks xmlns:a="http://schemas.openxmlformats.org/drawingml/2006/main" noGrp="1"/>
          </p:cNvSpPr>
          <p:nvPr/>
        </p:nvSpPr>
        <p:spPr>
          <a:xfrm xmlns:a="http://schemas.openxmlformats.org/drawingml/2006/main">
            <a:off x="8458200" y="4648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17324D"/>
                </a:solidFill>
                <a:latin typeface="Arial"/>
                <a:ea typeface="Arial"/>
                <a:cs typeface="Arial"/>
              </a:defRPr>
            </a:pPr>
            <a:r>
              <a:rPr sz="1200" b="0" i="0">
                <a:solidFill>
                  <a:srgbClr val="17324D"/>
                </a:solidFill>
                <a:latin typeface="Arial"/>
                <a:ea typeface="Arial"/>
                <a:cs typeface="Arial"/>
              </a:rPr>
              <a:t>(samples, timesteps, features)</a:t>
            </a:r>
          </a:p>
        </p:txBody>
      </p:sp>
      <p:sp>
        <p:nvSpPr>
          <p:cNvPr id="40" name="">
            <a:extLst xmlns:a="http://schemas.openxmlformats.org/drawingml/2006/main">
              <a:ext uri="{FF2B5EF4-FFF2-40B4-BE49-F238E27FC236}">
                <a16:creationId xmlns:a16="http://schemas.microsoft.com/office/drawing/2014/main" id="{E5D388E9-9014-4800-B970-576E13ABB3F4}"/>
              </a:ext>
            </a:extLst>
          </p:cNvPr>
          <p:cNvSpPr>
            <a:spLocks xmlns:a="http://schemas.openxmlformats.org/drawingml/2006/main" noGrp="1"/>
          </p:cNvSpPr>
          <p:nvPr/>
        </p:nvSpPr>
        <p:spPr>
          <a:xfrm xmlns:a="http://schemas.openxmlformats.org/drawingml/2006/main">
            <a:off x="1733550" y="5857875"/>
            <a:ext cx="8724900" cy="400050"/>
          </a:xfrm>
          <a:prstGeom xmlns:a="http://schemas.openxmlformats.org/drawingml/2006/main" prst="roundRect">
            <a:avLst>
              <a:gd name="adj" fmla="val 28571"/>
            </a:avLst>
          </a:prstGeom>
          <a:solidFill xmlns:a="http://schemas.openxmlformats.org/drawingml/2006/main">
            <a:srgbClr val="F5E2DE"/>
          </a:solidFill>
          <a:ln xmlns:a="http://schemas.openxmlformats.org/drawingml/2006/main" w="9525">
            <a:solidFill>
              <a:srgbClr val="B65345"/>
            </a:solidFill>
            <a:prstDash val="solid"/>
          </a:ln>
        </p:spPr>
      </p:sp>
      <p:sp>
        <p:nvSpPr>
          <p:cNvPr id="41" name="">
            <a:extLst xmlns:a="http://schemas.openxmlformats.org/drawingml/2006/main">
              <a:ext uri="{FF2B5EF4-FFF2-40B4-BE49-F238E27FC236}">
                <a16:creationId xmlns:a16="http://schemas.microsoft.com/office/drawing/2014/main" id="{D90BCC65-1182-42F6-870B-41EDFC6550C6}"/>
              </a:ext>
            </a:extLst>
          </p:cNvPr>
          <p:cNvSpPr>
            <a:spLocks xmlns:a="http://schemas.openxmlformats.org/drawingml/2006/main" noGrp="1"/>
          </p:cNvSpPr>
          <p:nvPr/>
        </p:nvSpPr>
        <p:spPr>
          <a:xfrm xmlns:a="http://schemas.openxmlformats.org/drawingml/2006/main">
            <a:off x="1952625" y="5953125"/>
            <a:ext cx="828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B65345"/>
                </a:solidFill>
                <a:latin typeface="Arial"/>
                <a:ea typeface="Arial"/>
                <a:cs typeface="Arial"/>
              </a:defRPr>
            </a:pPr>
            <a:r>
              <a:rPr sz="1200" b="1" i="0">
                <a:solidFill>
                  <a:srgbClr val="B65345"/>
                </a:solidFill>
                <a:latin typeface="Arial"/>
                <a:ea typeface="Arial"/>
                <a:cs typeface="Arial"/>
              </a:rPr>
              <a:t>date không phải token · price không cần vocabulary · fixed window nên thường không cần padding</a:t>
            </a:r>
          </a:p>
        </p:txBody>
      </p:sp>
    </p:spTree>
    <p:extLst>
      <p:ext uri="{BB962C8B-B14F-4D97-AF65-F5344CB8AC3E}">
        <p14:creationId xmlns:p14="http://schemas.microsoft.com/office/powerpoint/2010/main" val="6464278"/>
      </p:ext>
    </p:extLst>
  </p:cSld>
</p:sld>
</file>

<file path=ppt/slides/slide3.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F62F4BB-003F-4BAD-A133-E267533193C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6A8FB3-3ED9-4B34-81F8-B7F096B69D03}"/>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716AF42-6C10-495A-AF8D-EC2C8E130005}"/>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Tokenizer, vocabulary, padding và embedding</a:t>
            </a:r>
          </a:p>
        </p:txBody>
      </p:sp>
      <p:sp>
        <p:nvSpPr>
          <p:cNvPr id="4" name="">
            <a:extLst xmlns:a="http://schemas.openxmlformats.org/drawingml/2006/main">
              <a:ext uri="{FF2B5EF4-FFF2-40B4-BE49-F238E27FC236}">
                <a16:creationId xmlns:a16="http://schemas.microsoft.com/office/drawing/2014/main" id="{8200E878-6CC9-46AD-BB42-2EA34B3EFCB3}"/>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Một câu văn đi qua bốn bước trước khi đến RNN.</a:t>
            </a:r>
          </a:p>
        </p:txBody>
      </p:sp>
      <p:sp>
        <p:nvSpPr>
          <p:cNvPr id="5" name="">
            <a:extLst xmlns:a="http://schemas.openxmlformats.org/drawingml/2006/main">
              <a:ext uri="{FF2B5EF4-FFF2-40B4-BE49-F238E27FC236}">
                <a16:creationId xmlns:a16="http://schemas.microsoft.com/office/drawing/2014/main" id="{4A9D9159-E3E6-454D-AD21-C456BE2986F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E04EB8BC-CEF1-4FE6-AFB5-69D53DA9970E}"/>
              </a:ext>
            </a:extLst>
          </p:cNvPr>
          <p:cNvSpPr>
            <a:spLocks xmlns:a="http://schemas.openxmlformats.org/drawingml/2006/main" noGrp="1"/>
          </p:cNvSpPr>
          <p:nvPr/>
        </p:nvSpPr>
        <p:spPr>
          <a:xfrm xmlns:a="http://schemas.openxmlformats.org/drawingml/2006/main">
            <a:off x="685800" y="1809750"/>
            <a:ext cx="2381250" cy="2428875"/>
          </a:xfrm>
          <a:prstGeom xmlns:a="http://schemas.openxmlformats.org/drawingml/2006/main" prst="roundRect">
            <a:avLst>
              <a:gd name="adj" fmla="val 4800"/>
            </a:avLst>
          </a:prstGeom>
          <a:solidFill xmlns:a="http://schemas.openxmlformats.org/drawingml/2006/main">
            <a:srgbClr val="DCEAF2"/>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FF017964-61F0-4E18-839C-941286B6F943}"/>
              </a:ext>
            </a:extLst>
          </p:cNvPr>
          <p:cNvSpPr>
            <a:spLocks xmlns:a="http://schemas.openxmlformats.org/drawingml/2006/main" noGrp="1"/>
          </p:cNvSpPr>
          <p:nvPr/>
        </p:nvSpPr>
        <p:spPr>
          <a:xfrm xmlns:a="http://schemas.openxmlformats.org/drawingml/2006/main">
            <a:off x="8763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BD9ABA0-69B4-4B30-95D4-5A45A7C85DA3}"/>
              </a:ext>
            </a:extLst>
          </p:cNvPr>
          <p:cNvSpPr>
            <a:spLocks xmlns:a="http://schemas.openxmlformats.org/drawingml/2006/main" noGrp="1"/>
          </p:cNvSpPr>
          <p:nvPr/>
        </p:nvSpPr>
        <p:spPr>
          <a:xfrm xmlns:a="http://schemas.openxmlformats.org/drawingml/2006/main">
            <a:off x="87630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Tokenizer</a:t>
            </a:r>
          </a:p>
        </p:txBody>
      </p:sp>
      <p:sp>
        <p:nvSpPr>
          <p:cNvPr id="9" name="">
            <a:extLst xmlns:a="http://schemas.openxmlformats.org/drawingml/2006/main">
              <a:ext uri="{FF2B5EF4-FFF2-40B4-BE49-F238E27FC236}">
                <a16:creationId xmlns:a16="http://schemas.microsoft.com/office/drawing/2014/main" id="{78C9D8A7-B0BA-40BE-8F4C-AADE1B9AC237}"/>
              </a:ext>
            </a:extLst>
          </p:cNvPr>
          <p:cNvSpPr>
            <a:spLocks xmlns:a="http://schemas.openxmlformats.org/drawingml/2006/main" noGrp="1"/>
          </p:cNvSpPr>
          <p:nvPr/>
        </p:nvSpPr>
        <p:spPr>
          <a:xfrm xmlns:a="http://schemas.openxmlformats.org/drawingml/2006/main">
            <a:off x="87630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"giá vàng tăng"</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[giá, vàng, tăng]</a:t>
            </a:r>
          </a:p>
        </p:txBody>
      </p:sp>
      <p:sp>
        <p:nvSpPr>
          <p:cNvPr id="10" name="">
            <a:extLst xmlns:a="http://schemas.openxmlformats.org/drawingml/2006/main">
              <a:ext uri="{FF2B5EF4-FFF2-40B4-BE49-F238E27FC236}">
                <a16:creationId xmlns:a16="http://schemas.microsoft.com/office/drawing/2014/main" id="{86272279-2438-479D-8854-E5B066A78BCD}"/>
              </a:ext>
            </a:extLst>
          </p:cNvPr>
          <p:cNvSpPr>
            <a:spLocks xmlns:a="http://schemas.openxmlformats.org/drawingml/2006/main" noGrp="1"/>
          </p:cNvSpPr>
          <p:nvPr/>
        </p:nvSpPr>
        <p:spPr>
          <a:xfrm xmlns:a="http://schemas.openxmlformats.org/drawingml/2006/main">
            <a:off x="308610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4B1A8A-BD55-4911-AC69-E50F01F3B3D2}"/>
              </a:ext>
            </a:extLst>
          </p:cNvPr>
          <p:cNvSpPr>
            <a:spLocks xmlns:a="http://schemas.openxmlformats.org/drawingml/2006/main" noGrp="1"/>
          </p:cNvSpPr>
          <p:nvPr/>
        </p:nvSpPr>
        <p:spPr>
          <a:xfrm xmlns:a="http://schemas.openxmlformats.org/drawingml/2006/main">
            <a:off x="3409950" y="1809750"/>
            <a:ext cx="2381250" cy="2428875"/>
          </a:xfrm>
          <a:prstGeom xmlns:a="http://schemas.openxmlformats.org/drawingml/2006/main" prst="roundRect">
            <a:avLst>
              <a:gd name="adj" fmla="val 4800"/>
            </a:avLst>
          </a:prstGeom>
          <a:solidFill xmlns:a="http://schemas.openxmlformats.org/drawingml/2006/main">
            <a:srgbClr val="F2E5C4"/>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77638CFF-79DF-4BAB-A6DB-E745835D86A2}"/>
              </a:ext>
            </a:extLst>
          </p:cNvPr>
          <p:cNvSpPr>
            <a:spLocks xmlns:a="http://schemas.openxmlformats.org/drawingml/2006/main" noGrp="1"/>
          </p:cNvSpPr>
          <p:nvPr/>
        </p:nvSpPr>
        <p:spPr>
          <a:xfrm xmlns:a="http://schemas.openxmlformats.org/drawingml/2006/main">
            <a:off x="36004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BF18527-FAD6-41F6-9248-0561A6F07718}"/>
              </a:ext>
            </a:extLst>
          </p:cNvPr>
          <p:cNvSpPr>
            <a:spLocks xmlns:a="http://schemas.openxmlformats.org/drawingml/2006/main" noGrp="1"/>
          </p:cNvSpPr>
          <p:nvPr/>
        </p:nvSpPr>
        <p:spPr>
          <a:xfrm xmlns:a="http://schemas.openxmlformats.org/drawingml/2006/main">
            <a:off x="360045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Vocabulary</a:t>
            </a:r>
          </a:p>
        </p:txBody>
      </p:sp>
      <p:sp>
        <p:nvSpPr>
          <p:cNvPr id="14" name="">
            <a:extLst xmlns:a="http://schemas.openxmlformats.org/drawingml/2006/main">
              <a:ext uri="{FF2B5EF4-FFF2-40B4-BE49-F238E27FC236}">
                <a16:creationId xmlns:a16="http://schemas.microsoft.com/office/drawing/2014/main" id="{5F55A7C6-587C-4AD8-9CEC-6120367372E9}"/>
              </a:ext>
            </a:extLst>
          </p:cNvPr>
          <p:cNvSpPr>
            <a:spLocks xmlns:a="http://schemas.openxmlformats.org/drawingml/2006/main" noGrp="1"/>
          </p:cNvSpPr>
          <p:nvPr/>
        </p:nvSpPr>
        <p:spPr>
          <a:xfrm xmlns:a="http://schemas.openxmlformats.org/drawingml/2006/main">
            <a:off x="360045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giá → 2</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vàng → 3</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tăng → 4</a:t>
            </a:r>
          </a:p>
        </p:txBody>
      </p:sp>
      <p:sp>
        <p:nvSpPr>
          <p:cNvPr id="15" name="">
            <a:extLst xmlns:a="http://schemas.openxmlformats.org/drawingml/2006/main">
              <a:ext uri="{FF2B5EF4-FFF2-40B4-BE49-F238E27FC236}">
                <a16:creationId xmlns:a16="http://schemas.microsoft.com/office/drawing/2014/main" id="{798442E5-5EB1-426D-8FC5-84D0B11C48A0}"/>
              </a:ext>
            </a:extLst>
          </p:cNvPr>
          <p:cNvSpPr>
            <a:spLocks xmlns:a="http://schemas.openxmlformats.org/drawingml/2006/main" noGrp="1"/>
          </p:cNvSpPr>
          <p:nvPr/>
        </p:nvSpPr>
        <p:spPr>
          <a:xfrm xmlns:a="http://schemas.openxmlformats.org/drawingml/2006/main">
            <a:off x="581025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A64CF2-5AE9-4251-B91B-7D378563A21D}"/>
              </a:ext>
            </a:extLst>
          </p:cNvPr>
          <p:cNvSpPr>
            <a:spLocks xmlns:a="http://schemas.openxmlformats.org/drawingml/2006/main" noGrp="1"/>
          </p:cNvSpPr>
          <p:nvPr/>
        </p:nvSpPr>
        <p:spPr>
          <a:xfrm xmlns:a="http://schemas.openxmlformats.org/drawingml/2006/main">
            <a:off x="6134100" y="1809750"/>
            <a:ext cx="2381250" cy="2428875"/>
          </a:xfrm>
          <a:prstGeom xmlns:a="http://schemas.openxmlformats.org/drawingml/2006/main" prst="roundRect">
            <a:avLst>
              <a:gd name="adj" fmla="val 4800"/>
            </a:avLst>
          </a:prstGeom>
          <a:solidFill xmlns:a="http://schemas.openxmlformats.org/drawingml/2006/main">
            <a:srgbClr val="E4F0E8"/>
          </a:solidFill>
          <a:ln xmlns:a="http://schemas.openxmlformats.org/drawingml/2006/main" w="9525">
            <a:solidFill>
              <a:srgbClr val="D9DEE5"/>
            </a:solidFill>
            <a:prstDash val="solid"/>
          </a:ln>
        </p:spPr>
      </p:sp>
      <p:sp>
        <p:nvSpPr>
          <p:cNvPr id="17" name="">
            <a:extLst xmlns:a="http://schemas.openxmlformats.org/drawingml/2006/main">
              <a:ext uri="{FF2B5EF4-FFF2-40B4-BE49-F238E27FC236}">
                <a16:creationId xmlns:a16="http://schemas.microsoft.com/office/drawing/2014/main" id="{54DCB7A0-92BE-4FC0-9C08-6238E54D9321}"/>
              </a:ext>
            </a:extLst>
          </p:cNvPr>
          <p:cNvSpPr>
            <a:spLocks xmlns:a="http://schemas.openxmlformats.org/drawingml/2006/main" noGrp="1"/>
          </p:cNvSpPr>
          <p:nvPr/>
        </p:nvSpPr>
        <p:spPr>
          <a:xfrm xmlns:a="http://schemas.openxmlformats.org/drawingml/2006/main">
            <a:off x="632460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3930443-048C-4868-862D-D5D350F8D97D}"/>
              </a:ext>
            </a:extLst>
          </p:cNvPr>
          <p:cNvSpPr>
            <a:spLocks xmlns:a="http://schemas.openxmlformats.org/drawingml/2006/main" noGrp="1"/>
          </p:cNvSpPr>
          <p:nvPr/>
        </p:nvSpPr>
        <p:spPr>
          <a:xfrm xmlns:a="http://schemas.openxmlformats.org/drawingml/2006/main">
            <a:off x="632460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Padding</a:t>
            </a:r>
          </a:p>
        </p:txBody>
      </p:sp>
      <p:sp>
        <p:nvSpPr>
          <p:cNvPr id="19" name="">
            <a:extLst xmlns:a="http://schemas.openxmlformats.org/drawingml/2006/main">
              <a:ext uri="{FF2B5EF4-FFF2-40B4-BE49-F238E27FC236}">
                <a16:creationId xmlns:a16="http://schemas.microsoft.com/office/drawing/2014/main" id="{1C4AD552-B884-4FF3-B9DC-F4834538AF8F}"/>
              </a:ext>
            </a:extLst>
          </p:cNvPr>
          <p:cNvSpPr>
            <a:spLocks xmlns:a="http://schemas.openxmlformats.org/drawingml/2006/main" noGrp="1"/>
          </p:cNvSpPr>
          <p:nvPr/>
        </p:nvSpPr>
        <p:spPr>
          <a:xfrm xmlns:a="http://schemas.openxmlformats.org/drawingml/2006/main">
            <a:off x="632460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[2, 3, 4]</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[2, 3, 4, 0, 0, 0]</a:t>
            </a:r>
          </a:p>
        </p:txBody>
      </p:sp>
      <p:sp>
        <p:nvSpPr>
          <p:cNvPr id="20" name="">
            <a:extLst xmlns:a="http://schemas.openxmlformats.org/drawingml/2006/main">
              <a:ext uri="{FF2B5EF4-FFF2-40B4-BE49-F238E27FC236}">
                <a16:creationId xmlns:a16="http://schemas.microsoft.com/office/drawing/2014/main" id="{8608566B-DEB4-4BB5-B617-74C880B04179}"/>
              </a:ext>
            </a:extLst>
          </p:cNvPr>
          <p:cNvSpPr>
            <a:spLocks xmlns:a="http://schemas.openxmlformats.org/drawingml/2006/main" noGrp="1"/>
          </p:cNvSpPr>
          <p:nvPr/>
        </p:nvSpPr>
        <p:spPr>
          <a:xfrm xmlns:a="http://schemas.openxmlformats.org/drawingml/2006/main">
            <a:off x="8534400" y="3000375"/>
            <a:ext cx="304800" cy="28575"/>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F59C55D-8B40-41AA-81A7-F12ABE3E8DEB}"/>
              </a:ext>
            </a:extLst>
          </p:cNvPr>
          <p:cNvSpPr>
            <a:spLocks xmlns:a="http://schemas.openxmlformats.org/drawingml/2006/main" noGrp="1"/>
          </p:cNvSpPr>
          <p:nvPr/>
        </p:nvSpPr>
        <p:spPr>
          <a:xfrm xmlns:a="http://schemas.openxmlformats.org/drawingml/2006/main">
            <a:off x="8858250" y="1809750"/>
            <a:ext cx="2381250" cy="2428875"/>
          </a:xfrm>
          <a:prstGeom xmlns:a="http://schemas.openxmlformats.org/drawingml/2006/main" prst="roundRect">
            <a:avLst>
              <a:gd name="adj" fmla="val 4800"/>
            </a:avLst>
          </a:prstGeom>
          <a:solidFill xmlns:a="http://schemas.openxmlformats.org/drawingml/2006/main">
            <a:srgbClr val="F5E2DE"/>
          </a:solidFill>
          <a:ln xmlns:a="http://schemas.openxmlformats.org/drawingml/2006/main" w="9525">
            <a:solidFill>
              <a:srgbClr val="D9DEE5"/>
            </a:solidFill>
            <a:prstDash val="solid"/>
          </a:ln>
        </p:spPr>
      </p:sp>
      <p:sp>
        <p:nvSpPr>
          <p:cNvPr id="22" name="">
            <a:extLst xmlns:a="http://schemas.openxmlformats.org/drawingml/2006/main">
              <a:ext uri="{FF2B5EF4-FFF2-40B4-BE49-F238E27FC236}">
                <a16:creationId xmlns:a16="http://schemas.microsoft.com/office/drawing/2014/main" id="{06CFB644-5690-4EBA-878D-B007DF9D0E7A}"/>
              </a:ext>
            </a:extLst>
          </p:cNvPr>
          <p:cNvSpPr>
            <a:spLocks xmlns:a="http://schemas.openxmlformats.org/drawingml/2006/main" noGrp="1"/>
          </p:cNvSpPr>
          <p:nvPr/>
        </p:nvSpPr>
        <p:spPr>
          <a:xfrm xmlns:a="http://schemas.openxmlformats.org/drawingml/2006/main">
            <a:off x="9048750" y="2038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C58B2A"/>
                </a:solidFill>
                <a:latin typeface="Arial"/>
                <a:ea typeface="Arial"/>
                <a:cs typeface="Arial"/>
              </a:defRPr>
            </a:pPr>
            <a:r>
              <a:rPr sz="1125" b="1" i="0">
                <a:solidFill>
                  <a:srgbClr val="C58B2A"/>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F0E4E187-0376-4E98-A5BF-CA90179926DD}"/>
              </a:ext>
            </a:extLst>
          </p:cNvPr>
          <p:cNvSpPr>
            <a:spLocks xmlns:a="http://schemas.openxmlformats.org/drawingml/2006/main" noGrp="1"/>
          </p:cNvSpPr>
          <p:nvPr/>
        </p:nvSpPr>
        <p:spPr>
          <a:xfrm xmlns:a="http://schemas.openxmlformats.org/drawingml/2006/main">
            <a:off x="9048750" y="24193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02A43"/>
                </a:solidFill>
                <a:latin typeface="Arial"/>
                <a:ea typeface="Arial"/>
                <a:cs typeface="Arial"/>
              </a:defRPr>
            </a:pPr>
            <a:r>
              <a:rPr sz="1725" b="1" i="0">
                <a:solidFill>
                  <a:srgbClr val="102A43"/>
                </a:solidFill>
                <a:latin typeface="Arial"/>
                <a:ea typeface="Arial"/>
                <a:cs typeface="Arial"/>
              </a:rPr>
              <a:t>Embedding</a:t>
            </a:r>
          </a:p>
        </p:txBody>
      </p:sp>
      <p:sp>
        <p:nvSpPr>
          <p:cNvPr id="24" name="">
            <a:extLst xmlns:a="http://schemas.openxmlformats.org/drawingml/2006/main">
              <a:ext uri="{FF2B5EF4-FFF2-40B4-BE49-F238E27FC236}">
                <a16:creationId xmlns:a16="http://schemas.microsoft.com/office/drawing/2014/main" id="{22E04453-64D2-42AD-A44C-D3299D5BC592}"/>
              </a:ext>
            </a:extLst>
          </p:cNvPr>
          <p:cNvSpPr>
            <a:spLocks xmlns:a="http://schemas.openxmlformats.org/drawingml/2006/main" noGrp="1"/>
          </p:cNvSpPr>
          <p:nvPr/>
        </p:nvSpPr>
        <p:spPr>
          <a:xfrm xmlns:a="http://schemas.openxmlformats.org/drawingml/2006/main">
            <a:off x="9048750" y="3095625"/>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ID 3</a:t>
            </a:r>
          </a:p>
          <a:p xmlns:a="http://schemas.openxmlformats.org/drawingml/2006/main">
            <a:pPr algn="l">
              <a:defRPr sz="1350" b="1" i="0">
                <a:solidFill>
                  <a:srgbClr val="17324D"/>
                </a:solidFill>
                <a:latin typeface="Arial"/>
                <a:ea typeface="Arial"/>
                <a:cs typeface="Arial"/>
              </a:defRPr>
            </a:pPr>
            <a:r>
              <a:rPr sz="1350" b="1" i="0">
                <a:solidFill>
                  <a:srgbClr val="17324D"/>
                </a:solidFill>
                <a:latin typeface="Arial"/>
                <a:ea typeface="Arial"/>
                <a:cs typeface="Arial"/>
              </a:rPr>
              <a:t>→ vector 8 chiều</a:t>
            </a:r>
          </a:p>
        </p:txBody>
      </p:sp>
      <p:sp>
        <p:nvSpPr>
          <p:cNvPr id="25" name="">
            <a:extLst xmlns:a="http://schemas.openxmlformats.org/drawingml/2006/main">
              <a:ext uri="{FF2B5EF4-FFF2-40B4-BE49-F238E27FC236}">
                <a16:creationId xmlns:a16="http://schemas.microsoft.com/office/drawing/2014/main" id="{9992BA29-5F64-44E6-94A7-B96856CD0225}"/>
              </a:ext>
            </a:extLst>
          </p:cNvPr>
          <p:cNvSpPr>
            <a:spLocks xmlns:a="http://schemas.openxmlformats.org/drawingml/2006/main" noGrp="1"/>
          </p:cNvSpPr>
          <p:nvPr/>
        </p:nvSpPr>
        <p:spPr>
          <a:xfrm xmlns:a="http://schemas.openxmlformats.org/drawingml/2006/main">
            <a:off x="1828800" y="4762500"/>
            <a:ext cx="8534400" cy="1000125"/>
          </a:xfrm>
          <a:prstGeom xmlns:a="http://schemas.openxmlformats.org/drawingml/2006/main" prst="roundRect">
            <a:avLst>
              <a:gd name="adj" fmla="val 11429"/>
            </a:avLst>
          </a:prstGeom>
          <a:solidFill xmlns:a="http://schemas.openxmlformats.org/drawingml/2006/main">
            <a:srgbClr val="102A43"/>
          </a:solidFill>
          <a:ln xmlns:a="http://schemas.openxmlformats.org/drawingml/2006/main" w="9525">
            <a:solidFill>
              <a:srgbClr val="102A43"/>
            </a:solidFill>
            <a:prstDash val="solid"/>
          </a:ln>
        </p:spPr>
      </p:sp>
      <p:sp>
        <p:nvSpPr>
          <p:cNvPr id="26" name="">
            <a:extLst xmlns:a="http://schemas.openxmlformats.org/drawingml/2006/main">
              <a:ext uri="{FF2B5EF4-FFF2-40B4-BE49-F238E27FC236}">
                <a16:creationId xmlns:a16="http://schemas.microsoft.com/office/drawing/2014/main" id="{975F4307-95F1-4901-9F05-A740B327F518}"/>
              </a:ext>
            </a:extLst>
          </p:cNvPr>
          <p:cNvSpPr>
            <a:spLocks xmlns:a="http://schemas.openxmlformats.org/drawingml/2006/main" noGrp="1"/>
          </p:cNvSpPr>
          <p:nvPr/>
        </p:nvSpPr>
        <p:spPr>
          <a:xfrm xmlns:a="http://schemas.openxmlformats.org/drawingml/2006/main">
            <a:off x="2143125" y="498157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2E5C4"/>
                </a:solidFill>
                <a:latin typeface="Arial"/>
                <a:ea typeface="Arial"/>
                <a:cs typeface="Arial"/>
              </a:defRPr>
            </a:pPr>
            <a:r>
              <a:rPr sz="1350" b="1" i="0">
                <a:solidFill>
                  <a:srgbClr val="F2E5C4"/>
                </a:solidFill>
                <a:latin typeface="Arial"/>
                <a:ea typeface="Arial"/>
                <a:cs typeface="Arial"/>
              </a:rPr>
              <a:t>Embedding matrix</a:t>
            </a:r>
          </a:p>
        </p:txBody>
      </p:sp>
      <p:sp>
        <p:nvSpPr>
          <p:cNvPr id="27" name="">
            <a:extLst xmlns:a="http://schemas.openxmlformats.org/drawingml/2006/main">
              <a:ext uri="{FF2B5EF4-FFF2-40B4-BE49-F238E27FC236}">
                <a16:creationId xmlns:a16="http://schemas.microsoft.com/office/drawing/2014/main" id="{F4B96A17-3A48-4367-8644-24DE152CC4F6}"/>
              </a:ext>
            </a:extLst>
          </p:cNvPr>
          <p:cNvSpPr>
            <a:spLocks xmlns:a="http://schemas.openxmlformats.org/drawingml/2006/main" noGrp="1"/>
          </p:cNvSpPr>
          <p:nvPr/>
        </p:nvSpPr>
        <p:spPr>
          <a:xfrm xmlns:a="http://schemas.openxmlformats.org/drawingml/2006/main">
            <a:off x="2143125" y="5334000"/>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latin typeface="Arial"/>
                <a:ea typeface="Arial"/>
                <a:cs typeface="Arial"/>
              </a:defRPr>
            </a:pPr>
            <a:r>
              <a:rPr sz="1575" b="1" i="0">
                <a:solidFill>
                  <a:srgbClr val="FFFFFF"/>
                </a:solidFill>
                <a:latin typeface="Arial"/>
                <a:ea typeface="Arial"/>
                <a:cs typeface="Arial"/>
              </a:rPr>
              <a:t>E ∈ R^(V × d)     |     token_id i → E[i]     |     output: (batch, length, d)</a:t>
            </a:r>
          </a:p>
        </p:txBody>
      </p:sp>
      <p:sp>
        <p:nvSpPr>
          <p:cNvPr id="28" name="">
            <a:extLst xmlns:a="http://schemas.openxmlformats.org/drawingml/2006/main">
              <a:ext uri="{FF2B5EF4-FFF2-40B4-BE49-F238E27FC236}">
                <a16:creationId xmlns:a16="http://schemas.microsoft.com/office/drawing/2014/main" id="{2AE7B75B-1F54-4A07-A556-7CC6DADF8D45}"/>
              </a:ext>
            </a:extLst>
          </p:cNvPr>
          <p:cNvSpPr>
            <a:spLocks xmlns:a="http://schemas.openxmlformats.org/drawingml/2006/main" noGrp="1"/>
          </p:cNvSpPr>
          <p:nvPr/>
        </p:nvSpPr>
        <p:spPr>
          <a:xfrm xmlns:a="http://schemas.openxmlformats.org/drawingml/2006/main">
            <a:off x="685800" y="604837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C6B73"/>
                </a:solidFill>
                <a:latin typeface="Arial"/>
                <a:ea typeface="Arial"/>
                <a:cs typeface="Arial"/>
              </a:defRPr>
            </a:pPr>
            <a:r>
              <a:rPr sz="1200" b="0" i="0">
                <a:solidFill>
                  <a:srgbClr val="5C6B73"/>
                </a:solidFill>
                <a:latin typeface="Arial"/>
                <a:ea typeface="Arial"/>
                <a:cs typeface="Arial"/>
              </a:rPr>
              <a:t>Notebook output: token_ids (4, 6)  ·  embedding (4, 6, 8)</a:t>
            </a:r>
          </a:p>
        </p:txBody>
      </p:sp>
    </p:spTree>
    <p:extLst>
      <p:ext uri="{BB962C8B-B14F-4D97-AF65-F5344CB8AC3E}">
        <p14:creationId xmlns:p14="http://schemas.microsoft.com/office/powerpoint/2010/main" val="1583098906"/>
      </p:ext>
    </p:extLst>
  </p:cSld>
</p:sld>
</file>

<file path=ppt/slides/slide4.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16729338-1334-4730-8E58-7EC8A77696E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440DB0-AD0D-4182-A737-16E403427720}"/>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8540657-5973-4EBE-94DC-B3F0743568ED}"/>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Pipeline tiền xử lý giá vàng</a:t>
            </a:r>
          </a:p>
        </p:txBody>
      </p:sp>
      <p:sp>
        <p:nvSpPr>
          <p:cNvPr id="4" name="">
            <a:extLst xmlns:a="http://schemas.openxmlformats.org/drawingml/2006/main">
              <a:ext uri="{FF2B5EF4-FFF2-40B4-BE49-F238E27FC236}">
                <a16:creationId xmlns:a16="http://schemas.microsoft.com/office/drawing/2014/main" id="{23CD8EAC-879D-4D47-9C55-F87A05ABAB13}"/>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Dataset gold_price.csv: từ CSV đến cửa sổ 30 bước.</a:t>
            </a:r>
          </a:p>
        </p:txBody>
      </p:sp>
      <p:sp>
        <p:nvSpPr>
          <p:cNvPr id="5" name="">
            <a:extLst xmlns:a="http://schemas.openxmlformats.org/drawingml/2006/main">
              <a:ext uri="{FF2B5EF4-FFF2-40B4-BE49-F238E27FC236}">
                <a16:creationId xmlns:a16="http://schemas.microsoft.com/office/drawing/2014/main" id="{130B6B9E-AAE8-497F-A961-55A1A27EF1C1}"/>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2DC0F1A8-0714-4C4F-9B8A-7685BD53A7C9}"/>
              </a:ext>
            </a:extLst>
          </p:cNvPr>
          <p:cNvSpPr>
            <a:spLocks xmlns:a="http://schemas.openxmlformats.org/drawingml/2006/main" noGrp="1"/>
          </p:cNvSpPr>
          <p:nvPr/>
        </p:nvSpPr>
        <p:spPr>
          <a:xfrm xmlns:a="http://schemas.openxmlformats.org/drawingml/2006/main">
            <a:off x="685800" y="1476375"/>
            <a:ext cx="2076450" cy="685800"/>
          </a:xfrm>
          <a:prstGeom xmlns:a="http://schemas.openxmlformats.org/drawingml/2006/main" prst="roundRect">
            <a:avLst>
              <a:gd name="adj" fmla="val 16667"/>
            </a:avLst>
          </a:prstGeom>
          <a:solidFill xmlns:a="http://schemas.openxmlformats.org/drawingml/2006/main">
            <a:srgbClr val="DCEAF2"/>
          </a:solidFill>
          <a:ln xmlns:a="http://schemas.openxmlformats.org/drawingml/2006/main" w="9525">
            <a:solidFill>
              <a:srgbClr val="2D6A8F"/>
            </a:solidFill>
            <a:prstDash val="solid"/>
          </a:ln>
        </p:spPr>
      </p:sp>
      <p:sp>
        <p:nvSpPr>
          <p:cNvPr id="7" name="">
            <a:extLst xmlns:a="http://schemas.openxmlformats.org/drawingml/2006/main">
              <a:ext uri="{FF2B5EF4-FFF2-40B4-BE49-F238E27FC236}">
                <a16:creationId xmlns:a16="http://schemas.microsoft.com/office/drawing/2014/main" id="{51E6C835-3E2B-4CE3-96CE-B795242F8731}"/>
              </a:ext>
            </a:extLst>
          </p:cNvPr>
          <p:cNvSpPr>
            <a:spLocks xmlns:a="http://schemas.openxmlformats.org/drawingml/2006/main" noGrp="1"/>
          </p:cNvSpPr>
          <p:nvPr/>
        </p:nvSpPr>
        <p:spPr>
          <a:xfrm xmlns:a="http://schemas.openxmlformats.org/drawingml/2006/main">
            <a:off x="857250" y="1600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2D6A8F"/>
                </a:solidFill>
                <a:latin typeface="Arial"/>
                <a:ea typeface="Arial"/>
                <a:cs typeface="Arial"/>
              </a:defRPr>
            </a:pPr>
            <a:r>
              <a:rPr sz="1575" b="1" i="0">
                <a:solidFill>
                  <a:srgbClr val="2D6A8F"/>
                </a:solidFill>
                <a:latin typeface="Arial"/>
                <a:ea typeface="Arial"/>
                <a:cs typeface="Arial"/>
              </a:rPr>
              <a:t>13,461</a:t>
            </a:r>
          </a:p>
        </p:txBody>
      </p:sp>
      <p:sp>
        <p:nvSpPr>
          <p:cNvPr id="8" name="">
            <a:extLst xmlns:a="http://schemas.openxmlformats.org/drawingml/2006/main">
              <a:ext uri="{FF2B5EF4-FFF2-40B4-BE49-F238E27FC236}">
                <a16:creationId xmlns:a16="http://schemas.microsoft.com/office/drawing/2014/main" id="{A8530106-69CA-44C0-81B5-90399E4DEC6C}"/>
              </a:ext>
            </a:extLst>
          </p:cNvPr>
          <p:cNvSpPr>
            <a:spLocks xmlns:a="http://schemas.openxmlformats.org/drawingml/2006/main" noGrp="1"/>
          </p:cNvSpPr>
          <p:nvPr/>
        </p:nvSpPr>
        <p:spPr>
          <a:xfrm xmlns:a="http://schemas.openxmlformats.org/drawingml/2006/main">
            <a:off x="85725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dòng thô</a:t>
            </a:r>
          </a:p>
        </p:txBody>
      </p:sp>
      <p:sp>
        <p:nvSpPr>
          <p:cNvPr id="9" name="">
            <a:extLst xmlns:a="http://schemas.openxmlformats.org/drawingml/2006/main">
              <a:ext uri="{FF2B5EF4-FFF2-40B4-BE49-F238E27FC236}">
                <a16:creationId xmlns:a16="http://schemas.microsoft.com/office/drawing/2014/main" id="{3ED3E5E2-C4B2-4898-B24F-CB550AC70B10}"/>
              </a:ext>
            </a:extLst>
          </p:cNvPr>
          <p:cNvSpPr>
            <a:spLocks xmlns:a="http://schemas.openxmlformats.org/drawingml/2006/main" noGrp="1"/>
          </p:cNvSpPr>
          <p:nvPr/>
        </p:nvSpPr>
        <p:spPr>
          <a:xfrm xmlns:a="http://schemas.openxmlformats.org/drawingml/2006/main">
            <a:off x="3067050" y="1476375"/>
            <a:ext cx="2076450" cy="685800"/>
          </a:xfrm>
          <a:prstGeom xmlns:a="http://schemas.openxmlformats.org/drawingml/2006/main" prst="roundRect">
            <a:avLst>
              <a:gd name="adj" fmla="val 16667"/>
            </a:avLst>
          </a:prstGeom>
          <a:solidFill xmlns:a="http://schemas.openxmlformats.org/drawingml/2006/main">
            <a:srgbClr val="E4F0E8"/>
          </a:solidFill>
          <a:ln xmlns:a="http://schemas.openxmlformats.org/drawingml/2006/main" w="9525">
            <a:solidFill>
              <a:srgbClr val="3F7D5A"/>
            </a:solidFill>
            <a:prstDash val="solid"/>
          </a:ln>
        </p:spPr>
      </p:sp>
      <p:sp>
        <p:nvSpPr>
          <p:cNvPr id="10" name="">
            <a:extLst xmlns:a="http://schemas.openxmlformats.org/drawingml/2006/main">
              <a:ext uri="{FF2B5EF4-FFF2-40B4-BE49-F238E27FC236}">
                <a16:creationId xmlns:a16="http://schemas.microsoft.com/office/drawing/2014/main" id="{8C5BEE59-ED96-4545-95DE-02B12F98BB83}"/>
              </a:ext>
            </a:extLst>
          </p:cNvPr>
          <p:cNvSpPr>
            <a:spLocks xmlns:a="http://schemas.openxmlformats.org/drawingml/2006/main" noGrp="1"/>
          </p:cNvSpPr>
          <p:nvPr/>
        </p:nvSpPr>
        <p:spPr>
          <a:xfrm xmlns:a="http://schemas.openxmlformats.org/drawingml/2006/main">
            <a:off x="3238500" y="1600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3F7D5A"/>
                </a:solidFill>
                <a:latin typeface="Arial"/>
                <a:ea typeface="Arial"/>
                <a:cs typeface="Arial"/>
              </a:defRPr>
            </a:pPr>
            <a:r>
              <a:rPr sz="1575" b="1" i="0">
                <a:solidFill>
                  <a:srgbClr val="3F7D5A"/>
                </a:solidFill>
                <a:latin typeface="Arial"/>
                <a:ea typeface="Arial"/>
                <a:cs typeface="Arial"/>
              </a:rPr>
              <a:t>13,320</a:t>
            </a:r>
          </a:p>
        </p:txBody>
      </p:sp>
      <p:sp>
        <p:nvSpPr>
          <p:cNvPr id="11" name="">
            <a:extLst xmlns:a="http://schemas.openxmlformats.org/drawingml/2006/main">
              <a:ext uri="{FF2B5EF4-FFF2-40B4-BE49-F238E27FC236}">
                <a16:creationId xmlns:a16="http://schemas.microsoft.com/office/drawing/2014/main" id="{067B969C-F5EF-403A-9FAE-7BD614C26698}"/>
              </a:ext>
            </a:extLst>
          </p:cNvPr>
          <p:cNvSpPr>
            <a:spLocks xmlns:a="http://schemas.openxmlformats.org/drawingml/2006/main" noGrp="1"/>
          </p:cNvSpPr>
          <p:nvPr/>
        </p:nvSpPr>
        <p:spPr>
          <a:xfrm xmlns:a="http://schemas.openxmlformats.org/drawingml/2006/main">
            <a:off x="323850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dòng sau làm sạch</a:t>
            </a:r>
          </a:p>
        </p:txBody>
      </p:sp>
      <p:sp>
        <p:nvSpPr>
          <p:cNvPr id="12" name="">
            <a:extLst xmlns:a="http://schemas.openxmlformats.org/drawingml/2006/main">
              <a:ext uri="{FF2B5EF4-FFF2-40B4-BE49-F238E27FC236}">
                <a16:creationId xmlns:a16="http://schemas.microsoft.com/office/drawing/2014/main" id="{2300B8ED-50DD-47E8-8AA5-05F10511546B}"/>
              </a:ext>
            </a:extLst>
          </p:cNvPr>
          <p:cNvSpPr>
            <a:spLocks xmlns:a="http://schemas.openxmlformats.org/drawingml/2006/main" noGrp="1"/>
          </p:cNvSpPr>
          <p:nvPr/>
        </p:nvSpPr>
        <p:spPr>
          <a:xfrm xmlns:a="http://schemas.openxmlformats.org/drawingml/2006/main">
            <a:off x="5448300" y="1476375"/>
            <a:ext cx="2076450" cy="685800"/>
          </a:xfrm>
          <a:prstGeom xmlns:a="http://schemas.openxmlformats.org/drawingml/2006/main" prst="roundRect">
            <a:avLst>
              <a:gd name="adj" fmla="val 16667"/>
            </a:avLst>
          </a:prstGeom>
          <a:solidFill xmlns:a="http://schemas.openxmlformats.org/drawingml/2006/main">
            <a:srgbClr val="F2E5C4"/>
          </a:solidFill>
          <a:ln xmlns:a="http://schemas.openxmlformats.org/drawingml/2006/main" w="9525">
            <a:solidFill>
              <a:srgbClr val="C58B2A"/>
            </a:solidFill>
            <a:prstDash val="solid"/>
          </a:ln>
        </p:spPr>
      </p:sp>
      <p:sp>
        <p:nvSpPr>
          <p:cNvPr id="13" name="">
            <a:extLst xmlns:a="http://schemas.openxmlformats.org/drawingml/2006/main">
              <a:ext uri="{FF2B5EF4-FFF2-40B4-BE49-F238E27FC236}">
                <a16:creationId xmlns:a16="http://schemas.microsoft.com/office/drawing/2014/main" id="{D7A778B6-8A1C-44A0-BD20-57C9939BEE0E}"/>
              </a:ext>
            </a:extLst>
          </p:cNvPr>
          <p:cNvSpPr>
            <a:spLocks xmlns:a="http://schemas.openxmlformats.org/drawingml/2006/main" noGrp="1"/>
          </p:cNvSpPr>
          <p:nvPr/>
        </p:nvSpPr>
        <p:spPr>
          <a:xfrm xmlns:a="http://schemas.openxmlformats.org/drawingml/2006/main">
            <a:off x="5619750" y="16002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C58B2A"/>
                </a:solidFill>
                <a:latin typeface="Arial"/>
                <a:ea typeface="Arial"/>
                <a:cs typeface="Arial"/>
              </a:defRPr>
            </a:pPr>
            <a:r>
              <a:rPr sz="1575" b="1" i="0">
                <a:solidFill>
                  <a:srgbClr val="C58B2A"/>
                </a:solidFill>
                <a:latin typeface="Arial"/>
                <a:ea typeface="Arial"/>
                <a:cs typeface="Arial"/>
              </a:rPr>
              <a:t>30</a:t>
            </a:r>
          </a:p>
        </p:txBody>
      </p:sp>
      <p:sp>
        <p:nvSpPr>
          <p:cNvPr id="14" name="">
            <a:extLst xmlns:a="http://schemas.openxmlformats.org/drawingml/2006/main">
              <a:ext uri="{FF2B5EF4-FFF2-40B4-BE49-F238E27FC236}">
                <a16:creationId xmlns:a16="http://schemas.microsoft.com/office/drawing/2014/main" id="{A150B4D4-1314-4AD3-8E2A-3936F4427ABE}"/>
              </a:ext>
            </a:extLst>
          </p:cNvPr>
          <p:cNvSpPr>
            <a:spLocks xmlns:a="http://schemas.openxmlformats.org/drawingml/2006/main" noGrp="1"/>
          </p:cNvSpPr>
          <p:nvPr/>
        </p:nvSpPr>
        <p:spPr>
          <a:xfrm xmlns:a="http://schemas.openxmlformats.org/drawingml/2006/main">
            <a:off x="5619750" y="18859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17324D"/>
                </a:solidFill>
                <a:latin typeface="Arial"/>
                <a:ea typeface="Arial"/>
                <a:cs typeface="Arial"/>
              </a:defRPr>
            </a:pPr>
            <a:r>
              <a:rPr sz="1050" b="0" i="0">
                <a:solidFill>
                  <a:srgbClr val="17324D"/>
                </a:solidFill>
                <a:latin typeface="Arial"/>
                <a:ea typeface="Arial"/>
                <a:cs typeface="Arial"/>
              </a:rPr>
              <a:t>bước nhìn lại</a:t>
            </a:r>
          </a:p>
        </p:txBody>
      </p:sp>
      <p:sp>
        <p:nvSpPr>
          <p:cNvPr id="15" name="">
            <a:extLst xmlns:a="http://schemas.openxmlformats.org/drawingml/2006/main">
              <a:ext uri="{FF2B5EF4-FFF2-40B4-BE49-F238E27FC236}">
                <a16:creationId xmlns:a16="http://schemas.microsoft.com/office/drawing/2014/main" id="{76AB0869-99F4-412C-9328-751B93C26FB0}"/>
              </a:ext>
            </a:extLst>
          </p:cNvPr>
          <p:cNvSpPr>
            <a:spLocks xmlns:a="http://schemas.openxmlformats.org/drawingml/2006/main" noGrp="1"/>
          </p:cNvSpPr>
          <p:nvPr/>
        </p:nvSpPr>
        <p:spPr>
          <a:xfrm xmlns:a="http://schemas.openxmlformats.org/drawingml/2006/main">
            <a:off x="68580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B3CCBFE3-A97E-4B5A-895A-10DA1D73182E}"/>
              </a:ext>
            </a:extLst>
          </p:cNvPr>
          <p:cNvSpPr>
            <a:spLocks xmlns:a="http://schemas.openxmlformats.org/drawingml/2006/main" noGrp="1"/>
          </p:cNvSpPr>
          <p:nvPr/>
        </p:nvSpPr>
        <p:spPr>
          <a:xfrm xmlns:a="http://schemas.openxmlformats.org/drawingml/2006/main">
            <a:off x="81915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0634D4-DD42-4006-8C61-8EDA8E5D528B}"/>
              </a:ext>
            </a:extLst>
          </p:cNvPr>
          <p:cNvSpPr>
            <a:spLocks xmlns:a="http://schemas.openxmlformats.org/drawingml/2006/main" noGrp="1"/>
          </p:cNvSpPr>
          <p:nvPr/>
        </p:nvSpPr>
        <p:spPr>
          <a:xfrm xmlns:a="http://schemas.openxmlformats.org/drawingml/2006/main">
            <a:off x="81915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D1205C27-002A-40C0-8265-333D87D4D194}"/>
              </a:ext>
            </a:extLst>
          </p:cNvPr>
          <p:cNvSpPr>
            <a:spLocks xmlns:a="http://schemas.openxmlformats.org/drawingml/2006/main" noGrp="1"/>
          </p:cNvSpPr>
          <p:nvPr/>
        </p:nvSpPr>
        <p:spPr>
          <a:xfrm xmlns:a="http://schemas.openxmlformats.org/drawingml/2006/main">
            <a:off x="120015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Đọc CSV</a:t>
            </a:r>
          </a:p>
        </p:txBody>
      </p:sp>
      <p:sp>
        <p:nvSpPr>
          <p:cNvPr id="19" name="">
            <a:extLst xmlns:a="http://schemas.openxmlformats.org/drawingml/2006/main">
              <a:ext uri="{FF2B5EF4-FFF2-40B4-BE49-F238E27FC236}">
                <a16:creationId xmlns:a16="http://schemas.microsoft.com/office/drawing/2014/main" id="{2EBD0924-F522-4257-8C4A-7ADF3A3E6E04}"/>
              </a:ext>
            </a:extLst>
          </p:cNvPr>
          <p:cNvSpPr>
            <a:spLocks xmlns:a="http://schemas.openxmlformats.org/drawingml/2006/main" noGrp="1"/>
          </p:cNvSpPr>
          <p:nvPr/>
        </p:nvSpPr>
        <p:spPr>
          <a:xfrm xmlns:a="http://schemas.openxmlformats.org/drawingml/2006/main">
            <a:off x="83820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date, price</a:t>
            </a:r>
          </a:p>
        </p:txBody>
      </p:sp>
      <p:sp>
        <p:nvSpPr>
          <p:cNvPr id="20" name="">
            <a:extLst xmlns:a="http://schemas.openxmlformats.org/drawingml/2006/main">
              <a:ext uri="{FF2B5EF4-FFF2-40B4-BE49-F238E27FC236}">
                <a16:creationId xmlns:a16="http://schemas.microsoft.com/office/drawing/2014/main" id="{383854E9-442F-4113-947E-F68BD24B7E8B}"/>
              </a:ext>
            </a:extLst>
          </p:cNvPr>
          <p:cNvSpPr>
            <a:spLocks xmlns:a="http://schemas.openxmlformats.org/drawingml/2006/main" noGrp="1"/>
          </p:cNvSpPr>
          <p:nvPr/>
        </p:nvSpPr>
        <p:spPr>
          <a:xfrm xmlns:a="http://schemas.openxmlformats.org/drawingml/2006/main">
            <a:off x="340995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C251ECCC-41C3-49BB-988B-DE60998405EE}"/>
              </a:ext>
            </a:extLst>
          </p:cNvPr>
          <p:cNvSpPr>
            <a:spLocks xmlns:a="http://schemas.openxmlformats.org/drawingml/2006/main" noGrp="1"/>
          </p:cNvSpPr>
          <p:nvPr/>
        </p:nvSpPr>
        <p:spPr>
          <a:xfrm xmlns:a="http://schemas.openxmlformats.org/drawingml/2006/main">
            <a:off x="354330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5098C0-D38E-4916-83FD-5806DE9AD629}"/>
              </a:ext>
            </a:extLst>
          </p:cNvPr>
          <p:cNvSpPr>
            <a:spLocks xmlns:a="http://schemas.openxmlformats.org/drawingml/2006/main" noGrp="1"/>
          </p:cNvSpPr>
          <p:nvPr/>
        </p:nvSpPr>
        <p:spPr>
          <a:xfrm xmlns:a="http://schemas.openxmlformats.org/drawingml/2006/main">
            <a:off x="354330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8DA63427-8729-439E-B6E8-C0DF972AA846}"/>
              </a:ext>
            </a:extLst>
          </p:cNvPr>
          <p:cNvSpPr>
            <a:spLocks xmlns:a="http://schemas.openxmlformats.org/drawingml/2006/main" noGrp="1"/>
          </p:cNvSpPr>
          <p:nvPr/>
        </p:nvSpPr>
        <p:spPr>
          <a:xfrm xmlns:a="http://schemas.openxmlformats.org/drawingml/2006/main">
            <a:off x="392430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Chuyển kiểu</a:t>
            </a:r>
          </a:p>
        </p:txBody>
      </p:sp>
      <p:sp>
        <p:nvSpPr>
          <p:cNvPr id="24" name="">
            <a:extLst xmlns:a="http://schemas.openxmlformats.org/drawingml/2006/main">
              <a:ext uri="{FF2B5EF4-FFF2-40B4-BE49-F238E27FC236}">
                <a16:creationId xmlns:a16="http://schemas.microsoft.com/office/drawing/2014/main" id="{34216505-462A-482D-AC24-303B3B96F12D}"/>
              </a:ext>
            </a:extLst>
          </p:cNvPr>
          <p:cNvSpPr>
            <a:spLocks xmlns:a="http://schemas.openxmlformats.org/drawingml/2006/main" noGrp="1"/>
          </p:cNvSpPr>
          <p:nvPr/>
        </p:nvSpPr>
        <p:spPr>
          <a:xfrm xmlns:a="http://schemas.openxmlformats.org/drawingml/2006/main">
            <a:off x="356235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datetime, float</a:t>
            </a:r>
          </a:p>
        </p:txBody>
      </p:sp>
      <p:sp>
        <p:nvSpPr>
          <p:cNvPr id="25" name="">
            <a:extLst xmlns:a="http://schemas.openxmlformats.org/drawingml/2006/main">
              <a:ext uri="{FF2B5EF4-FFF2-40B4-BE49-F238E27FC236}">
                <a16:creationId xmlns:a16="http://schemas.microsoft.com/office/drawing/2014/main" id="{B9981B3F-92F3-4508-9891-DE6D1EE19094}"/>
              </a:ext>
            </a:extLst>
          </p:cNvPr>
          <p:cNvSpPr>
            <a:spLocks xmlns:a="http://schemas.openxmlformats.org/drawingml/2006/main" noGrp="1"/>
          </p:cNvSpPr>
          <p:nvPr/>
        </p:nvSpPr>
        <p:spPr>
          <a:xfrm xmlns:a="http://schemas.openxmlformats.org/drawingml/2006/main">
            <a:off x="613410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26" name="">
            <a:extLst xmlns:a="http://schemas.openxmlformats.org/drawingml/2006/main">
              <a:ext uri="{FF2B5EF4-FFF2-40B4-BE49-F238E27FC236}">
                <a16:creationId xmlns:a16="http://schemas.microsoft.com/office/drawing/2014/main" id="{FC119235-B7AC-4816-BD28-6369DEC6FEDF}"/>
              </a:ext>
            </a:extLst>
          </p:cNvPr>
          <p:cNvSpPr>
            <a:spLocks xmlns:a="http://schemas.openxmlformats.org/drawingml/2006/main" noGrp="1"/>
          </p:cNvSpPr>
          <p:nvPr/>
        </p:nvSpPr>
        <p:spPr>
          <a:xfrm xmlns:a="http://schemas.openxmlformats.org/drawingml/2006/main">
            <a:off x="626745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9643BAF-F845-497F-9304-9F4D570B9122}"/>
              </a:ext>
            </a:extLst>
          </p:cNvPr>
          <p:cNvSpPr>
            <a:spLocks xmlns:a="http://schemas.openxmlformats.org/drawingml/2006/main" noGrp="1"/>
          </p:cNvSpPr>
          <p:nvPr/>
        </p:nvSpPr>
        <p:spPr>
          <a:xfrm xmlns:a="http://schemas.openxmlformats.org/drawingml/2006/main">
            <a:off x="626745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6D9A462D-329D-41A9-AA8C-C83206217299}"/>
              </a:ext>
            </a:extLst>
          </p:cNvPr>
          <p:cNvSpPr>
            <a:spLocks xmlns:a="http://schemas.openxmlformats.org/drawingml/2006/main" noGrp="1"/>
          </p:cNvSpPr>
          <p:nvPr/>
        </p:nvSpPr>
        <p:spPr>
          <a:xfrm xmlns:a="http://schemas.openxmlformats.org/drawingml/2006/main">
            <a:off x="664845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Làm sạch</a:t>
            </a:r>
          </a:p>
        </p:txBody>
      </p:sp>
      <p:sp>
        <p:nvSpPr>
          <p:cNvPr id="29" name="">
            <a:extLst xmlns:a="http://schemas.openxmlformats.org/drawingml/2006/main">
              <a:ext uri="{FF2B5EF4-FFF2-40B4-BE49-F238E27FC236}">
                <a16:creationId xmlns:a16="http://schemas.microsoft.com/office/drawing/2014/main" id="{BC647442-89CB-4010-92D4-6BDCE19A7359}"/>
              </a:ext>
            </a:extLst>
          </p:cNvPr>
          <p:cNvSpPr>
            <a:spLocks xmlns:a="http://schemas.openxmlformats.org/drawingml/2006/main" noGrp="1"/>
          </p:cNvSpPr>
          <p:nvPr/>
        </p:nvSpPr>
        <p:spPr>
          <a:xfrm xmlns:a="http://schemas.openxmlformats.org/drawingml/2006/main">
            <a:off x="628650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dropna, deduplicate</a:t>
            </a:r>
          </a:p>
        </p:txBody>
      </p:sp>
      <p:sp>
        <p:nvSpPr>
          <p:cNvPr id="30" name="">
            <a:extLst xmlns:a="http://schemas.openxmlformats.org/drawingml/2006/main">
              <a:ext uri="{FF2B5EF4-FFF2-40B4-BE49-F238E27FC236}">
                <a16:creationId xmlns:a16="http://schemas.microsoft.com/office/drawing/2014/main" id="{4CD905E6-23EA-4622-ABB9-E78F2B17FF57}"/>
              </a:ext>
            </a:extLst>
          </p:cNvPr>
          <p:cNvSpPr>
            <a:spLocks xmlns:a="http://schemas.openxmlformats.org/drawingml/2006/main" noGrp="1"/>
          </p:cNvSpPr>
          <p:nvPr/>
        </p:nvSpPr>
        <p:spPr>
          <a:xfrm xmlns:a="http://schemas.openxmlformats.org/drawingml/2006/main">
            <a:off x="8858250" y="25717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E5"/>
            </a:solidFill>
            <a:prstDash val="solid"/>
          </a:ln>
        </p:spPr>
      </p:sp>
      <p:sp>
        <p:nvSpPr>
          <p:cNvPr id="31" name="">
            <a:extLst xmlns:a="http://schemas.openxmlformats.org/drawingml/2006/main">
              <a:ext uri="{FF2B5EF4-FFF2-40B4-BE49-F238E27FC236}">
                <a16:creationId xmlns:a16="http://schemas.microsoft.com/office/drawing/2014/main" id="{6A97D419-1C0A-4A26-8836-652A54931C01}"/>
              </a:ext>
            </a:extLst>
          </p:cNvPr>
          <p:cNvSpPr>
            <a:spLocks xmlns:a="http://schemas.openxmlformats.org/drawingml/2006/main" noGrp="1"/>
          </p:cNvSpPr>
          <p:nvPr/>
        </p:nvSpPr>
        <p:spPr>
          <a:xfrm xmlns:a="http://schemas.openxmlformats.org/drawingml/2006/main">
            <a:off x="8991600" y="2705100"/>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B682B81-819A-438F-802D-4D3CD54F463F}"/>
              </a:ext>
            </a:extLst>
          </p:cNvPr>
          <p:cNvSpPr>
            <a:spLocks xmlns:a="http://schemas.openxmlformats.org/drawingml/2006/main" noGrp="1"/>
          </p:cNvSpPr>
          <p:nvPr/>
        </p:nvSpPr>
        <p:spPr>
          <a:xfrm xmlns:a="http://schemas.openxmlformats.org/drawingml/2006/main">
            <a:off x="8991600" y="27527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33" name="">
            <a:extLst xmlns:a="http://schemas.openxmlformats.org/drawingml/2006/main">
              <a:ext uri="{FF2B5EF4-FFF2-40B4-BE49-F238E27FC236}">
                <a16:creationId xmlns:a16="http://schemas.microsoft.com/office/drawing/2014/main" id="{73DEF91D-6A6D-4D53-937D-ACA8FAA3A17A}"/>
              </a:ext>
            </a:extLst>
          </p:cNvPr>
          <p:cNvSpPr>
            <a:spLocks xmlns:a="http://schemas.openxmlformats.org/drawingml/2006/main" noGrp="1"/>
          </p:cNvSpPr>
          <p:nvPr/>
        </p:nvSpPr>
        <p:spPr>
          <a:xfrm xmlns:a="http://schemas.openxmlformats.org/drawingml/2006/main">
            <a:off x="9372600" y="2695575"/>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Sắp xếp</a:t>
            </a:r>
          </a:p>
        </p:txBody>
      </p:sp>
      <p:sp>
        <p:nvSpPr>
          <p:cNvPr id="34" name="">
            <a:extLst xmlns:a="http://schemas.openxmlformats.org/drawingml/2006/main">
              <a:ext uri="{FF2B5EF4-FFF2-40B4-BE49-F238E27FC236}">
                <a16:creationId xmlns:a16="http://schemas.microsoft.com/office/drawing/2014/main" id="{B0F1E539-D8C4-4A51-9FAA-79275E081ECC}"/>
              </a:ext>
            </a:extLst>
          </p:cNvPr>
          <p:cNvSpPr>
            <a:spLocks xmlns:a="http://schemas.openxmlformats.org/drawingml/2006/main" noGrp="1"/>
          </p:cNvSpPr>
          <p:nvPr/>
        </p:nvSpPr>
        <p:spPr>
          <a:xfrm xmlns:a="http://schemas.openxmlformats.org/drawingml/2006/main">
            <a:off x="9010650" y="30480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chronological</a:t>
            </a:r>
          </a:p>
        </p:txBody>
      </p:sp>
      <p:sp>
        <p:nvSpPr>
          <p:cNvPr id="35" name="">
            <a:extLst xmlns:a="http://schemas.openxmlformats.org/drawingml/2006/main">
              <a:ext uri="{FF2B5EF4-FFF2-40B4-BE49-F238E27FC236}">
                <a16:creationId xmlns:a16="http://schemas.microsoft.com/office/drawing/2014/main" id="{22844B4F-77BE-4551-A327-BCA2777205A2}"/>
              </a:ext>
            </a:extLst>
          </p:cNvPr>
          <p:cNvSpPr>
            <a:spLocks xmlns:a="http://schemas.openxmlformats.org/drawingml/2006/main" noGrp="1"/>
          </p:cNvSpPr>
          <p:nvPr/>
        </p:nvSpPr>
        <p:spPr>
          <a:xfrm xmlns:a="http://schemas.openxmlformats.org/drawingml/2006/main">
            <a:off x="68580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36" name="">
            <a:extLst xmlns:a="http://schemas.openxmlformats.org/drawingml/2006/main">
              <a:ext uri="{FF2B5EF4-FFF2-40B4-BE49-F238E27FC236}">
                <a16:creationId xmlns:a16="http://schemas.microsoft.com/office/drawing/2014/main" id="{2DA0F910-90D2-45AD-ADDA-968ED3B201BF}"/>
              </a:ext>
            </a:extLst>
          </p:cNvPr>
          <p:cNvSpPr>
            <a:spLocks xmlns:a="http://schemas.openxmlformats.org/drawingml/2006/main" noGrp="1"/>
          </p:cNvSpPr>
          <p:nvPr/>
        </p:nvSpPr>
        <p:spPr>
          <a:xfrm xmlns:a="http://schemas.openxmlformats.org/drawingml/2006/main">
            <a:off x="81915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0F7F50C-A496-450C-93BB-26486B499C56}"/>
              </a:ext>
            </a:extLst>
          </p:cNvPr>
          <p:cNvSpPr>
            <a:spLocks xmlns:a="http://schemas.openxmlformats.org/drawingml/2006/main" noGrp="1"/>
          </p:cNvSpPr>
          <p:nvPr/>
        </p:nvSpPr>
        <p:spPr>
          <a:xfrm xmlns:a="http://schemas.openxmlformats.org/drawingml/2006/main">
            <a:off x="81915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8" name="">
            <a:extLst xmlns:a="http://schemas.openxmlformats.org/drawingml/2006/main">
              <a:ext uri="{FF2B5EF4-FFF2-40B4-BE49-F238E27FC236}">
                <a16:creationId xmlns:a16="http://schemas.microsoft.com/office/drawing/2014/main" id="{A902E36C-2381-4B71-8DD4-586C83FDE091}"/>
              </a:ext>
            </a:extLst>
          </p:cNvPr>
          <p:cNvSpPr>
            <a:spLocks xmlns:a="http://schemas.openxmlformats.org/drawingml/2006/main" noGrp="1"/>
          </p:cNvSpPr>
          <p:nvPr/>
        </p:nvSpPr>
        <p:spPr>
          <a:xfrm xmlns:a="http://schemas.openxmlformats.org/drawingml/2006/main">
            <a:off x="120015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Chia tập</a:t>
            </a:r>
          </a:p>
        </p:txBody>
      </p:sp>
      <p:sp>
        <p:nvSpPr>
          <p:cNvPr id="39" name="">
            <a:extLst xmlns:a="http://schemas.openxmlformats.org/drawingml/2006/main">
              <a:ext uri="{FF2B5EF4-FFF2-40B4-BE49-F238E27FC236}">
                <a16:creationId xmlns:a16="http://schemas.microsoft.com/office/drawing/2014/main" id="{6987FB06-36F4-4381-98A6-1328784A977F}"/>
              </a:ext>
            </a:extLst>
          </p:cNvPr>
          <p:cNvSpPr>
            <a:spLocks xmlns:a="http://schemas.openxmlformats.org/drawingml/2006/main" noGrp="1"/>
          </p:cNvSpPr>
          <p:nvPr/>
        </p:nvSpPr>
        <p:spPr>
          <a:xfrm xmlns:a="http://schemas.openxmlformats.org/drawingml/2006/main">
            <a:off x="83820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70 / 15 / 15</a:t>
            </a:r>
          </a:p>
        </p:txBody>
      </p:sp>
      <p:sp>
        <p:nvSpPr>
          <p:cNvPr id="40" name="">
            <a:extLst xmlns:a="http://schemas.openxmlformats.org/drawingml/2006/main">
              <a:ext uri="{FF2B5EF4-FFF2-40B4-BE49-F238E27FC236}">
                <a16:creationId xmlns:a16="http://schemas.microsoft.com/office/drawing/2014/main" id="{5291503E-B1E8-43FA-8666-36C5B1290A3C}"/>
              </a:ext>
            </a:extLst>
          </p:cNvPr>
          <p:cNvSpPr>
            <a:spLocks xmlns:a="http://schemas.openxmlformats.org/drawingml/2006/main" noGrp="1"/>
          </p:cNvSpPr>
          <p:nvPr/>
        </p:nvSpPr>
        <p:spPr>
          <a:xfrm xmlns:a="http://schemas.openxmlformats.org/drawingml/2006/main">
            <a:off x="340995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41" name="">
            <a:extLst xmlns:a="http://schemas.openxmlformats.org/drawingml/2006/main">
              <a:ext uri="{FF2B5EF4-FFF2-40B4-BE49-F238E27FC236}">
                <a16:creationId xmlns:a16="http://schemas.microsoft.com/office/drawing/2014/main" id="{86DD7FB6-D467-48A9-AA91-0D89B7C8BA8C}"/>
              </a:ext>
            </a:extLst>
          </p:cNvPr>
          <p:cNvSpPr>
            <a:spLocks xmlns:a="http://schemas.openxmlformats.org/drawingml/2006/main" noGrp="1"/>
          </p:cNvSpPr>
          <p:nvPr/>
        </p:nvSpPr>
        <p:spPr>
          <a:xfrm xmlns:a="http://schemas.openxmlformats.org/drawingml/2006/main">
            <a:off x="354330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35FEC79-7651-4430-AB5D-142939F5E54E}"/>
              </a:ext>
            </a:extLst>
          </p:cNvPr>
          <p:cNvSpPr>
            <a:spLocks xmlns:a="http://schemas.openxmlformats.org/drawingml/2006/main" noGrp="1"/>
          </p:cNvSpPr>
          <p:nvPr/>
        </p:nvSpPr>
        <p:spPr>
          <a:xfrm xmlns:a="http://schemas.openxmlformats.org/drawingml/2006/main">
            <a:off x="354330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6</a:t>
            </a:r>
          </a:p>
        </p:txBody>
      </p:sp>
      <p:sp>
        <p:nvSpPr>
          <p:cNvPr id="43" name="">
            <a:extLst xmlns:a="http://schemas.openxmlformats.org/drawingml/2006/main">
              <a:ext uri="{FF2B5EF4-FFF2-40B4-BE49-F238E27FC236}">
                <a16:creationId xmlns:a16="http://schemas.microsoft.com/office/drawing/2014/main" id="{CF3C8C48-D0B6-4F08-84CB-8C8CEAED5F02}"/>
              </a:ext>
            </a:extLst>
          </p:cNvPr>
          <p:cNvSpPr>
            <a:spLocks xmlns:a="http://schemas.openxmlformats.org/drawingml/2006/main" noGrp="1"/>
          </p:cNvSpPr>
          <p:nvPr/>
        </p:nvSpPr>
        <p:spPr>
          <a:xfrm xmlns:a="http://schemas.openxmlformats.org/drawingml/2006/main">
            <a:off x="392430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Biến đổi</a:t>
            </a:r>
          </a:p>
        </p:txBody>
      </p:sp>
      <p:sp>
        <p:nvSpPr>
          <p:cNvPr id="44" name="">
            <a:extLst xmlns:a="http://schemas.openxmlformats.org/drawingml/2006/main">
              <a:ext uri="{FF2B5EF4-FFF2-40B4-BE49-F238E27FC236}">
                <a16:creationId xmlns:a16="http://schemas.microsoft.com/office/drawing/2014/main" id="{90565E7D-1E96-49CB-84D7-05B543E44FEF}"/>
              </a:ext>
            </a:extLst>
          </p:cNvPr>
          <p:cNvSpPr>
            <a:spLocks xmlns:a="http://schemas.openxmlformats.org/drawingml/2006/main" noGrp="1"/>
          </p:cNvSpPr>
          <p:nvPr/>
        </p:nvSpPr>
        <p:spPr>
          <a:xfrm xmlns:a="http://schemas.openxmlformats.org/drawingml/2006/main">
            <a:off x="356235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log1p(price)</a:t>
            </a:r>
          </a:p>
        </p:txBody>
      </p:sp>
      <p:sp>
        <p:nvSpPr>
          <p:cNvPr id="45" name="">
            <a:extLst xmlns:a="http://schemas.openxmlformats.org/drawingml/2006/main">
              <a:ext uri="{FF2B5EF4-FFF2-40B4-BE49-F238E27FC236}">
                <a16:creationId xmlns:a16="http://schemas.microsoft.com/office/drawing/2014/main" id="{A203F1AE-62B3-444D-887B-142FC98416AE}"/>
              </a:ext>
            </a:extLst>
          </p:cNvPr>
          <p:cNvSpPr>
            <a:spLocks xmlns:a="http://schemas.openxmlformats.org/drawingml/2006/main" noGrp="1"/>
          </p:cNvSpPr>
          <p:nvPr/>
        </p:nvSpPr>
        <p:spPr>
          <a:xfrm xmlns:a="http://schemas.openxmlformats.org/drawingml/2006/main">
            <a:off x="613410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46" name="">
            <a:extLst xmlns:a="http://schemas.openxmlformats.org/drawingml/2006/main">
              <a:ext uri="{FF2B5EF4-FFF2-40B4-BE49-F238E27FC236}">
                <a16:creationId xmlns:a16="http://schemas.microsoft.com/office/drawing/2014/main" id="{50683B6A-EE02-4555-886A-7BCB32B40BAB}"/>
              </a:ext>
            </a:extLst>
          </p:cNvPr>
          <p:cNvSpPr>
            <a:spLocks xmlns:a="http://schemas.openxmlformats.org/drawingml/2006/main" noGrp="1"/>
          </p:cNvSpPr>
          <p:nvPr/>
        </p:nvSpPr>
        <p:spPr>
          <a:xfrm xmlns:a="http://schemas.openxmlformats.org/drawingml/2006/main">
            <a:off x="626745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0EAEFAF-B1D9-462A-9EB2-BB0288056899}"/>
              </a:ext>
            </a:extLst>
          </p:cNvPr>
          <p:cNvSpPr>
            <a:spLocks xmlns:a="http://schemas.openxmlformats.org/drawingml/2006/main" noGrp="1"/>
          </p:cNvSpPr>
          <p:nvPr/>
        </p:nvSpPr>
        <p:spPr>
          <a:xfrm xmlns:a="http://schemas.openxmlformats.org/drawingml/2006/main">
            <a:off x="626745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7</a:t>
            </a:r>
          </a:p>
        </p:txBody>
      </p:sp>
      <p:sp>
        <p:nvSpPr>
          <p:cNvPr id="48" name="">
            <a:extLst xmlns:a="http://schemas.openxmlformats.org/drawingml/2006/main">
              <a:ext uri="{FF2B5EF4-FFF2-40B4-BE49-F238E27FC236}">
                <a16:creationId xmlns:a16="http://schemas.microsoft.com/office/drawing/2014/main" id="{0CEADF6B-39F2-4586-9DC4-92A08CEDE4B5}"/>
              </a:ext>
            </a:extLst>
          </p:cNvPr>
          <p:cNvSpPr>
            <a:spLocks xmlns:a="http://schemas.openxmlformats.org/drawingml/2006/main" noGrp="1"/>
          </p:cNvSpPr>
          <p:nvPr/>
        </p:nvSpPr>
        <p:spPr>
          <a:xfrm xmlns:a="http://schemas.openxmlformats.org/drawingml/2006/main">
            <a:off x="664845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Scaling</a:t>
            </a:r>
          </a:p>
        </p:txBody>
      </p:sp>
      <p:sp>
        <p:nvSpPr>
          <p:cNvPr id="49" name="">
            <a:extLst xmlns:a="http://schemas.openxmlformats.org/drawingml/2006/main">
              <a:ext uri="{FF2B5EF4-FFF2-40B4-BE49-F238E27FC236}">
                <a16:creationId xmlns:a16="http://schemas.microsoft.com/office/drawing/2014/main" id="{1B098087-6D9C-458E-9134-425773D41BF3}"/>
              </a:ext>
            </a:extLst>
          </p:cNvPr>
          <p:cNvSpPr>
            <a:spLocks xmlns:a="http://schemas.openxmlformats.org/drawingml/2006/main" noGrp="1"/>
          </p:cNvSpPr>
          <p:nvPr/>
        </p:nvSpPr>
        <p:spPr>
          <a:xfrm xmlns:a="http://schemas.openxmlformats.org/drawingml/2006/main">
            <a:off x="628650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fit trên train</a:t>
            </a:r>
          </a:p>
        </p:txBody>
      </p:sp>
      <p:sp>
        <p:nvSpPr>
          <p:cNvPr id="50" name="">
            <a:extLst xmlns:a="http://schemas.openxmlformats.org/drawingml/2006/main">
              <a:ext uri="{FF2B5EF4-FFF2-40B4-BE49-F238E27FC236}">
                <a16:creationId xmlns:a16="http://schemas.microsoft.com/office/drawing/2014/main" id="{1C4047B0-F550-4539-A521-AB20B3B730BF}"/>
              </a:ext>
            </a:extLst>
          </p:cNvPr>
          <p:cNvSpPr>
            <a:spLocks xmlns:a="http://schemas.openxmlformats.org/drawingml/2006/main" noGrp="1"/>
          </p:cNvSpPr>
          <p:nvPr/>
        </p:nvSpPr>
        <p:spPr>
          <a:xfrm xmlns:a="http://schemas.openxmlformats.org/drawingml/2006/main">
            <a:off x="8858250" y="3762375"/>
            <a:ext cx="2381250" cy="952500"/>
          </a:xfrm>
          <a:prstGeom xmlns:a="http://schemas.openxmlformats.org/drawingml/2006/main" prst="roundRect">
            <a:avLst>
              <a:gd name="adj" fmla="val 12000"/>
            </a:avLst>
          </a:prstGeom>
          <a:solidFill xmlns:a="http://schemas.openxmlformats.org/drawingml/2006/main">
            <a:srgbClr val="DCEAF2"/>
          </a:solidFill>
          <a:ln xmlns:a="http://schemas.openxmlformats.org/drawingml/2006/main" w="9525">
            <a:solidFill>
              <a:srgbClr val="D9DEE5"/>
            </a:solidFill>
            <a:prstDash val="solid"/>
          </a:ln>
        </p:spPr>
      </p:sp>
      <p:sp>
        <p:nvSpPr>
          <p:cNvPr id="51" name="">
            <a:extLst xmlns:a="http://schemas.openxmlformats.org/drawingml/2006/main">
              <a:ext uri="{FF2B5EF4-FFF2-40B4-BE49-F238E27FC236}">
                <a16:creationId xmlns:a16="http://schemas.microsoft.com/office/drawing/2014/main" id="{4B3E81BD-4D00-4976-96DB-C246D58B4908}"/>
              </a:ext>
            </a:extLst>
          </p:cNvPr>
          <p:cNvSpPr>
            <a:spLocks xmlns:a="http://schemas.openxmlformats.org/drawingml/2006/main" noGrp="1"/>
          </p:cNvSpPr>
          <p:nvPr/>
        </p:nvSpPr>
        <p:spPr>
          <a:xfrm xmlns:a="http://schemas.openxmlformats.org/drawingml/2006/main">
            <a:off x="8991600" y="3895725"/>
            <a:ext cx="266700" cy="266700"/>
          </a:xfrm>
          <a:prstGeom xmlns:a="http://schemas.openxmlformats.org/drawingml/2006/main" prst="ellipse">
            <a:avLst/>
          </a:prstGeom>
          <a:solidFill xmlns:a="http://schemas.openxmlformats.org/drawingml/2006/main">
            <a:srgbClr val="C58B2A"/>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45E01EEA-234A-4913-95C2-1D400E8DBCA8}"/>
              </a:ext>
            </a:extLst>
          </p:cNvPr>
          <p:cNvSpPr>
            <a:spLocks xmlns:a="http://schemas.openxmlformats.org/drawingml/2006/main" noGrp="1"/>
          </p:cNvSpPr>
          <p:nvPr/>
        </p:nvSpPr>
        <p:spPr>
          <a:xfrm xmlns:a="http://schemas.openxmlformats.org/drawingml/2006/main">
            <a:off x="8991600" y="3943350"/>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8</a:t>
            </a:r>
          </a:p>
        </p:txBody>
      </p:sp>
      <p:sp>
        <p:nvSpPr>
          <p:cNvPr id="53" name="">
            <a:extLst xmlns:a="http://schemas.openxmlformats.org/drawingml/2006/main">
              <a:ext uri="{FF2B5EF4-FFF2-40B4-BE49-F238E27FC236}">
                <a16:creationId xmlns:a16="http://schemas.microsoft.com/office/drawing/2014/main" id="{6FBDD030-3750-4912-A2C1-581A074AAE25}"/>
              </a:ext>
            </a:extLst>
          </p:cNvPr>
          <p:cNvSpPr>
            <a:spLocks xmlns:a="http://schemas.openxmlformats.org/drawingml/2006/main" noGrp="1"/>
          </p:cNvSpPr>
          <p:nvPr/>
        </p:nvSpPr>
        <p:spPr>
          <a:xfrm xmlns:a="http://schemas.openxmlformats.org/drawingml/2006/main">
            <a:off x="9372600" y="3886200"/>
            <a:ext cx="1752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Windowing</a:t>
            </a:r>
          </a:p>
        </p:txBody>
      </p:sp>
      <p:sp>
        <p:nvSpPr>
          <p:cNvPr id="54" name="">
            <a:extLst xmlns:a="http://schemas.openxmlformats.org/drawingml/2006/main">
              <a:ext uri="{FF2B5EF4-FFF2-40B4-BE49-F238E27FC236}">
                <a16:creationId xmlns:a16="http://schemas.microsoft.com/office/drawing/2014/main" id="{6A17F002-FCDC-440C-B533-6DC358F5831C}"/>
              </a:ext>
            </a:extLst>
          </p:cNvPr>
          <p:cNvSpPr>
            <a:spLocks xmlns:a="http://schemas.openxmlformats.org/drawingml/2006/main" noGrp="1"/>
          </p:cNvSpPr>
          <p:nvPr/>
        </p:nvSpPr>
        <p:spPr>
          <a:xfrm xmlns:a="http://schemas.openxmlformats.org/drawingml/2006/main">
            <a:off x="9010650" y="4238625"/>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C6B73"/>
                </a:solidFill>
                <a:latin typeface="Arial"/>
                <a:ea typeface="Arial"/>
                <a:cs typeface="Arial"/>
              </a:defRPr>
            </a:pPr>
            <a:r>
              <a:rPr sz="1050" b="0" i="0">
                <a:solidFill>
                  <a:srgbClr val="5C6B73"/>
                </a:solidFill>
                <a:latin typeface="Arial"/>
                <a:ea typeface="Arial"/>
                <a:cs typeface="Arial"/>
              </a:rPr>
              <a:t>30 → 1 bước</a:t>
            </a:r>
          </a:p>
        </p:txBody>
      </p:sp>
      <p:sp>
        <p:nvSpPr>
          <p:cNvPr id="55" name="">
            <a:extLst xmlns:a="http://schemas.openxmlformats.org/drawingml/2006/main">
              <a:ext uri="{FF2B5EF4-FFF2-40B4-BE49-F238E27FC236}">
                <a16:creationId xmlns:a16="http://schemas.microsoft.com/office/drawing/2014/main" id="{51D843B4-80B4-4FB0-98FF-E1A7D7CF914C}"/>
              </a:ext>
            </a:extLst>
          </p:cNvPr>
          <p:cNvSpPr>
            <a:spLocks xmlns:a="http://schemas.openxmlformats.org/drawingml/2006/main" noGrp="1"/>
          </p:cNvSpPr>
          <p:nvPr/>
        </p:nvSpPr>
        <p:spPr>
          <a:xfrm xmlns:a="http://schemas.openxmlformats.org/drawingml/2006/main">
            <a:off x="685800" y="5143500"/>
            <a:ext cx="10820400" cy="876300"/>
          </a:xfrm>
          <a:prstGeom xmlns:a="http://schemas.openxmlformats.org/drawingml/2006/main" prst="roundRect">
            <a:avLst>
              <a:gd name="adj" fmla="val 13043"/>
            </a:avLst>
          </a:prstGeom>
          <a:solidFill xmlns:a="http://schemas.openxmlformats.org/drawingml/2006/main">
            <a:srgbClr val="F5E2DE"/>
          </a:solidFill>
          <a:ln xmlns:a="http://schemas.openxmlformats.org/drawingml/2006/main" w="9525">
            <a:solidFill>
              <a:srgbClr val="B65345"/>
            </a:solidFill>
            <a:prstDash val="solid"/>
          </a:ln>
        </p:spPr>
      </p:sp>
      <p:sp>
        <p:nvSpPr>
          <p:cNvPr id="56" name="">
            <a:extLst xmlns:a="http://schemas.openxmlformats.org/drawingml/2006/main">
              <a:ext uri="{FF2B5EF4-FFF2-40B4-BE49-F238E27FC236}">
                <a16:creationId xmlns:a16="http://schemas.microsoft.com/office/drawing/2014/main" id="{4F313398-7D9A-46BF-B021-733420C68783}"/>
              </a:ext>
            </a:extLst>
          </p:cNvPr>
          <p:cNvSpPr>
            <a:spLocks xmlns:a="http://schemas.openxmlformats.org/drawingml/2006/main" noGrp="1"/>
          </p:cNvSpPr>
          <p:nvPr/>
        </p:nvSpPr>
        <p:spPr>
          <a:xfrm xmlns:a="http://schemas.openxmlformats.org/drawingml/2006/main">
            <a:off x="971550" y="5314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B65345"/>
                </a:solidFill>
                <a:latin typeface="Arial"/>
                <a:ea typeface="Arial"/>
                <a:cs typeface="Arial"/>
              </a:defRPr>
            </a:pPr>
            <a:r>
              <a:rPr sz="1275" b="1" i="0">
                <a:solidFill>
                  <a:srgbClr val="B65345"/>
                </a:solidFill>
                <a:latin typeface="Arial"/>
                <a:ea typeface="Arial"/>
                <a:cs typeface="Arial"/>
              </a:rPr>
              <a:t>Min-Max scaling</a:t>
            </a:r>
          </a:p>
        </p:txBody>
      </p:sp>
      <p:sp>
        <p:nvSpPr>
          <p:cNvPr id="57" name="">
            <a:extLst xmlns:a="http://schemas.openxmlformats.org/drawingml/2006/main">
              <a:ext uri="{FF2B5EF4-FFF2-40B4-BE49-F238E27FC236}">
                <a16:creationId xmlns:a16="http://schemas.microsoft.com/office/drawing/2014/main" id="{7AA90F4B-46D0-49CE-B175-56BE8262AC4E}"/>
              </a:ext>
            </a:extLst>
          </p:cNvPr>
          <p:cNvSpPr>
            <a:spLocks xmlns:a="http://schemas.openxmlformats.org/drawingml/2006/main" noGrp="1"/>
          </p:cNvSpPr>
          <p:nvPr/>
        </p:nvSpPr>
        <p:spPr>
          <a:xfrm xmlns:a="http://schemas.openxmlformats.org/drawingml/2006/main">
            <a:off x="2857500" y="52959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latin typeface="Arial"/>
                <a:ea typeface="Arial"/>
                <a:cs typeface="Arial"/>
              </a:defRPr>
            </a:pPr>
            <a:r>
              <a:rPr sz="1650" b="1" i="0">
                <a:solidFill>
                  <a:srgbClr val="102A43"/>
                </a:solidFill>
                <a:latin typeface="Arial"/>
                <a:ea typeface="Arial"/>
                <a:cs typeface="Arial"/>
              </a:rPr>
              <a:t>x_scaled = (x − min_train) / (max_train − min_train)</a:t>
            </a:r>
          </a:p>
        </p:txBody>
      </p:sp>
      <p:sp>
        <p:nvSpPr>
          <p:cNvPr id="58" name="">
            <a:extLst xmlns:a="http://schemas.openxmlformats.org/drawingml/2006/main">
              <a:ext uri="{FF2B5EF4-FFF2-40B4-BE49-F238E27FC236}">
                <a16:creationId xmlns:a16="http://schemas.microsoft.com/office/drawing/2014/main" id="{D96EA6AE-CC8A-4DCE-8FAB-8E884BDBF0D2}"/>
              </a:ext>
            </a:extLst>
          </p:cNvPr>
          <p:cNvSpPr>
            <a:spLocks xmlns:a="http://schemas.openxmlformats.org/drawingml/2006/main" noGrp="1"/>
          </p:cNvSpPr>
          <p:nvPr/>
        </p:nvSpPr>
        <p:spPr>
          <a:xfrm xmlns:a="http://schemas.openxmlformats.org/drawingml/2006/main">
            <a:off x="2857500" y="5648325"/>
            <a:ext cx="752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B65345"/>
                </a:solidFill>
                <a:latin typeface="Arial"/>
                <a:ea typeface="Arial"/>
                <a:cs typeface="Arial"/>
              </a:defRPr>
            </a:pPr>
            <a:r>
              <a:rPr sz="1200" b="0" i="0">
                <a:solidFill>
                  <a:srgbClr val="B65345"/>
                </a:solidFill>
                <a:latin typeface="Arial"/>
                <a:ea typeface="Arial"/>
                <a:cs typeface="Arial"/>
              </a:rPr>
              <a:t>Scaler chỉ học từ train; fit trên toàn bộ dữ liệu sẽ gây data leakage.</a:t>
            </a:r>
          </a:p>
        </p:txBody>
      </p:sp>
    </p:spTree>
    <p:extLst>
      <p:ext uri="{BB962C8B-B14F-4D97-AF65-F5344CB8AC3E}">
        <p14:creationId xmlns:p14="http://schemas.microsoft.com/office/powerpoint/2010/main" val="136646316"/>
      </p:ext>
    </p:extLst>
  </p:cSld>
</p:sld>
</file>

<file path=ppt/slides/slide5.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5815B58-1DEE-422E-9F37-53ACBD3A8BF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97328A-78E6-4E0B-8451-626AEEBBE510}"/>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A9A5887-EC48-4DA6-8599-F9D179027AF0}"/>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Code minh họa: tokenizer và embedding</a:t>
            </a:r>
          </a:p>
        </p:txBody>
      </p:sp>
      <p:sp>
        <p:nvSpPr>
          <p:cNvPr id="4" name="">
            <a:extLst xmlns:a="http://schemas.openxmlformats.org/drawingml/2006/main">
              <a:ext uri="{FF2B5EF4-FFF2-40B4-BE49-F238E27FC236}">
                <a16:creationId xmlns:a16="http://schemas.microsoft.com/office/drawing/2014/main" id="{CE9E7066-9878-4FEC-9228-A850D0F41FE0}"/>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Snippet ngắn trên slide; code đầy đủ nằm trong notebook.</a:t>
            </a:r>
          </a:p>
        </p:txBody>
      </p:sp>
      <p:sp>
        <p:nvSpPr>
          <p:cNvPr id="5" name="">
            <a:extLst xmlns:a="http://schemas.openxmlformats.org/drawingml/2006/main">
              <a:ext uri="{FF2B5EF4-FFF2-40B4-BE49-F238E27FC236}">
                <a16:creationId xmlns:a16="http://schemas.microsoft.com/office/drawing/2014/main" id="{02F87B07-9227-4FD0-A454-89BC94D81E6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934259B7-305F-46EF-8F04-AB6FFE3F4742}"/>
              </a:ext>
            </a:extLst>
          </p:cNvPr>
          <p:cNvSpPr>
            <a:spLocks xmlns:a="http://schemas.openxmlformats.org/drawingml/2006/main" noGrp="1"/>
          </p:cNvSpPr>
          <p:nvPr/>
        </p:nvSpPr>
        <p:spPr>
          <a:xfrm xmlns:a="http://schemas.openxmlformats.org/drawingml/2006/main">
            <a:off x="685800" y="1666875"/>
            <a:ext cx="6191250" cy="4000500"/>
          </a:xfrm>
          <a:prstGeom xmlns:a="http://schemas.openxmlformats.org/drawingml/2006/main" prst="roundRect">
            <a:avLst>
              <a:gd name="adj" fmla="val 2857"/>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928DCB69-63A6-4E15-917D-2860E2616641}"/>
              </a:ext>
            </a:extLst>
          </p:cNvPr>
          <p:cNvSpPr>
            <a:spLocks xmlns:a="http://schemas.openxmlformats.org/drawingml/2006/main" noGrp="1"/>
          </p:cNvSpPr>
          <p:nvPr/>
        </p:nvSpPr>
        <p:spPr>
          <a:xfrm xmlns:a="http://schemas.openxmlformats.org/drawingml/2006/main">
            <a:off x="857250" y="1819275"/>
            <a:ext cx="5848350" cy="3733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tokens = text.lower().split()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vocab = {'&lt;PAD&gt;': 0, '&lt;UNK&gt;': 1}</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encoded =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vocab.get(token, vocab['&lt;UNK&gt;'])</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for token in tokens</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padded = encoded[:max_len] + [0] *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max_len - len(encoded)</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a:p xmlns:a="http://schemas.openxmlformats.org/drawingml/2006/main">
            <a:r>
              <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embedding = nn.Embedding(</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len(vocab), embedding_dim=8,</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    padding_idx=0</a:t>
            </a:r>
          </a:p>
          <a:p xmlns:a="http://schemas.openxmlformats.org/drawingml/2006/main">
            <a:pPr algn="l">
              <a:defRPr sz="1275" b="0" i="0">
                <a:solidFill>
                  <a:srgbClr val="F7F4EC"/>
                </a:solidFill>
                <a:latin typeface="Arial"/>
                <a:ea typeface="Arial"/>
                <a:cs typeface="Arial"/>
              </a:defRPr>
            </a:pPr>
            <a:r>
              <a:rPr sz="1275" b="0" i="0">
                <a:solidFill>
                  <a:srgbClr val="F7F4EC"/>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C82AEFC4-6F97-41DA-B8FB-B94E4CC1F8D3}"/>
              </a:ext>
            </a:extLst>
          </p:cNvPr>
          <p:cNvSpPr>
            <a:spLocks xmlns:a="http://schemas.openxmlformats.org/drawingml/2006/main" noGrp="1"/>
          </p:cNvSpPr>
          <p:nvPr/>
        </p:nvSpPr>
        <p:spPr>
          <a:xfrm xmlns:a="http://schemas.openxmlformats.org/drawingml/2006/main">
            <a:off x="7334250" y="1666875"/>
            <a:ext cx="4171950" cy="400050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30634F93-941E-4C9B-9504-7DB0E608C434}"/>
              </a:ext>
            </a:extLst>
          </p:cNvPr>
          <p:cNvSpPr>
            <a:spLocks xmlns:a="http://schemas.openxmlformats.org/drawingml/2006/main" noGrp="1"/>
          </p:cNvSpPr>
          <p:nvPr/>
        </p:nvSpPr>
        <p:spPr>
          <a:xfrm xmlns:a="http://schemas.openxmlformats.org/drawingml/2006/main">
            <a:off x="7715250" y="20002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02A43"/>
                </a:solidFill>
                <a:latin typeface="Arial"/>
                <a:ea typeface="Arial"/>
                <a:cs typeface="Arial"/>
              </a:defRPr>
            </a:pPr>
            <a:r>
              <a:rPr sz="1875" b="1" i="0">
                <a:solidFill>
                  <a:srgbClr val="102A43"/>
                </a:solidFill>
                <a:latin typeface="Arial"/>
                <a:ea typeface="Arial"/>
                <a:cs typeface="Arial"/>
              </a:rPr>
              <a:t>Kết quả shape</a:t>
            </a:r>
          </a:p>
        </p:txBody>
      </p:sp>
      <p:sp>
        <p:nvSpPr>
          <p:cNvPr id="10" name="">
            <a:extLst xmlns:a="http://schemas.openxmlformats.org/drawingml/2006/main">
              <a:ext uri="{FF2B5EF4-FFF2-40B4-BE49-F238E27FC236}">
                <a16:creationId xmlns:a16="http://schemas.microsoft.com/office/drawing/2014/main" id="{160EB14E-D60C-4E3B-9269-3CABE702FE6E}"/>
              </a:ext>
            </a:extLst>
          </p:cNvPr>
          <p:cNvSpPr>
            <a:spLocks xmlns:a="http://schemas.openxmlformats.org/drawingml/2006/main" noGrp="1"/>
          </p:cNvSpPr>
          <p:nvPr/>
        </p:nvSpPr>
        <p:spPr>
          <a:xfrm xmlns:a="http://schemas.openxmlformats.org/drawingml/2006/main">
            <a:off x="7715250" y="2762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2D6A8F"/>
                </a:solidFill>
                <a:latin typeface="Arial"/>
                <a:ea typeface="Arial"/>
                <a:cs typeface="Arial"/>
              </a:defRPr>
            </a:pPr>
            <a:r>
              <a:rPr sz="1425" b="1" i="0">
                <a:solidFill>
                  <a:srgbClr val="2D6A8F"/>
                </a:solidFill>
                <a:latin typeface="Arial"/>
                <a:ea typeface="Arial"/>
                <a:cs typeface="Arial"/>
              </a:rPr>
              <a:t>token_ids</a:t>
            </a:r>
          </a:p>
        </p:txBody>
      </p:sp>
      <p:sp>
        <p:nvSpPr>
          <p:cNvPr id="11" name="">
            <a:extLst xmlns:a="http://schemas.openxmlformats.org/drawingml/2006/main">
              <a:ext uri="{FF2B5EF4-FFF2-40B4-BE49-F238E27FC236}">
                <a16:creationId xmlns:a16="http://schemas.microsoft.com/office/drawing/2014/main" id="{0CAF9709-C3B4-4392-B02C-37C3EC473C43}"/>
              </a:ext>
            </a:extLst>
          </p:cNvPr>
          <p:cNvSpPr>
            <a:spLocks xmlns:a="http://schemas.openxmlformats.org/drawingml/2006/main" noGrp="1"/>
          </p:cNvSpPr>
          <p:nvPr/>
        </p:nvSpPr>
        <p:spPr>
          <a:xfrm xmlns:a="http://schemas.openxmlformats.org/drawingml/2006/main">
            <a:off x="9525000" y="27336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2100" b="1" i="0">
                <a:solidFill>
                  <a:srgbClr val="102A43"/>
                </a:solidFill>
                <a:latin typeface="Arial"/>
                <a:ea typeface="Arial"/>
                <a:cs typeface="Arial"/>
              </a:defRPr>
            </a:pPr>
            <a:r>
              <a:rPr sz="2100" b="1" i="0">
                <a:solidFill>
                  <a:srgbClr val="102A43"/>
                </a:solidFill>
                <a:latin typeface="Arial"/>
                <a:ea typeface="Arial"/>
                <a:cs typeface="Arial"/>
              </a:rPr>
              <a:t>(4, 6)</a:t>
            </a:r>
          </a:p>
        </p:txBody>
      </p:sp>
      <p:sp>
        <p:nvSpPr>
          <p:cNvPr id="12" name="">
            <a:extLst xmlns:a="http://schemas.openxmlformats.org/drawingml/2006/main">
              <a:ext uri="{FF2B5EF4-FFF2-40B4-BE49-F238E27FC236}">
                <a16:creationId xmlns:a16="http://schemas.microsoft.com/office/drawing/2014/main" id="{1D745FE5-7822-4EC2-BCF9-51FC40654AA6}"/>
              </a:ext>
            </a:extLst>
          </p:cNvPr>
          <p:cNvSpPr>
            <a:spLocks xmlns:a="http://schemas.openxmlformats.org/drawingml/2006/main" noGrp="1"/>
          </p:cNvSpPr>
          <p:nvPr/>
        </p:nvSpPr>
        <p:spPr>
          <a:xfrm xmlns:a="http://schemas.openxmlformats.org/drawingml/2006/main">
            <a:off x="7715250" y="3238500"/>
            <a:ext cx="31432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8F4D889-873A-4B70-A22F-FED0EF0AAC40}"/>
              </a:ext>
            </a:extLst>
          </p:cNvPr>
          <p:cNvSpPr>
            <a:spLocks xmlns:a="http://schemas.openxmlformats.org/drawingml/2006/main" noGrp="1"/>
          </p:cNvSpPr>
          <p:nvPr/>
        </p:nvSpPr>
        <p:spPr>
          <a:xfrm xmlns:a="http://schemas.openxmlformats.org/drawingml/2006/main">
            <a:off x="7715250" y="357187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C58B2A"/>
                </a:solidFill>
                <a:latin typeface="Arial"/>
                <a:ea typeface="Arial"/>
                <a:cs typeface="Arial"/>
              </a:defRPr>
            </a:pPr>
            <a:r>
              <a:rPr sz="1425" b="1" i="0">
                <a:solidFill>
                  <a:srgbClr val="C58B2A"/>
                </a:solidFill>
                <a:latin typeface="Arial"/>
                <a:ea typeface="Arial"/>
                <a:cs typeface="Arial"/>
              </a:rPr>
              <a:t>embedding</a:t>
            </a:r>
          </a:p>
        </p:txBody>
      </p:sp>
      <p:sp>
        <p:nvSpPr>
          <p:cNvPr id="14" name="">
            <a:extLst xmlns:a="http://schemas.openxmlformats.org/drawingml/2006/main">
              <a:ext uri="{FF2B5EF4-FFF2-40B4-BE49-F238E27FC236}">
                <a16:creationId xmlns:a16="http://schemas.microsoft.com/office/drawing/2014/main" id="{AAC51700-8DA2-4A2D-BC67-E71048DC81F9}"/>
              </a:ext>
            </a:extLst>
          </p:cNvPr>
          <p:cNvSpPr>
            <a:spLocks xmlns:a="http://schemas.openxmlformats.org/drawingml/2006/main" noGrp="1"/>
          </p:cNvSpPr>
          <p:nvPr/>
        </p:nvSpPr>
        <p:spPr>
          <a:xfrm xmlns:a="http://schemas.openxmlformats.org/drawingml/2006/main">
            <a:off x="9334500" y="35433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2100" b="1" i="0">
                <a:solidFill>
                  <a:srgbClr val="102A43"/>
                </a:solidFill>
                <a:latin typeface="Arial"/>
                <a:ea typeface="Arial"/>
                <a:cs typeface="Arial"/>
              </a:defRPr>
            </a:pPr>
            <a:r>
              <a:rPr sz="2100" b="1" i="0">
                <a:solidFill>
                  <a:srgbClr val="102A43"/>
                </a:solidFill>
                <a:latin typeface="Arial"/>
                <a:ea typeface="Arial"/>
                <a:cs typeface="Arial"/>
              </a:rPr>
              <a:t>(4, 6, 8)</a:t>
            </a:r>
          </a:p>
        </p:txBody>
      </p:sp>
      <p:sp>
        <p:nvSpPr>
          <p:cNvPr id="15" name="">
            <a:extLst xmlns:a="http://schemas.openxmlformats.org/drawingml/2006/main">
              <a:ext uri="{FF2B5EF4-FFF2-40B4-BE49-F238E27FC236}">
                <a16:creationId xmlns:a16="http://schemas.microsoft.com/office/drawing/2014/main" id="{31B685CA-14D6-4B3B-AA86-CCDC010E1E56}"/>
              </a:ext>
            </a:extLst>
          </p:cNvPr>
          <p:cNvSpPr>
            <a:spLocks xmlns:a="http://schemas.openxmlformats.org/drawingml/2006/main" noGrp="1"/>
          </p:cNvSpPr>
          <p:nvPr/>
        </p:nvSpPr>
        <p:spPr>
          <a:xfrm xmlns:a="http://schemas.openxmlformats.org/drawingml/2006/main">
            <a:off x="7715250" y="4476750"/>
            <a:ext cx="3143250" cy="781050"/>
          </a:xfrm>
          <a:prstGeom xmlns:a="http://schemas.openxmlformats.org/drawingml/2006/main" prst="roundRect">
            <a:avLst>
              <a:gd name="adj" fmla="val 14634"/>
            </a:avLst>
          </a:prstGeom>
          <a:solidFill xmlns:a="http://schemas.openxmlformats.org/drawingml/2006/main">
            <a:srgbClr val="F2E5C4"/>
          </a:solidFill>
          <a:ln xmlns:a="http://schemas.openxmlformats.org/drawingml/2006/main" w="9525">
            <a:solidFill>
              <a:srgbClr val="C58B2A"/>
            </a:solidFill>
            <a:prstDash val="solid"/>
          </a:ln>
        </p:spPr>
      </p:sp>
      <p:sp>
        <p:nvSpPr>
          <p:cNvPr id="16" name="">
            <a:extLst xmlns:a="http://schemas.openxmlformats.org/drawingml/2006/main">
              <a:ext uri="{FF2B5EF4-FFF2-40B4-BE49-F238E27FC236}">
                <a16:creationId xmlns:a16="http://schemas.microsoft.com/office/drawing/2014/main" id="{40B60207-09AC-421D-93D4-3A8559D8F20F}"/>
              </a:ext>
            </a:extLst>
          </p:cNvPr>
          <p:cNvSpPr>
            <a:spLocks xmlns:a="http://schemas.openxmlformats.org/drawingml/2006/main" noGrp="1"/>
          </p:cNvSpPr>
          <p:nvPr/>
        </p:nvSpPr>
        <p:spPr>
          <a:xfrm xmlns:a="http://schemas.openxmlformats.org/drawingml/2006/main">
            <a:off x="7905750" y="46863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02A43"/>
                </a:solidFill>
                <a:latin typeface="Arial"/>
                <a:ea typeface="Arial"/>
                <a:cs typeface="Arial"/>
              </a:defRPr>
            </a:pPr>
            <a:r>
              <a:rPr sz="1200" b="1" i="0">
                <a:solidFill>
                  <a:srgbClr val="102A43"/>
                </a:solidFill>
                <a:latin typeface="Arial"/>
                <a:ea typeface="Arial"/>
                <a:cs typeface="Arial"/>
              </a:rPr>
              <a:t>Trong NLP, input là ID rời rạc nên cần embedding.</a:t>
            </a:r>
          </a:p>
        </p:txBody>
      </p:sp>
    </p:spTree>
    <p:extLst>
      <p:ext uri="{BB962C8B-B14F-4D97-AF65-F5344CB8AC3E}">
        <p14:creationId xmlns:p14="http://schemas.microsoft.com/office/powerpoint/2010/main" val="148806845"/>
      </p:ext>
    </p:extLst>
  </p:cSld>
</p:sld>
</file>

<file path=ppt/slides/slide6.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28B74E-78C3-4775-9EE6-C9812262DB5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348705-5475-41EA-87DB-4DD61081FE84}"/>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A9CCCBC-78E4-4809-B347-79491F089F42}"/>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Code minh họa: chuỗi giá vàng</a:t>
            </a:r>
          </a:p>
        </p:txBody>
      </p:sp>
      <p:sp>
        <p:nvSpPr>
          <p:cNvPr id="4" name="">
            <a:extLst xmlns:a="http://schemas.openxmlformats.org/drawingml/2006/main">
              <a:ext uri="{FF2B5EF4-FFF2-40B4-BE49-F238E27FC236}">
                <a16:creationId xmlns:a16="http://schemas.microsoft.com/office/drawing/2014/main" id="{FCAA6E32-C3A7-4045-81AB-7296D321CBF5}"/>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Giá vàng không qua tokenizer; giá được làm sạch, biến đổi và cắt cửa sổ.</a:t>
            </a:r>
          </a:p>
        </p:txBody>
      </p:sp>
      <p:sp>
        <p:nvSpPr>
          <p:cNvPr id="5" name="">
            <a:extLst xmlns:a="http://schemas.openxmlformats.org/drawingml/2006/main">
              <a:ext uri="{FF2B5EF4-FFF2-40B4-BE49-F238E27FC236}">
                <a16:creationId xmlns:a16="http://schemas.microsoft.com/office/drawing/2014/main" id="{B1458876-9021-4315-9808-EC398D9B2FEB}"/>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DDAAA810-B24C-45C0-AAAE-4ABD4A90E7CD}"/>
              </a:ext>
            </a:extLst>
          </p:cNvPr>
          <p:cNvSpPr>
            <a:spLocks xmlns:a="http://schemas.openxmlformats.org/drawingml/2006/main" noGrp="1"/>
          </p:cNvSpPr>
          <p:nvPr/>
        </p:nvSpPr>
        <p:spPr>
          <a:xfrm xmlns:a="http://schemas.openxmlformats.org/drawingml/2006/main">
            <a:off x="685800" y="1638300"/>
            <a:ext cx="6572250" cy="4095750"/>
          </a:xfrm>
          <a:prstGeom xmlns:a="http://schemas.openxmlformats.org/drawingml/2006/main" prst="roundRect">
            <a:avLst>
              <a:gd name="adj" fmla="val 2791"/>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74C9DD24-D1C0-4A1E-BE93-6E4EE6858C9E}"/>
              </a:ext>
            </a:extLst>
          </p:cNvPr>
          <p:cNvSpPr>
            <a:spLocks xmlns:a="http://schemas.openxmlformats.org/drawingml/2006/main" noGrp="1"/>
          </p:cNvSpPr>
          <p:nvPr/>
        </p:nvSpPr>
        <p:spPr>
          <a:xfrm xmlns:a="http://schemas.openxmlformats.org/drawingml/2006/main">
            <a:off x="857250" y="1790700"/>
            <a:ext cx="6229350" cy="3829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df['date'] = pd.to_datetime(df['date'])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df['price'] = pd.to_numeric(df['price'])</a:t>
            </a:r>
          </a:p>
          <a:p xmlns:a="http://schemas.openxmlformats.org/drawingml/2006/main">
            <a:r>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df =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df.dropna(subset=['date', 'price'])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.drop_duplicates('date')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      .sort_values('date')</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a:t>
            </a:r>
          </a:p>
          <a:p xmlns:a="http://schemas.openxmlformats.org/drawingml/2006/main">
            <a:r>
              <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raw_prices = df['price'].to_numpy().reshape(-1, 1)</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values = np.log1p(raw_prices)</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scaler.fit(values[:train_end])</a:t>
            </a:r>
          </a:p>
          <a:p xmlns:a="http://schemas.openxmlformats.org/drawingml/2006/main">
            <a:pPr algn="l">
              <a:defRPr sz="1200" b="0" i="0">
                <a:solidFill>
                  <a:srgbClr val="F7F4EC"/>
                </a:solidFill>
                <a:latin typeface="Arial"/>
                <a:ea typeface="Arial"/>
                <a:cs typeface="Arial"/>
              </a:defRPr>
            </a:pPr>
            <a:r>
              <a:rPr sz="1200" b="0" i="0">
                <a:solidFill>
                  <a:srgbClr val="F7F4EC"/>
                </a:solidFill>
                <a:latin typeface="Arial"/>
                <a:ea typeface="Arial"/>
                <a:cs typeface="Arial"/>
              </a:rPr>
              <a:t>scaled_values = scaler.transform(values)</a:t>
            </a:r>
          </a:p>
        </p:txBody>
      </p:sp>
      <p:sp>
        <p:nvSpPr>
          <p:cNvPr id="8" name="">
            <a:extLst xmlns:a="http://schemas.openxmlformats.org/drawingml/2006/main">
              <a:ext uri="{FF2B5EF4-FFF2-40B4-BE49-F238E27FC236}">
                <a16:creationId xmlns:a16="http://schemas.microsoft.com/office/drawing/2014/main" id="{CA539879-F828-49E8-8E0E-ED0ADAA116AB}"/>
              </a:ext>
            </a:extLst>
          </p:cNvPr>
          <p:cNvSpPr>
            <a:spLocks xmlns:a="http://schemas.openxmlformats.org/drawingml/2006/main" noGrp="1"/>
          </p:cNvSpPr>
          <p:nvPr/>
        </p:nvSpPr>
        <p:spPr>
          <a:xfrm xmlns:a="http://schemas.openxmlformats.org/drawingml/2006/main">
            <a:off x="7715250" y="1638300"/>
            <a:ext cx="3790950" cy="4095750"/>
          </a:xfrm>
          <a:prstGeom xmlns:a="http://schemas.openxmlformats.org/drawingml/2006/main" prst="roundRect">
            <a:avLst>
              <a:gd name="adj" fmla="val 4020"/>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E156E320-DEBC-43EB-AB6A-22B529FCA04A}"/>
              </a:ext>
            </a:extLst>
          </p:cNvPr>
          <p:cNvSpPr>
            <a:spLocks xmlns:a="http://schemas.openxmlformats.org/drawingml/2006/main" noGrp="1"/>
          </p:cNvSpPr>
          <p:nvPr/>
        </p:nvSpPr>
        <p:spPr>
          <a:xfrm xmlns:a="http://schemas.openxmlformats.org/drawingml/2006/main">
            <a:off x="8020050" y="2000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102A43"/>
                </a:solidFill>
                <a:latin typeface="Arial"/>
                <a:ea typeface="Arial"/>
                <a:cs typeface="Arial"/>
              </a:defRPr>
            </a:pPr>
            <a:r>
              <a:rPr sz="1800" b="1" i="0">
                <a:solidFill>
                  <a:srgbClr val="102A43"/>
                </a:solidFill>
                <a:latin typeface="Arial"/>
                <a:ea typeface="Arial"/>
                <a:cs typeface="Arial"/>
              </a:rPr>
              <a:t>Tensor đưa vào RNN</a:t>
            </a:r>
          </a:p>
        </p:txBody>
      </p:sp>
      <p:sp>
        <p:nvSpPr>
          <p:cNvPr id="10" name="">
            <a:extLst xmlns:a="http://schemas.openxmlformats.org/drawingml/2006/main">
              <a:ext uri="{FF2B5EF4-FFF2-40B4-BE49-F238E27FC236}">
                <a16:creationId xmlns:a16="http://schemas.microsoft.com/office/drawing/2014/main" id="{B3557680-9C37-471B-813F-44BD7CBD264E}"/>
              </a:ext>
            </a:extLst>
          </p:cNvPr>
          <p:cNvSpPr>
            <a:spLocks xmlns:a="http://schemas.openxmlformats.org/drawingml/2006/main" noGrp="1"/>
          </p:cNvSpPr>
          <p:nvPr/>
        </p:nvSpPr>
        <p:spPr>
          <a:xfrm xmlns:a="http://schemas.openxmlformats.org/drawingml/2006/main">
            <a:off x="8020050" y="2714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2D6A8F"/>
                </a:solidFill>
                <a:latin typeface="Arial"/>
                <a:ea typeface="Arial"/>
                <a:cs typeface="Arial"/>
              </a:defRPr>
            </a:pPr>
            <a:r>
              <a:rPr sz="1650" b="1" i="0">
                <a:solidFill>
                  <a:srgbClr val="2D6A8F"/>
                </a:solidFill>
                <a:latin typeface="Arial"/>
                <a:ea typeface="Arial"/>
                <a:cs typeface="Arial"/>
              </a:rPr>
              <a:t>X_train</a:t>
            </a:r>
          </a:p>
        </p:txBody>
      </p:sp>
      <p:sp>
        <p:nvSpPr>
          <p:cNvPr id="11" name="">
            <a:extLst xmlns:a="http://schemas.openxmlformats.org/drawingml/2006/main">
              <a:ext uri="{FF2B5EF4-FFF2-40B4-BE49-F238E27FC236}">
                <a16:creationId xmlns:a16="http://schemas.microsoft.com/office/drawing/2014/main" id="{90977088-AFD1-43A1-915E-BB7826BAA62B}"/>
              </a:ext>
            </a:extLst>
          </p:cNvPr>
          <p:cNvSpPr>
            <a:spLocks xmlns:a="http://schemas.openxmlformats.org/drawingml/2006/main" noGrp="1"/>
          </p:cNvSpPr>
          <p:nvPr/>
        </p:nvSpPr>
        <p:spPr>
          <a:xfrm xmlns:a="http://schemas.openxmlformats.org/drawingml/2006/main">
            <a:off x="8020050" y="3105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(9294, 30, 1)</a:t>
            </a:r>
          </a:p>
        </p:txBody>
      </p:sp>
      <p:sp>
        <p:nvSpPr>
          <p:cNvPr id="12" name="">
            <a:extLst xmlns:a="http://schemas.openxmlformats.org/drawingml/2006/main">
              <a:ext uri="{FF2B5EF4-FFF2-40B4-BE49-F238E27FC236}">
                <a16:creationId xmlns:a16="http://schemas.microsoft.com/office/drawing/2014/main" id="{7F0B8268-89B1-4275-ACEC-F1822FF06A3C}"/>
              </a:ext>
            </a:extLst>
          </p:cNvPr>
          <p:cNvSpPr>
            <a:spLocks xmlns:a="http://schemas.openxmlformats.org/drawingml/2006/main" noGrp="1"/>
          </p:cNvSpPr>
          <p:nvPr/>
        </p:nvSpPr>
        <p:spPr>
          <a:xfrm xmlns:a="http://schemas.openxmlformats.org/drawingml/2006/main">
            <a:off x="8020050" y="35718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5C6B73"/>
                </a:solidFill>
                <a:latin typeface="Arial"/>
                <a:ea typeface="Arial"/>
                <a:cs typeface="Arial"/>
              </a:defRPr>
            </a:pPr>
            <a:r>
              <a:rPr sz="1125" b="0" i="0">
                <a:solidFill>
                  <a:srgbClr val="5C6B73"/>
                </a:solidFill>
                <a:latin typeface="Arial"/>
                <a:ea typeface="Arial"/>
                <a:cs typeface="Arial"/>
              </a:rPr>
              <a:t>samples · timesteps · features</a:t>
            </a:r>
          </a:p>
        </p:txBody>
      </p:sp>
      <p:sp>
        <p:nvSpPr>
          <p:cNvPr id="13" name="">
            <a:extLst xmlns:a="http://schemas.openxmlformats.org/drawingml/2006/main">
              <a:ext uri="{FF2B5EF4-FFF2-40B4-BE49-F238E27FC236}">
                <a16:creationId xmlns:a16="http://schemas.microsoft.com/office/drawing/2014/main" id="{DD5F89C4-49A2-4007-A7F1-52904C2BD352}"/>
              </a:ext>
            </a:extLst>
          </p:cNvPr>
          <p:cNvSpPr>
            <a:spLocks xmlns:a="http://schemas.openxmlformats.org/drawingml/2006/main" noGrp="1"/>
          </p:cNvSpPr>
          <p:nvPr/>
        </p:nvSpPr>
        <p:spPr>
          <a:xfrm xmlns:a="http://schemas.openxmlformats.org/drawingml/2006/main">
            <a:off x="8020050" y="4048125"/>
            <a:ext cx="3009900"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DD80059-F674-4F73-A76E-488C9FF57A5C}"/>
              </a:ext>
            </a:extLst>
          </p:cNvPr>
          <p:cNvSpPr>
            <a:spLocks xmlns:a="http://schemas.openxmlformats.org/drawingml/2006/main" noGrp="1"/>
          </p:cNvSpPr>
          <p:nvPr/>
        </p:nvSpPr>
        <p:spPr>
          <a:xfrm xmlns:a="http://schemas.openxmlformats.org/drawingml/2006/main">
            <a:off x="8020050" y="43338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C58B2A"/>
                </a:solidFill>
                <a:latin typeface="Arial"/>
                <a:ea typeface="Arial"/>
                <a:cs typeface="Arial"/>
              </a:defRPr>
            </a:pPr>
            <a:r>
              <a:rPr sz="1650" b="1" i="0">
                <a:solidFill>
                  <a:srgbClr val="C58B2A"/>
                </a:solidFill>
                <a:latin typeface="Arial"/>
                <a:ea typeface="Arial"/>
                <a:cs typeface="Arial"/>
              </a:rPr>
              <a:t>y_train</a:t>
            </a:r>
          </a:p>
        </p:txBody>
      </p:sp>
      <p:sp>
        <p:nvSpPr>
          <p:cNvPr id="15" name="">
            <a:extLst xmlns:a="http://schemas.openxmlformats.org/drawingml/2006/main">
              <a:ext uri="{FF2B5EF4-FFF2-40B4-BE49-F238E27FC236}">
                <a16:creationId xmlns:a16="http://schemas.microsoft.com/office/drawing/2014/main" id="{0385A648-2634-4A72-BF2C-A10BC11DE5EE}"/>
              </a:ext>
            </a:extLst>
          </p:cNvPr>
          <p:cNvSpPr>
            <a:spLocks xmlns:a="http://schemas.openxmlformats.org/drawingml/2006/main" noGrp="1"/>
          </p:cNvSpPr>
          <p:nvPr/>
        </p:nvSpPr>
        <p:spPr>
          <a:xfrm xmlns:a="http://schemas.openxmlformats.org/drawingml/2006/main">
            <a:off x="8020050" y="4714875"/>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i="0">
                <a:solidFill>
                  <a:srgbClr val="102A43"/>
                </a:solidFill>
                <a:latin typeface="Arial"/>
                <a:ea typeface="Arial"/>
                <a:cs typeface="Arial"/>
              </a:defRPr>
            </a:pPr>
            <a:r>
              <a:rPr sz="2250" b="1" i="0">
                <a:solidFill>
                  <a:srgbClr val="102A43"/>
                </a:solidFill>
                <a:latin typeface="Arial"/>
                <a:ea typeface="Arial"/>
                <a:cs typeface="Arial"/>
              </a:rPr>
              <a:t>(9294, 1)</a:t>
            </a:r>
          </a:p>
        </p:txBody>
      </p:sp>
      <p:sp>
        <p:nvSpPr>
          <p:cNvPr id="16" name="">
            <a:extLst xmlns:a="http://schemas.openxmlformats.org/drawingml/2006/main">
              <a:ext uri="{FF2B5EF4-FFF2-40B4-BE49-F238E27FC236}">
                <a16:creationId xmlns:a16="http://schemas.microsoft.com/office/drawing/2014/main" id="{6BDD6285-5290-4F95-AFFA-5FA199CBEC75}"/>
              </a:ext>
            </a:extLst>
          </p:cNvPr>
          <p:cNvSpPr>
            <a:spLocks xmlns:a="http://schemas.openxmlformats.org/drawingml/2006/main" noGrp="1"/>
          </p:cNvSpPr>
          <p:nvPr/>
        </p:nvSpPr>
        <p:spPr>
          <a:xfrm xmlns:a="http://schemas.openxmlformats.org/drawingml/2006/main">
            <a:off x="8020050" y="5286375"/>
            <a:ext cx="3048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5C6B73"/>
                </a:solidFill>
                <a:latin typeface="Arial"/>
                <a:ea typeface="Arial"/>
                <a:cs typeface="Arial"/>
              </a:defRPr>
            </a:pPr>
            <a:r>
              <a:rPr sz="1125" b="0" i="0">
                <a:solidFill>
                  <a:srgbClr val="5C6B73"/>
                </a:solidFill>
                <a:latin typeface="Arial"/>
                <a:ea typeface="Arial"/>
                <a:cs typeface="Arial"/>
              </a:rPr>
              <a:t>30 quan sát quá khứ → giá bước kế tiếp</a:t>
            </a:r>
          </a:p>
        </p:txBody>
      </p:sp>
    </p:spTree>
    <p:extLst>
      <p:ext uri="{BB962C8B-B14F-4D97-AF65-F5344CB8AC3E}">
        <p14:creationId xmlns:p14="http://schemas.microsoft.com/office/powerpoint/2010/main" val="1647575492"/>
      </p:ext>
    </p:extLst>
  </p:cSld>
</p:sld>
</file>

<file path=ppt/slides/slide7.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2C4466C-9FA7-4EA9-9084-947B5F58029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9561D5-5D5A-4BD3-9B0E-2A09E2A68FFA}"/>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020F62E-152F-434E-AA16-C673DBBAE756}"/>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Simple RNN: input, training và loss</a:t>
            </a:r>
          </a:p>
        </p:txBody>
      </p:sp>
      <p:sp>
        <p:nvSpPr>
          <p:cNvPr id="4" name="">
            <a:extLst xmlns:a="http://schemas.openxmlformats.org/drawingml/2006/main">
              <a:ext uri="{FF2B5EF4-FFF2-40B4-BE49-F238E27FC236}">
                <a16:creationId xmlns:a16="http://schemas.microsoft.com/office/drawing/2014/main" id="{44FEB5B4-C623-45D0-B773-E3012E820EED}"/>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Chỉ giữ phần RNN cần để hiểu tensor đi vào đâu và kết quả được tạo ra thế nào.</a:t>
            </a:r>
          </a:p>
        </p:txBody>
      </p:sp>
      <p:sp>
        <p:nvSpPr>
          <p:cNvPr id="5" name="">
            <a:extLst xmlns:a="http://schemas.openxmlformats.org/drawingml/2006/main">
              <a:ext uri="{FF2B5EF4-FFF2-40B4-BE49-F238E27FC236}">
                <a16:creationId xmlns:a16="http://schemas.microsoft.com/office/drawing/2014/main" id="{04CCD2A2-005C-47E9-9D4A-8543A392CE8E}"/>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sp>
        <p:nvSpPr>
          <p:cNvPr id="6" name="">
            <a:extLst xmlns:a="http://schemas.openxmlformats.org/drawingml/2006/main">
              <a:ext uri="{FF2B5EF4-FFF2-40B4-BE49-F238E27FC236}">
                <a16:creationId xmlns:a16="http://schemas.microsoft.com/office/drawing/2014/main" id="{255D0F67-18D1-4269-9A3A-A981DDDF5F23}"/>
              </a:ext>
            </a:extLst>
          </p:cNvPr>
          <p:cNvSpPr>
            <a:spLocks xmlns:a="http://schemas.openxmlformats.org/drawingml/2006/main" noGrp="1"/>
          </p:cNvSpPr>
          <p:nvPr/>
        </p:nvSpPr>
        <p:spPr>
          <a:xfrm xmlns:a="http://schemas.openxmlformats.org/drawingml/2006/main">
            <a:off x="685800" y="1600200"/>
            <a:ext cx="5476875" cy="2857500"/>
          </a:xfrm>
          <a:prstGeom xmlns:a="http://schemas.openxmlformats.org/drawingml/2006/main" prst="roundRect">
            <a:avLst>
              <a:gd name="adj" fmla="val 4000"/>
            </a:avLst>
          </a:prstGeom>
          <a:solidFill xmlns:a="http://schemas.openxmlformats.org/drawingml/2006/main">
            <a:srgbClr val="0D1B2A"/>
          </a:solidFill>
          <a:ln xmlns:a="http://schemas.openxmlformats.org/drawingml/2006/main" w="9525">
            <a:solidFill>
              <a:srgbClr val="0D1B2A"/>
            </a:solidFill>
            <a:prstDash val="solid"/>
          </a:ln>
        </p:spPr>
      </p:sp>
      <p:sp>
        <p:nvSpPr>
          <p:cNvPr id="7" name="">
            <a:extLst xmlns:a="http://schemas.openxmlformats.org/drawingml/2006/main">
              <a:ext uri="{FF2B5EF4-FFF2-40B4-BE49-F238E27FC236}">
                <a16:creationId xmlns:a16="http://schemas.microsoft.com/office/drawing/2014/main" id="{71CCE484-48B8-4DDF-8213-B3FE45D66823}"/>
              </a:ext>
            </a:extLst>
          </p:cNvPr>
          <p:cNvSpPr>
            <a:spLocks xmlns:a="http://schemas.openxmlformats.org/drawingml/2006/main" noGrp="1"/>
          </p:cNvSpPr>
          <p:nvPr/>
        </p:nvSpPr>
        <p:spPr>
          <a:xfrm xmlns:a="http://schemas.openxmlformats.org/drawingml/2006/main">
            <a:off x="857250" y="1752600"/>
            <a:ext cx="5133975" cy="2590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class SimpleRNNRegressor(nn.Module):</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def __init__(self):</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super().__init__()</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self.rnn = nn.RNN(</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input_size=1,</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hidden_size=32,</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batch_first=True</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self.output_layer = nn.Linear(32, 1)</a:t>
            </a:r>
          </a:p>
          <a:p xmlns:a="http://schemas.openxmlformats.org/drawingml/2006/main">
            <a:r>
              <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def forward(self, x):</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output, _ = self.rnn(x)</a:t>
            </a:r>
          </a:p>
          <a:p xmlns:a="http://schemas.openxmlformats.org/drawingml/2006/main">
            <a:pPr algn="l">
              <a:defRPr sz="1125" b="0" i="0">
                <a:solidFill>
                  <a:srgbClr val="F7F4EC"/>
                </a:solidFill>
                <a:latin typeface="Arial"/>
                <a:ea typeface="Arial"/>
                <a:cs typeface="Arial"/>
              </a:defRPr>
            </a:pPr>
            <a:r>
              <a:rPr sz="1125" b="0" i="0">
                <a:solidFill>
                  <a:srgbClr val="F7F4EC"/>
                </a:solidFill>
                <a:latin typeface="Arial"/>
                <a:ea typeface="Arial"/>
                <a:cs typeface="Arial"/>
              </a:rPr>
              <a:t>        return self.output_layer(output[:, -1, :])</a:t>
            </a:r>
          </a:p>
        </p:txBody>
      </p:sp>
      <p:sp>
        <p:nvSpPr>
          <p:cNvPr id="8" name="">
            <a:extLst xmlns:a="http://schemas.openxmlformats.org/drawingml/2006/main">
              <a:ext uri="{FF2B5EF4-FFF2-40B4-BE49-F238E27FC236}">
                <a16:creationId xmlns:a16="http://schemas.microsoft.com/office/drawing/2014/main" id="{84483233-C6C4-42F9-BEDD-E7EC35BA4B6D}"/>
              </a:ext>
            </a:extLst>
          </p:cNvPr>
          <p:cNvSpPr>
            <a:spLocks xmlns:a="http://schemas.openxmlformats.org/drawingml/2006/main" noGrp="1"/>
          </p:cNvSpPr>
          <p:nvPr/>
        </p:nvSpPr>
        <p:spPr>
          <a:xfrm xmlns:a="http://schemas.openxmlformats.org/drawingml/2006/main">
            <a:off x="6762750" y="1638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02A43"/>
                </a:solidFill>
                <a:latin typeface="Arial"/>
                <a:ea typeface="Arial"/>
                <a:cs typeface="Arial"/>
              </a:defRPr>
            </a:pPr>
            <a:r>
              <a:rPr sz="1650" b="1" i="0">
                <a:solidFill>
                  <a:srgbClr val="102A43"/>
                </a:solidFill>
                <a:latin typeface="Arial"/>
                <a:ea typeface="Arial"/>
                <a:cs typeface="Arial"/>
              </a:rPr>
              <a:t>Luồng dữ liệu</a:t>
            </a:r>
          </a:p>
        </p:txBody>
      </p:sp>
      <p:sp>
        <p:nvSpPr>
          <p:cNvPr id="9" name="">
            <a:extLst xmlns:a="http://schemas.openxmlformats.org/drawingml/2006/main">
              <a:ext uri="{FF2B5EF4-FFF2-40B4-BE49-F238E27FC236}">
                <a16:creationId xmlns:a16="http://schemas.microsoft.com/office/drawing/2014/main" id="{F387ED01-3CAE-4E04-9D86-431CE8BEB7BD}"/>
              </a:ext>
            </a:extLst>
          </p:cNvPr>
          <p:cNvSpPr>
            <a:spLocks xmlns:a="http://schemas.openxmlformats.org/drawingml/2006/main" noGrp="1"/>
          </p:cNvSpPr>
          <p:nvPr/>
        </p:nvSpPr>
        <p:spPr>
          <a:xfrm xmlns:a="http://schemas.openxmlformats.org/drawingml/2006/main">
            <a:off x="6762750" y="2238375"/>
            <a:ext cx="1028700" cy="781050"/>
          </a:xfrm>
          <a:prstGeom xmlns:a="http://schemas.openxmlformats.org/drawingml/2006/main" prst="roundRect">
            <a:avLst>
              <a:gd name="adj" fmla="val 14634"/>
            </a:avLst>
          </a:prstGeom>
          <a:solidFill xmlns:a="http://schemas.openxmlformats.org/drawingml/2006/main">
            <a:srgbClr val="DCEAF2"/>
          </a:solidFill>
          <a:ln xmlns:a="http://schemas.openxmlformats.org/drawingml/2006/main" w="9525">
            <a:solidFill>
              <a:srgbClr val="2D6A8F"/>
            </a:solidFill>
            <a:prstDash val="solid"/>
          </a:ln>
        </p:spPr>
      </p:sp>
      <p:sp>
        <p:nvSpPr>
          <p:cNvPr id="10" name="">
            <a:extLst xmlns:a="http://schemas.openxmlformats.org/drawingml/2006/main">
              <a:ext uri="{FF2B5EF4-FFF2-40B4-BE49-F238E27FC236}">
                <a16:creationId xmlns:a16="http://schemas.microsoft.com/office/drawing/2014/main" id="{209FBBF1-7BEE-4C20-A885-5B7E419EE727}"/>
              </a:ext>
            </a:extLst>
          </p:cNvPr>
          <p:cNvSpPr>
            <a:spLocks xmlns:a="http://schemas.openxmlformats.org/drawingml/2006/main" noGrp="1"/>
          </p:cNvSpPr>
          <p:nvPr/>
        </p:nvSpPr>
        <p:spPr>
          <a:xfrm xmlns:a="http://schemas.openxmlformats.org/drawingml/2006/main">
            <a:off x="6810375" y="2447925"/>
            <a:ext cx="933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2D6A8F"/>
                </a:solidFill>
                <a:latin typeface="Arial"/>
                <a:ea typeface="Arial"/>
                <a:cs typeface="Arial"/>
              </a:defRPr>
            </a:pPr>
            <a:r>
              <a:rPr sz="1050" b="1" i="0">
                <a:solidFill>
                  <a:srgbClr val="2D6A8F"/>
                </a:solidFill>
                <a:latin typeface="Arial"/>
                <a:ea typeface="Arial"/>
                <a:cs typeface="Arial"/>
              </a:rPr>
              <a:t>(B, 30, 1)</a:t>
            </a:r>
          </a:p>
        </p:txBody>
      </p:sp>
      <p:sp>
        <p:nvSpPr>
          <p:cNvPr id="11" name="">
            <a:extLst xmlns:a="http://schemas.openxmlformats.org/drawingml/2006/main">
              <a:ext uri="{FF2B5EF4-FFF2-40B4-BE49-F238E27FC236}">
                <a16:creationId xmlns:a16="http://schemas.microsoft.com/office/drawing/2014/main" id="{64F3915D-461F-4B71-B469-B4DD603947F1}"/>
              </a:ext>
            </a:extLst>
          </p:cNvPr>
          <p:cNvSpPr>
            <a:spLocks xmlns:a="http://schemas.openxmlformats.org/drawingml/2006/main" noGrp="1"/>
          </p:cNvSpPr>
          <p:nvPr/>
        </p:nvSpPr>
        <p:spPr>
          <a:xfrm xmlns:a="http://schemas.openxmlformats.org/drawingml/2006/main">
            <a:off x="780097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0F09EE5-D4C1-4FF7-A940-3AC4CC3839F6}"/>
              </a:ext>
            </a:extLst>
          </p:cNvPr>
          <p:cNvSpPr>
            <a:spLocks xmlns:a="http://schemas.openxmlformats.org/drawingml/2006/main" noGrp="1"/>
          </p:cNvSpPr>
          <p:nvPr/>
        </p:nvSpPr>
        <p:spPr>
          <a:xfrm xmlns:a="http://schemas.openxmlformats.org/drawingml/2006/main">
            <a:off x="7962900" y="2238375"/>
            <a:ext cx="1028700" cy="781050"/>
          </a:xfrm>
          <a:prstGeom xmlns:a="http://schemas.openxmlformats.org/drawingml/2006/main" prst="roundRect">
            <a:avLst>
              <a:gd name="adj" fmla="val 14634"/>
            </a:avLst>
          </a:prstGeom>
          <a:solidFill xmlns:a="http://schemas.openxmlformats.org/drawingml/2006/main">
            <a:srgbClr val="F2E5C4"/>
          </a:solidFill>
          <a:ln xmlns:a="http://schemas.openxmlformats.org/drawingml/2006/main" w="9525">
            <a:solidFill>
              <a:srgbClr val="C58B2A"/>
            </a:solidFill>
            <a:prstDash val="solid"/>
          </a:ln>
        </p:spPr>
      </p:sp>
      <p:sp>
        <p:nvSpPr>
          <p:cNvPr id="13" name="">
            <a:extLst xmlns:a="http://schemas.openxmlformats.org/drawingml/2006/main">
              <a:ext uri="{FF2B5EF4-FFF2-40B4-BE49-F238E27FC236}">
                <a16:creationId xmlns:a16="http://schemas.microsoft.com/office/drawing/2014/main" id="{5DE1C0B0-556D-4815-A078-F235133DBD44}"/>
              </a:ext>
            </a:extLst>
          </p:cNvPr>
          <p:cNvSpPr>
            <a:spLocks xmlns:a="http://schemas.openxmlformats.org/drawingml/2006/main" noGrp="1"/>
          </p:cNvSpPr>
          <p:nvPr/>
        </p:nvSpPr>
        <p:spPr>
          <a:xfrm xmlns:a="http://schemas.openxmlformats.org/drawingml/2006/main">
            <a:off x="8010525" y="2447925"/>
            <a:ext cx="933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C58B2A"/>
                </a:solidFill>
                <a:latin typeface="Arial"/>
                <a:ea typeface="Arial"/>
                <a:cs typeface="Arial"/>
              </a:defRPr>
            </a:pPr>
            <a:r>
              <a:rPr sz="1050" b="1" i="0">
                <a:solidFill>
                  <a:srgbClr val="C58B2A"/>
                </a:solidFill>
                <a:latin typeface="Arial"/>
                <a:ea typeface="Arial"/>
                <a:cs typeface="Arial"/>
              </a:rPr>
              <a:t>RNN</a:t>
            </a:r>
          </a:p>
          <a:p xmlns:a="http://schemas.openxmlformats.org/drawingml/2006/main">
            <a:pPr algn="ctr">
              <a:defRPr sz="1050" b="1" i="0">
                <a:solidFill>
                  <a:srgbClr val="C58B2A"/>
                </a:solidFill>
                <a:latin typeface="Arial"/>
                <a:ea typeface="Arial"/>
                <a:cs typeface="Arial"/>
              </a:defRPr>
            </a:pPr>
            <a:r>
              <a:rPr sz="1050" b="1" i="0">
                <a:solidFill>
                  <a:srgbClr val="C58B2A"/>
                </a:solidFill>
                <a:latin typeface="Arial"/>
                <a:ea typeface="Arial"/>
                <a:cs typeface="Arial"/>
              </a:rPr>
              <a:t>hidden=32</a:t>
            </a:r>
          </a:p>
        </p:txBody>
      </p:sp>
      <p:sp>
        <p:nvSpPr>
          <p:cNvPr id="14" name="">
            <a:extLst xmlns:a="http://schemas.openxmlformats.org/drawingml/2006/main">
              <a:ext uri="{FF2B5EF4-FFF2-40B4-BE49-F238E27FC236}">
                <a16:creationId xmlns:a16="http://schemas.microsoft.com/office/drawing/2014/main" id="{32DCEA56-70A6-4D33-8FF7-B2B6125486D7}"/>
              </a:ext>
            </a:extLst>
          </p:cNvPr>
          <p:cNvSpPr>
            <a:spLocks xmlns:a="http://schemas.openxmlformats.org/drawingml/2006/main" noGrp="1"/>
          </p:cNvSpPr>
          <p:nvPr/>
        </p:nvSpPr>
        <p:spPr>
          <a:xfrm xmlns:a="http://schemas.openxmlformats.org/drawingml/2006/main">
            <a:off x="900112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3743C4-E872-4955-AF24-535AB382DCF1}"/>
              </a:ext>
            </a:extLst>
          </p:cNvPr>
          <p:cNvSpPr>
            <a:spLocks xmlns:a="http://schemas.openxmlformats.org/drawingml/2006/main" noGrp="1"/>
          </p:cNvSpPr>
          <p:nvPr/>
        </p:nvSpPr>
        <p:spPr>
          <a:xfrm xmlns:a="http://schemas.openxmlformats.org/drawingml/2006/main">
            <a:off x="9163050" y="2238375"/>
            <a:ext cx="1028700" cy="781050"/>
          </a:xfrm>
          <a:prstGeom xmlns:a="http://schemas.openxmlformats.org/drawingml/2006/main" prst="roundRect">
            <a:avLst>
              <a:gd name="adj" fmla="val 14634"/>
            </a:avLst>
          </a:prstGeom>
          <a:solidFill xmlns:a="http://schemas.openxmlformats.org/drawingml/2006/main">
            <a:srgbClr val="E4F0E8"/>
          </a:solidFill>
          <a:ln xmlns:a="http://schemas.openxmlformats.org/drawingml/2006/main" w="9525">
            <a:solidFill>
              <a:srgbClr val="3F7D5A"/>
            </a:solidFill>
            <a:prstDash val="solid"/>
          </a:ln>
        </p:spPr>
      </p:sp>
      <p:sp>
        <p:nvSpPr>
          <p:cNvPr id="16" name="">
            <a:extLst xmlns:a="http://schemas.openxmlformats.org/drawingml/2006/main">
              <a:ext uri="{FF2B5EF4-FFF2-40B4-BE49-F238E27FC236}">
                <a16:creationId xmlns:a16="http://schemas.microsoft.com/office/drawing/2014/main" id="{4F04CFD4-266E-4C55-BC3C-ADBB7C33AFBF}"/>
              </a:ext>
            </a:extLst>
          </p:cNvPr>
          <p:cNvSpPr>
            <a:spLocks xmlns:a="http://schemas.openxmlformats.org/drawingml/2006/main" noGrp="1"/>
          </p:cNvSpPr>
          <p:nvPr/>
        </p:nvSpPr>
        <p:spPr>
          <a:xfrm xmlns:a="http://schemas.openxmlformats.org/drawingml/2006/main">
            <a:off x="9210675" y="2447925"/>
            <a:ext cx="933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3F7D5A"/>
                </a:solidFill>
                <a:latin typeface="Arial"/>
                <a:ea typeface="Arial"/>
                <a:cs typeface="Arial"/>
              </a:defRPr>
            </a:pPr>
            <a:r>
              <a:rPr sz="1050" b="1" i="0">
                <a:solidFill>
                  <a:srgbClr val="3F7D5A"/>
                </a:solidFill>
                <a:latin typeface="Arial"/>
                <a:ea typeface="Arial"/>
                <a:cs typeface="Arial"/>
              </a:rPr>
              <a:t>last hidden</a:t>
            </a:r>
          </a:p>
        </p:txBody>
      </p:sp>
      <p:sp>
        <p:nvSpPr>
          <p:cNvPr id="17" name="">
            <a:extLst xmlns:a="http://schemas.openxmlformats.org/drawingml/2006/main">
              <a:ext uri="{FF2B5EF4-FFF2-40B4-BE49-F238E27FC236}">
                <a16:creationId xmlns:a16="http://schemas.microsoft.com/office/drawing/2014/main" id="{A82997D1-EE9B-4D6C-9B80-AAF7754FF412}"/>
              </a:ext>
            </a:extLst>
          </p:cNvPr>
          <p:cNvSpPr>
            <a:spLocks xmlns:a="http://schemas.openxmlformats.org/drawingml/2006/main" noGrp="1"/>
          </p:cNvSpPr>
          <p:nvPr/>
        </p:nvSpPr>
        <p:spPr>
          <a:xfrm xmlns:a="http://schemas.openxmlformats.org/drawingml/2006/main">
            <a:off x="10201275" y="2619375"/>
            <a:ext cx="161925" cy="190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5C6BAC4-7658-433E-9893-38316C9DB96A}"/>
              </a:ext>
            </a:extLst>
          </p:cNvPr>
          <p:cNvSpPr>
            <a:spLocks xmlns:a="http://schemas.openxmlformats.org/drawingml/2006/main" noGrp="1"/>
          </p:cNvSpPr>
          <p:nvPr/>
        </p:nvSpPr>
        <p:spPr>
          <a:xfrm xmlns:a="http://schemas.openxmlformats.org/drawingml/2006/main">
            <a:off x="10363200" y="2238375"/>
            <a:ext cx="1028700" cy="781050"/>
          </a:xfrm>
          <a:prstGeom xmlns:a="http://schemas.openxmlformats.org/drawingml/2006/main" prst="roundRect">
            <a:avLst>
              <a:gd name="adj" fmla="val 14634"/>
            </a:avLst>
          </a:prstGeom>
          <a:solidFill xmlns:a="http://schemas.openxmlformats.org/drawingml/2006/main">
            <a:srgbClr val="F5E2DE"/>
          </a:solidFill>
          <a:ln xmlns:a="http://schemas.openxmlformats.org/drawingml/2006/main" w="9525">
            <a:solidFill>
              <a:srgbClr val="B65345"/>
            </a:solidFill>
            <a:prstDash val="solid"/>
          </a:ln>
        </p:spPr>
      </p:sp>
      <p:sp>
        <p:nvSpPr>
          <p:cNvPr id="19" name="">
            <a:extLst xmlns:a="http://schemas.openxmlformats.org/drawingml/2006/main">
              <a:ext uri="{FF2B5EF4-FFF2-40B4-BE49-F238E27FC236}">
                <a16:creationId xmlns:a16="http://schemas.microsoft.com/office/drawing/2014/main" id="{CF88ED7F-D3F9-4F96-A895-B0A9FF573C04}"/>
              </a:ext>
            </a:extLst>
          </p:cNvPr>
          <p:cNvSpPr>
            <a:spLocks xmlns:a="http://schemas.openxmlformats.org/drawingml/2006/main" noGrp="1"/>
          </p:cNvSpPr>
          <p:nvPr/>
        </p:nvSpPr>
        <p:spPr>
          <a:xfrm xmlns:a="http://schemas.openxmlformats.org/drawingml/2006/main">
            <a:off x="10410825" y="2447925"/>
            <a:ext cx="933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B65345"/>
                </a:solidFill>
                <a:latin typeface="Arial"/>
                <a:ea typeface="Arial"/>
                <a:cs typeface="Arial"/>
              </a:defRPr>
            </a:pPr>
            <a:r>
              <a:rPr sz="1050" b="1" i="0">
                <a:solidFill>
                  <a:srgbClr val="B65345"/>
                </a:solidFill>
                <a:latin typeface="Arial"/>
                <a:ea typeface="Arial"/>
                <a:cs typeface="Arial"/>
              </a:rPr>
              <a:t>Linear</a:t>
            </a:r>
          </a:p>
          <a:p xmlns:a="http://schemas.openxmlformats.org/drawingml/2006/main">
            <a:pPr algn="ctr">
              <a:defRPr sz="1050" b="1" i="0">
                <a:solidFill>
                  <a:srgbClr val="B65345"/>
                </a:solidFill>
                <a:latin typeface="Arial"/>
                <a:ea typeface="Arial"/>
                <a:cs typeface="Arial"/>
              </a:defRPr>
            </a:pPr>
            <a:r>
              <a:rPr sz="1050" b="1" i="0">
                <a:solidFill>
                  <a:srgbClr val="B65345"/>
                </a:solidFill>
                <a:latin typeface="Arial"/>
                <a:ea typeface="Arial"/>
                <a:cs typeface="Arial"/>
              </a:rPr>
              <a:t>32 → 1</a:t>
            </a:r>
          </a:p>
        </p:txBody>
      </p:sp>
      <p:sp>
        <p:nvSpPr>
          <p:cNvPr id="20" name="">
            <a:extLst xmlns:a="http://schemas.openxmlformats.org/drawingml/2006/main">
              <a:ext uri="{FF2B5EF4-FFF2-40B4-BE49-F238E27FC236}">
                <a16:creationId xmlns:a16="http://schemas.microsoft.com/office/drawing/2014/main" id="{F7908F13-2322-4792-A962-75BEEA9462C6}"/>
              </a:ext>
            </a:extLst>
          </p:cNvPr>
          <p:cNvSpPr>
            <a:spLocks xmlns:a="http://schemas.openxmlformats.org/drawingml/2006/main" noGrp="1"/>
          </p:cNvSpPr>
          <p:nvPr/>
        </p:nvSpPr>
        <p:spPr>
          <a:xfrm xmlns:a="http://schemas.openxmlformats.org/drawingml/2006/main">
            <a:off x="6762750" y="3381375"/>
            <a:ext cx="4476750" cy="742950"/>
          </a:xfrm>
          <a:prstGeom xmlns:a="http://schemas.openxmlformats.org/drawingml/2006/main" prst="roundRect">
            <a:avLst>
              <a:gd name="adj" fmla="val 15385"/>
            </a:avLst>
          </a:prstGeom>
          <a:solidFill xmlns:a="http://schemas.openxmlformats.org/drawingml/2006/main">
            <a:srgbClr val="102A43"/>
          </a:solidFill>
          <a:ln xmlns:a="http://schemas.openxmlformats.org/drawingml/2006/main" w="9525">
            <a:solidFill>
              <a:srgbClr val="102A43"/>
            </a:solidFill>
            <a:prstDash val="solid"/>
          </a:ln>
        </p:spPr>
      </p:sp>
      <p:sp>
        <p:nvSpPr>
          <p:cNvPr id="21" name="">
            <a:extLst xmlns:a="http://schemas.openxmlformats.org/drawingml/2006/main">
              <a:ext uri="{FF2B5EF4-FFF2-40B4-BE49-F238E27FC236}">
                <a16:creationId xmlns:a16="http://schemas.microsoft.com/office/drawing/2014/main" id="{C63F3187-6CD0-47E4-9AA0-2C28207EE89B}"/>
              </a:ext>
            </a:extLst>
          </p:cNvPr>
          <p:cNvSpPr>
            <a:spLocks xmlns:a="http://schemas.openxmlformats.org/drawingml/2006/main" noGrp="1"/>
          </p:cNvSpPr>
          <p:nvPr/>
        </p:nvSpPr>
        <p:spPr>
          <a:xfrm xmlns:a="http://schemas.openxmlformats.org/drawingml/2006/main">
            <a:off x="7000875" y="3638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prediction → loss → backward() → optimizer.step()</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91e48e2335f04e0a"/>
          <a:stretch xmlns:a="http://schemas.openxmlformats.org/drawingml/2006/main"/>
        </p:blipFill>
        <p:spPr>
          <a:xfrm xmlns:a="http://schemas.openxmlformats.org/drawingml/2006/main">
            <a:off x="7459540" y="4476750"/>
            <a:ext cx="3083169" cy="1524000"/>
          </a:xfrm>
          <a:prstGeom xmlns:a="http://schemas.openxmlformats.org/drawingml/2006/main" prst="roundRect">
            <a:avLst>
              <a:gd name="adj" fmla="val 7500"/>
            </a:avLst>
          </a:prstGeom>
        </p:spPr>
      </p:pic>
    </p:spTree>
    <p:extLst>
      <p:ext uri="{BB962C8B-B14F-4D97-AF65-F5344CB8AC3E}">
        <p14:creationId xmlns:p14="http://schemas.microsoft.com/office/powerpoint/2010/main" val="316394480"/>
      </p:ext>
    </p:extLst>
  </p:cSld>
</p:sld>
</file>

<file path=ppt/slides/slide8.xml><?xml version="1.0" encoding="utf-8"?>
<p:sld xmlns:p="http://schemas.openxmlformats.org/presentationml/2006/main">
  <p:cSld>
    <p:bg>
      <p:bgPr>
        <a:solidFill xmlns:a="http://schemas.openxmlformats.org/drawingml/2006/main">
          <a:srgbClr val="FBF8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3D0410-B09A-4116-9199-D0A771DB38F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58B2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65333F-979C-48F2-98A2-4F44A6208594}"/>
              </a:ext>
            </a:extLst>
          </p:cNvPr>
          <p:cNvSpPr>
            <a:spLocks xmlns:a="http://schemas.openxmlformats.org/drawingml/2006/main" noGrp="1"/>
          </p:cNvSpPr>
          <p:nvPr/>
        </p:nvSpPr>
        <p:spPr>
          <a:xfrm xmlns:a="http://schemas.openxmlformats.org/drawingml/2006/main">
            <a:off x="685800" y="333375"/>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C58B2A"/>
                </a:solidFill>
                <a:latin typeface="Arial"/>
                <a:ea typeface="Arial"/>
                <a:cs typeface="Arial"/>
              </a:defRPr>
            </a:pPr>
            <a:r>
              <a:rPr sz="1200" b="1" i="0">
                <a:solidFill>
                  <a:srgbClr val="C58B2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0F041B7-05CE-48C0-A9E1-2B305E7BC3BC}"/>
              </a:ext>
            </a:extLst>
          </p:cNvPr>
          <p:cNvSpPr>
            <a:spLocks xmlns:a="http://schemas.openxmlformats.org/drawingml/2006/main" noGrp="1"/>
          </p:cNvSpPr>
          <p:nvPr/>
        </p:nvSpPr>
        <p:spPr>
          <a:xfrm xmlns:a="http://schemas.openxmlformats.org/drawingml/2006/main">
            <a:off x="685800" y="619125"/>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02A43"/>
                </a:solidFill>
                <a:latin typeface="Arial"/>
                <a:ea typeface="Arial"/>
                <a:cs typeface="Arial"/>
              </a:defRPr>
            </a:pPr>
            <a:r>
              <a:rPr sz="2550" b="1" i="0">
                <a:solidFill>
                  <a:srgbClr val="102A43"/>
                </a:solidFill>
                <a:latin typeface="Arial"/>
                <a:ea typeface="Arial"/>
                <a:cs typeface="Arial"/>
              </a:rPr>
              <a:t>Kết quả và phân tích</a:t>
            </a:r>
          </a:p>
        </p:txBody>
      </p:sp>
      <p:sp>
        <p:nvSpPr>
          <p:cNvPr id="4" name="">
            <a:extLst xmlns:a="http://schemas.openxmlformats.org/drawingml/2006/main">
              <a:ext uri="{FF2B5EF4-FFF2-40B4-BE49-F238E27FC236}">
                <a16:creationId xmlns:a16="http://schemas.microsoft.com/office/drawing/2014/main" id="{2F79EE5E-6FE9-4DCC-8036-080BF97A4EF0}"/>
              </a:ext>
            </a:extLst>
          </p:cNvPr>
          <p:cNvSpPr>
            <a:spLocks xmlns:a="http://schemas.openxmlformats.org/drawingml/2006/main" noGrp="1"/>
          </p:cNvSpPr>
          <p:nvPr/>
        </p:nvSpPr>
        <p:spPr>
          <a:xfrm xmlns:a="http://schemas.openxmlformats.org/drawingml/2006/main">
            <a:off x="704850" y="11049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C6B73"/>
                </a:solidFill>
                <a:latin typeface="Arial"/>
                <a:ea typeface="Arial"/>
                <a:cs typeface="Arial"/>
              </a:defRPr>
            </a:pPr>
            <a:r>
              <a:rPr sz="1275" b="0" i="0">
                <a:solidFill>
                  <a:srgbClr val="5C6B73"/>
                </a:solidFill>
                <a:latin typeface="Arial"/>
                <a:ea typeface="Arial"/>
                <a:cs typeface="Arial"/>
              </a:rPr>
              <a:t>RNN chưa vượt baseline: nguyên nhân nằm ở phân phối dữ liệu, không phải lỗi chạy code.</a:t>
            </a:r>
          </a:p>
        </p:txBody>
      </p:sp>
      <p:sp>
        <p:nvSpPr>
          <p:cNvPr id="5" name="">
            <a:extLst xmlns:a="http://schemas.openxmlformats.org/drawingml/2006/main">
              <a:ext uri="{FF2B5EF4-FFF2-40B4-BE49-F238E27FC236}">
                <a16:creationId xmlns:a16="http://schemas.microsoft.com/office/drawing/2014/main" id="{5199F706-3A94-47B3-A27D-33C9828F3DE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C6B73"/>
                </a:solidFill>
                <a:latin typeface="Arial"/>
                <a:ea typeface="Arial"/>
                <a:cs typeface="Arial"/>
              </a:defRPr>
            </a:pPr>
            <a:r>
              <a:rPr sz="825" b="0" i="0">
                <a:solidFill>
                  <a:srgbClr val="5C6B73"/>
                </a:solidFill>
                <a:latin typeface="Arial"/>
                <a:ea typeface="Arial"/>
                <a:cs typeface="Arial"/>
              </a:rPr>
              <a:t>Tiền xử lý chuỗi cho RNN · PyTorch</a:t>
            </a:r>
          </a:p>
        </p:txBody>
      </p:sp>
      <p:graphicFrame>
        <p:nvGraphicFramePr>
          <p:cNvPr id="20" name=""/>
          <p:cNvGraphicFramePr/>
          <p:nvPr/>
        </p:nvGraphicFramePr>
        <p:xfrm>
          <a:off xmlns:a="http://schemas.openxmlformats.org/drawingml/2006/main" x="685800" y="1524000"/>
          <a:ext xmlns:a="http://schemas.openxmlformats.org/drawingml/2006/main" cx="5619750" cy="1666875"/>
        </p:xfrm>
        <a:graphic xmlns:a="http://schemas.openxmlformats.org/drawingml/2006/main">
          <a:graphicData uri="http://schemas.openxmlformats.org/drawingml/2006/table">
            <a:tbl>
              <a:tblPr firstRow="1" bandRow="1"/>
              <a:tblGrid>
                <a:gridCol w="1123950"/>
                <a:gridCol w="1123950"/>
                <a:gridCol w="1123950"/>
                <a:gridCol w="1123950"/>
                <a:gridCol w="1123950"/>
              </a:tblGrid>
              <a:tr h="555625">
                <a:tc>
                  <a:txBody>
                    <a:bodyPr/>
                    <a:lstStyle/>
                    <a:p>
                      <a:pPr algn="l"/>
                      <a:r>
                        <a:rPr sz="1050" b="1">
                          <a:solidFill>
                            <a:srgbClr val="FFFFFF"/>
                          </a:solidFill>
                          <a:latin typeface="Arial"/>
                          <a:ea typeface="Arial"/>
                          <a:cs typeface="Arial"/>
                        </a:rPr>
                        <a:t>Mô hình</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MAE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RMSE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MAPE</a:t>
                      </a:r>
                    </a:p>
                  </a:txBody>
                  <a:tcPr marL="91440" marR="91440" marT="45720" marB="45720">
                    <a:solidFill>
                      <a:srgbClr val="102A43"/>
                    </a:solidFill>
                  </a:tcPr>
                </a:tc>
                <a:tc>
                  <a:txBody>
                    <a:bodyPr/>
                    <a:lstStyle/>
                    <a:p>
                      <a:pPr algn="ctr"/>
                      <a:r>
                        <a:rPr sz="1050" b="1">
                          <a:solidFill>
                            <a:srgbClr val="FFFFFF"/>
                          </a:solidFill>
                          <a:latin typeface="Arial"/>
                          <a:ea typeface="Arial"/>
                          <a:cs typeface="Arial"/>
                        </a:rPr>
                        <a:t>Direction</a:t>
                      </a:r>
                    </a:p>
                  </a:txBody>
                  <a:tcPr marL="91440" marR="91440" marT="45720" marB="45720">
                    <a:solidFill>
                      <a:srgbClr val="102A43"/>
                    </a:solidFill>
                  </a:tcPr>
                </a:tc>
              </a:tr>
              <a:tr h="555625">
                <a:tc>
                  <a:txBody>
                    <a:bodyPr/>
                    <a:lstStyle/>
                    <a:p>
                      <a:pPr algn="l"/>
                      <a:r>
                        <a:rPr sz="1125" b="1">
                          <a:solidFill>
                            <a:srgbClr val="17324D"/>
                          </a:solidFill>
                          <a:latin typeface="Arial"/>
                          <a:ea typeface="Arial"/>
                          <a:cs typeface="Arial"/>
                        </a:rPr>
                        <a:t>Persistence</a:t>
                      </a:r>
                    </a:p>
                  </a:txBody>
                  <a:tcPr marL="91440" marR="91440" marT="45720" marB="45720"/>
                </a:tc>
                <a:tc>
                  <a:txBody>
                    <a:bodyPr/>
                    <a:lstStyle/>
                    <a:p>
                      <a:pPr algn="ctr"/>
                      <a:r>
                        <a:rPr sz="1125" b="0">
                          <a:solidFill>
                            <a:srgbClr val="17324D"/>
                          </a:solidFill>
                          <a:latin typeface="Arial"/>
                          <a:ea typeface="Arial"/>
                          <a:cs typeface="Arial"/>
                        </a:rPr>
                        <a:t>9.2163</a:t>
                      </a:r>
                    </a:p>
                  </a:txBody>
                  <a:tcPr marL="91440" marR="91440" marT="45720" marB="45720"/>
                </a:tc>
                <a:tc>
                  <a:txBody>
                    <a:bodyPr/>
                    <a:lstStyle/>
                    <a:p>
                      <a:pPr algn="ctr"/>
                      <a:r>
                        <a:rPr sz="1125" b="0">
                          <a:solidFill>
                            <a:srgbClr val="17324D"/>
                          </a:solidFill>
                          <a:latin typeface="Arial"/>
                          <a:ea typeface="Arial"/>
                          <a:cs typeface="Arial"/>
                        </a:rPr>
                        <a:t>13.4675</a:t>
                      </a:r>
                    </a:p>
                  </a:txBody>
                  <a:tcPr marL="91440" marR="91440" marT="45720" marB="45720"/>
                </a:tc>
                <a:tc>
                  <a:txBody>
                    <a:bodyPr/>
                    <a:lstStyle/>
                    <a:p>
                      <a:pPr algn="ctr"/>
                      <a:r>
                        <a:rPr sz="1125" b="0">
                          <a:solidFill>
                            <a:srgbClr val="17324D"/>
                          </a:solidFill>
                          <a:latin typeface="Arial"/>
                          <a:ea typeface="Arial"/>
                          <a:cs typeface="Arial"/>
                        </a:rPr>
                        <a:t>0.6714%</a:t>
                      </a:r>
                    </a:p>
                  </a:txBody>
                  <a:tcPr marL="91440" marR="91440" marT="45720" marB="45720"/>
                </a:tc>
                <a:tc>
                  <a:txBody>
                    <a:bodyPr/>
                    <a:lstStyle/>
                    <a:p>
                      <a:pPr algn="ctr"/>
                      <a:r>
                        <a:rPr sz="1125" b="0">
                          <a:solidFill>
                            <a:srgbClr val="17324D"/>
                          </a:solidFill>
                          <a:latin typeface="Arial"/>
                          <a:ea typeface="Arial"/>
                          <a:cs typeface="Arial"/>
                        </a:rPr>
                        <a:t>77.3273%</a:t>
                      </a:r>
                    </a:p>
                  </a:txBody>
                  <a:tcPr marL="91440" marR="91440" marT="45720" marB="45720"/>
                </a:tc>
              </a:tr>
              <a:tr h="555625">
                <a:tc>
                  <a:txBody>
                    <a:bodyPr/>
                    <a:lstStyle/>
                    <a:p>
                      <a:pPr algn="l"/>
                      <a:r>
                        <a:rPr sz="1125" b="1">
                          <a:solidFill>
                            <a:srgbClr val="17324D"/>
                          </a:solidFill>
                          <a:latin typeface="Arial"/>
                          <a:ea typeface="Arial"/>
                          <a:cs typeface="Arial"/>
                        </a:rPr>
                        <a:t>Simple RNN</a:t>
                      </a:r>
                    </a:p>
                  </a:txBody>
                  <a:tcPr marL="91440" marR="91440" marT="45720" marB="45720"/>
                </a:tc>
                <a:tc>
                  <a:txBody>
                    <a:bodyPr/>
                    <a:lstStyle/>
                    <a:p>
                      <a:pPr algn="ctr"/>
                      <a:r>
                        <a:rPr sz="1125" b="0">
                          <a:solidFill>
                            <a:srgbClr val="17324D"/>
                          </a:solidFill>
                          <a:latin typeface="Arial"/>
                          <a:ea typeface="Arial"/>
                          <a:cs typeface="Arial"/>
                        </a:rPr>
                        <a:t>236.1134</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252.1612</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16.9713%</a:t>
                      </a:r>
                    </a:p>
                  </a:txBody>
                  <a:tcPr marL="91440" marR="91440" marT="45720" marB="45720">
                    <a:solidFill>
                      <a:srgbClr val="F5E2DE"/>
                    </a:solidFill>
                  </a:tcPr>
                </a:tc>
                <a:tc>
                  <a:txBody>
                    <a:bodyPr/>
                    <a:lstStyle/>
                    <a:p>
                      <a:pPr algn="ctr"/>
                      <a:r>
                        <a:rPr sz="1125" b="0">
                          <a:solidFill>
                            <a:srgbClr val="17324D"/>
                          </a:solidFill>
                          <a:latin typeface="Arial"/>
                          <a:ea typeface="Arial"/>
                          <a:cs typeface="Arial"/>
                        </a:rPr>
                        <a:t>49.1992%</a:t>
                      </a:r>
                    </a:p>
                  </a:txBody>
                  <a:tcPr marL="91440" marR="91440" marT="45720" marB="45720">
                    <a:solidFill>
                      <a:srgbClr val="F5E2DE"/>
                    </a:solidFill>
                  </a:tcPr>
                </a:tc>
              </a:tr>
            </a:tbl>
          </a:graphicData>
        </a:graphic>
      </p:graphicFrame>
      <p:sp>
        <p:nvSpPr>
          <p:cNvPr id="7" name="">
            <a:extLst xmlns:a="http://schemas.openxmlformats.org/drawingml/2006/main">
              <a:ext uri="{FF2B5EF4-FFF2-40B4-BE49-F238E27FC236}">
                <a16:creationId xmlns:a16="http://schemas.microsoft.com/office/drawing/2014/main" id="{F4473AC4-D37A-4F95-9976-C46CB02B3AAE}"/>
              </a:ext>
            </a:extLst>
          </p:cNvPr>
          <p:cNvSpPr>
            <a:spLocks xmlns:a="http://schemas.openxmlformats.org/drawingml/2006/main" noGrp="1"/>
          </p:cNvSpPr>
          <p:nvPr/>
        </p:nvSpPr>
        <p:spPr>
          <a:xfrm xmlns:a="http://schemas.openxmlformats.org/drawingml/2006/main">
            <a:off x="685800" y="12858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02A43"/>
                </a:solidFill>
                <a:latin typeface="Arial"/>
                <a:ea typeface="Arial"/>
                <a:cs typeface="Arial"/>
              </a:defRPr>
            </a:pPr>
            <a:r>
              <a:rPr sz="1275" b="1" i="0">
                <a:solidFill>
                  <a:srgbClr val="102A43"/>
                </a:solidFill>
                <a:latin typeface="Arial"/>
                <a:ea typeface="Arial"/>
                <a:cs typeface="Arial"/>
              </a:rPr>
              <a:t>Bảng metrics trên tập test</a:t>
            </a:r>
          </a:p>
        </p:txBody>
      </p:sp>
      <p:sp>
        <p:nvSpPr>
          <p:cNvPr id="8" name="">
            <a:extLst xmlns:a="http://schemas.openxmlformats.org/drawingml/2006/main">
              <a:ext uri="{FF2B5EF4-FFF2-40B4-BE49-F238E27FC236}">
                <a16:creationId xmlns:a16="http://schemas.microsoft.com/office/drawing/2014/main" id="{D47B9F4A-7BCA-4B7A-BBF6-30E2A9550CC5}"/>
              </a:ext>
            </a:extLst>
          </p:cNvPr>
          <p:cNvSpPr>
            <a:spLocks xmlns:a="http://schemas.openxmlformats.org/drawingml/2006/main" noGrp="1"/>
          </p:cNvSpPr>
          <p:nvPr/>
        </p:nvSpPr>
        <p:spPr>
          <a:xfrm xmlns:a="http://schemas.openxmlformats.org/drawingml/2006/main">
            <a:off x="6705600" y="1381125"/>
            <a:ext cx="4800600" cy="1952625"/>
          </a:xfrm>
          <a:prstGeom xmlns:a="http://schemas.openxmlformats.org/drawingml/2006/main" prst="roundRect">
            <a:avLst>
              <a:gd name="adj" fmla="val 5854"/>
            </a:avLst>
          </a:prstGeom>
          <a:solidFill xmlns:a="http://schemas.openxmlformats.org/drawingml/2006/main">
            <a:srgbClr val="F5E2DE"/>
          </a:solidFill>
          <a:ln xmlns:a="http://schemas.openxmlformats.org/drawingml/2006/main" w="9525">
            <a:solidFill>
              <a:srgbClr val="B65345"/>
            </a:solidFill>
            <a:prstDash val="solid"/>
          </a:ln>
        </p:spPr>
      </p:sp>
      <p:sp>
        <p:nvSpPr>
          <p:cNvPr id="9" name="">
            <a:extLst xmlns:a="http://schemas.openxmlformats.org/drawingml/2006/main">
              <a:ext uri="{FF2B5EF4-FFF2-40B4-BE49-F238E27FC236}">
                <a16:creationId xmlns:a16="http://schemas.microsoft.com/office/drawing/2014/main" id="{068CF673-F113-487F-A6CF-41105884CCC3}"/>
              </a:ext>
            </a:extLst>
          </p:cNvPr>
          <p:cNvSpPr>
            <a:spLocks xmlns:a="http://schemas.openxmlformats.org/drawingml/2006/main" noGrp="1"/>
          </p:cNvSpPr>
          <p:nvPr/>
        </p:nvSpPr>
        <p:spPr>
          <a:xfrm xmlns:a="http://schemas.openxmlformats.org/drawingml/2006/main">
            <a:off x="7000875" y="1666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B65345"/>
                </a:solidFill>
                <a:latin typeface="Arial"/>
                <a:ea typeface="Arial"/>
                <a:cs typeface="Arial"/>
              </a:defRPr>
            </a:pPr>
            <a:r>
              <a:rPr sz="1800" b="1" i="0">
                <a:solidFill>
                  <a:srgbClr val="B65345"/>
                </a:solidFill>
                <a:latin typeface="Arial"/>
                <a:ea typeface="Arial"/>
                <a:cs typeface="Arial"/>
              </a:rPr>
              <a:t>Distribution shift</a:t>
            </a:r>
          </a:p>
        </p:txBody>
      </p:sp>
      <p:sp>
        <p:nvSpPr>
          <p:cNvPr id="10" name="">
            <a:extLst xmlns:a="http://schemas.openxmlformats.org/drawingml/2006/main">
              <a:ext uri="{FF2B5EF4-FFF2-40B4-BE49-F238E27FC236}">
                <a16:creationId xmlns:a16="http://schemas.microsoft.com/office/drawing/2014/main" id="{977E9210-9B6D-4257-A41B-7C4234B94235}"/>
              </a:ext>
            </a:extLst>
          </p:cNvPr>
          <p:cNvSpPr>
            <a:spLocks xmlns:a="http://schemas.openxmlformats.org/drawingml/2006/main" noGrp="1"/>
          </p:cNvSpPr>
          <p:nvPr/>
        </p:nvSpPr>
        <p:spPr>
          <a:xfrm xmlns:a="http://schemas.openxmlformats.org/drawingml/2006/main">
            <a:off x="7000875" y="2095500"/>
            <a:ext cx="3905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Train max: 850.00</a:t>
            </a:r>
          </a:p>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Test min: 1,049.40</a:t>
            </a:r>
          </a:p>
          <a:p xmlns:a="http://schemas.openxmlformats.org/drawingml/2006/main">
            <a:pPr algn="l">
              <a:defRPr sz="1575" b="1" i="0">
                <a:solidFill>
                  <a:srgbClr val="102A43"/>
                </a:solidFill>
                <a:latin typeface="Arial"/>
                <a:ea typeface="Arial"/>
                <a:cs typeface="Arial"/>
              </a:defRPr>
            </a:pPr>
            <a:r>
              <a:rPr sz="1575" b="1" i="0">
                <a:solidFill>
                  <a:srgbClr val="102A43"/>
                </a:solidFill>
                <a:latin typeface="Arial"/>
                <a:ea typeface="Arial"/>
                <a:cs typeface="Arial"/>
              </a:rPr>
              <a:t>100% giá test &gt; train max</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6ff96c0dd5541f1"/>
          <a:stretch xmlns:a="http://schemas.openxmlformats.org/drawingml/2006/main"/>
        </p:blipFill>
        <p:spPr>
          <a:xfrm xmlns:a="http://schemas.openxmlformats.org/drawingml/2006/main">
            <a:off x="685800" y="3599702"/>
            <a:ext cx="5619750" cy="1849347"/>
          </a:xfrm>
          <a:prstGeom xmlns:a="http://schemas.openxmlformats.org/drawingml/2006/main" prst="roundRect">
            <a:avLst>
              <a:gd name="adj" fmla="val 5455"/>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7818904fd854562"/>
          <a:stretch xmlns:a="http://schemas.openxmlformats.org/drawingml/2006/main"/>
        </p:blipFill>
        <p:spPr>
          <a:xfrm xmlns:a="http://schemas.openxmlformats.org/drawingml/2006/main">
            <a:off x="6705600" y="3798140"/>
            <a:ext cx="4800600" cy="1452470"/>
          </a:xfrm>
          <a:prstGeom xmlns:a="http://schemas.openxmlformats.org/drawingml/2006/main" prst="roundRect">
            <a:avLst>
              <a:gd name="adj" fmla="val 5455"/>
            </a:avLst>
          </a:prstGeom>
        </p:spPr>
      </p:pic>
      <p:sp>
        <p:nvSpPr>
          <p:cNvPr id="13" name="">
            <a:extLst xmlns:a="http://schemas.openxmlformats.org/drawingml/2006/main">
              <a:ext uri="{FF2B5EF4-FFF2-40B4-BE49-F238E27FC236}">
                <a16:creationId xmlns:a16="http://schemas.microsoft.com/office/drawing/2014/main" id="{528C6899-1B28-4AAB-92F5-3E251BF7A0A5}"/>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oundRect">
            <a:avLst>
              <a:gd name="adj" fmla="val 26667"/>
            </a:avLst>
          </a:prstGeom>
          <a:solidFill xmlns:a="http://schemas.openxmlformats.org/drawingml/2006/main">
            <a:srgbClr val="F2E5C4"/>
          </a:solidFill>
          <a:ln xmlns:a="http://schemas.openxmlformats.org/drawingml/2006/main" w="9525">
            <a:solidFill>
              <a:srgbClr val="C58B2A"/>
            </a:solidFill>
            <a:prstDash val="solid"/>
          </a:ln>
        </p:spPr>
      </p:sp>
      <p:sp>
        <p:nvSpPr>
          <p:cNvPr id="14" name="">
            <a:extLst xmlns:a="http://schemas.openxmlformats.org/drawingml/2006/main">
              <a:ext uri="{FF2B5EF4-FFF2-40B4-BE49-F238E27FC236}">
                <a16:creationId xmlns:a16="http://schemas.microsoft.com/office/drawing/2014/main" id="{0F6BE63B-1C29-4E5D-845C-045C4B4498CB}"/>
              </a:ext>
            </a:extLst>
          </p:cNvPr>
          <p:cNvSpPr>
            <a:spLocks xmlns:a="http://schemas.openxmlformats.org/drawingml/2006/main" noGrp="1"/>
          </p:cNvSpPr>
          <p:nvPr/>
        </p:nvSpPr>
        <p:spPr>
          <a:xfrm xmlns:a="http://schemas.openxmlformats.org/drawingml/2006/main">
            <a:off x="904875" y="59721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02A43"/>
                </a:solidFill>
                <a:latin typeface="Arial"/>
                <a:ea typeface="Arial"/>
                <a:cs typeface="Arial"/>
              </a:defRPr>
            </a:pPr>
            <a:r>
              <a:rPr sz="1200" b="1" i="0">
                <a:solidFill>
                  <a:srgbClr val="102A43"/>
                </a:solidFill>
                <a:latin typeface="Arial"/>
                <a:ea typeface="Arial"/>
                <a:cs typeface="Arial"/>
              </a:rPr>
              <a:t>Kết luận: preprocessing phải đi cùng phân tích phân phối; hướng cải thiện là log-return, cửa sổ gần đây hoặc GRU/LSTM.</a:t>
            </a:r>
          </a:p>
        </p:txBody>
      </p:sp>
    </p:spTree>
    <p:extLst>
      <p:ext uri="{BB962C8B-B14F-4D97-AF65-F5344CB8AC3E}">
        <p14:creationId xmlns:p14="http://schemas.microsoft.com/office/powerpoint/2010/main" val="500165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2026-09-30T11:24:42.8860000Z</dcterms:created>
  <dcterms:modified xsi:type="dcterms:W3CDTF">2026-09-30T11:24:42.8860000Z</dcterms:modified>
</coreProperties>
</file>